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notesMasterIdLst>
    <p:notesMasterId r:id="rId9"/>
  </p:notesMasterIdLst>
  <p:sldIdLst>
    <p:sldId id="291" r:id="rId2"/>
    <p:sldId id="281" r:id="rId3"/>
    <p:sldId id="290" r:id="rId4"/>
    <p:sldId id="293" r:id="rId5"/>
    <p:sldId id="294" r:id="rId6"/>
    <p:sldId id="296" r:id="rId7"/>
  </p:sldIdLst>
  <p:sldSz cx="12192000" cy="6858000"/>
  <p:notesSz cx="6858000" cy="9144000"/>
  <p:defaultTextStyle>
    <a:defPPr>
      <a:defRPr lang="en-US"/>
    </a:defPPr>
    <a:lvl1pPr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1pPr>
    <a:lvl2pPr marL="4572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2pPr>
    <a:lvl3pPr marL="9144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3pPr>
    <a:lvl4pPr marL="13716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4pPr>
    <a:lvl5pPr marL="18288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5pPr>
    <a:lvl6pPr marL="2286000" algn="l" defTabSz="914400" rtl="0" eaLnBrk="1" latinLnBrk="0" hangingPunct="1">
      <a:defRPr kern="1200">
        <a:solidFill>
          <a:schemeClr val="tx1"/>
        </a:solidFill>
        <a:latin typeface="Calibri" pitchFamily="34" charset="0"/>
        <a:ea typeface="ＭＳ Ｐゴシック" pitchFamily="1" charset="-128"/>
        <a:cs typeface="+mn-cs"/>
      </a:defRPr>
    </a:lvl6pPr>
    <a:lvl7pPr marL="2743200" algn="l" defTabSz="914400" rtl="0" eaLnBrk="1" latinLnBrk="0" hangingPunct="1">
      <a:defRPr kern="1200">
        <a:solidFill>
          <a:schemeClr val="tx1"/>
        </a:solidFill>
        <a:latin typeface="Calibri" pitchFamily="34" charset="0"/>
        <a:ea typeface="ＭＳ Ｐゴシック" pitchFamily="1" charset="-128"/>
        <a:cs typeface="+mn-cs"/>
      </a:defRPr>
    </a:lvl7pPr>
    <a:lvl8pPr marL="3200400" algn="l" defTabSz="914400" rtl="0" eaLnBrk="1" latinLnBrk="0" hangingPunct="1">
      <a:defRPr kern="1200">
        <a:solidFill>
          <a:schemeClr val="tx1"/>
        </a:solidFill>
        <a:latin typeface="Calibri" pitchFamily="34" charset="0"/>
        <a:ea typeface="ＭＳ Ｐゴシック" pitchFamily="1" charset="-128"/>
        <a:cs typeface="+mn-cs"/>
      </a:defRPr>
    </a:lvl8pPr>
    <a:lvl9pPr marL="3657600" algn="l" defTabSz="914400" rtl="0" eaLnBrk="1" latinLnBrk="0" hangingPunct="1">
      <a:defRPr kern="1200">
        <a:solidFill>
          <a:schemeClr val="tx1"/>
        </a:solidFill>
        <a:latin typeface="Calibri" pitchFamily="34" charset="0"/>
        <a:ea typeface="ＭＳ Ｐゴシック" pitchFamily="1" charset="-128"/>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BBB59"/>
    <a:srgbClr val="39B0D4"/>
    <a:srgbClr val="727272"/>
    <a:srgbClr val="010000"/>
    <a:srgbClr val="FFA751"/>
    <a:srgbClr val="32323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68" d="100"/>
          <a:sy n="68" d="100"/>
        </p:scale>
        <p:origin x="792" y="72"/>
      </p:cViewPr>
      <p:guideLst>
        <p:guide orient="horz" pos="2160"/>
        <p:guide pos="3840"/>
      </p:guideLst>
    </p:cSldViewPr>
  </p:slideViewPr>
  <p:notesTextViewPr>
    <p:cViewPr>
      <p:scale>
        <a:sx n="100" d="100"/>
        <a:sy n="100" d="100"/>
      </p:scale>
      <p:origin x="0" y="0"/>
    </p:cViewPr>
  </p:notesTextViewPr>
  <p:sorterViewPr>
    <p:cViewPr>
      <p:scale>
        <a:sx n="125" d="100"/>
        <a:sy n="125" d="100"/>
      </p:scale>
      <p:origin x="0" y="0"/>
    </p:cViewPr>
  </p:sorter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ea typeface="+mn-ea"/>
                <a:cs typeface="+mn-cs"/>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wrap="square" lIns="91440" tIns="45720" rIns="91440" bIns="45720" numCol="1" anchor="t" anchorCtr="0" compatLnSpc="1">
            <a:prstTxWarp prst="textNoShape">
              <a:avLst/>
            </a:prstTxWarp>
          </a:bodyPr>
          <a:lstStyle>
            <a:lvl1pPr algn="r">
              <a:defRPr sz="1200"/>
            </a:lvl1pPr>
          </a:lstStyle>
          <a:p>
            <a:fld id="{C4D5ADD5-2BBC-4A94-8F86-D9013941F742}" type="datetimeFigureOut">
              <a:rPr lang="en-US"/>
              <a:pPr/>
              <a:t>6/2/2026</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ea typeface="+mn-ea"/>
                <a:cs typeface="+mn-cs"/>
              </a:defRPr>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a:defRPr sz="1200"/>
            </a:lvl1pPr>
          </a:lstStyle>
          <a:p>
            <a:fld id="{EC790738-CFC9-4A5E-8424-6B42AA5706F7}" type="slidenum">
              <a:rPr lang="en-US"/>
              <a:pPr/>
              <a:t>‹#›</a:t>
            </a:fld>
            <a:endParaRPr lang="en-US"/>
          </a:p>
        </p:txBody>
      </p:sp>
    </p:spTree>
    <p:extLst>
      <p:ext uri="{BB962C8B-B14F-4D97-AF65-F5344CB8AC3E}">
        <p14:creationId xmlns:p14="http://schemas.microsoft.com/office/powerpoint/2010/main" val="235749454"/>
      </p:ext>
    </p:extLst>
  </p:cSld>
  <p:clrMap bg1="lt1" tx1="dk1" bg2="lt2" tx2="dk2" accent1="accent1" accent2="accent2" accent3="accent3" accent4="accent4" accent5="accent5" accent6="accent6" hlink="hlink" folHlink="folHlink"/>
  <p:notesStyle>
    <a:lvl1pPr algn="l" defTabSz="457200" rtl="0" eaLnBrk="0" fontAlgn="base" hangingPunct="0">
      <a:spcBef>
        <a:spcPct val="30000"/>
      </a:spcBef>
      <a:spcAft>
        <a:spcPct val="0"/>
      </a:spcAft>
      <a:defRPr sz="1200" kern="1200">
        <a:solidFill>
          <a:schemeClr val="tx1"/>
        </a:solidFill>
        <a:latin typeface="+mn-lt"/>
        <a:ea typeface="ＭＳ Ｐゴシック" charset="0"/>
        <a:cs typeface="ＭＳ Ｐゴシック" charset="0"/>
      </a:defRPr>
    </a:lvl1pPr>
    <a:lvl2pPr marL="4572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2pPr>
    <a:lvl3pPr marL="9144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3pPr>
    <a:lvl4pPr marL="13716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4pPr>
    <a:lvl5pPr marL="18288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6386" name="Notes Placeholder 2"/>
          <p:cNvSpPr>
            <a:spLocks noGrp="1"/>
          </p:cNvSpPr>
          <p:nvPr>
            <p:ph type="body" idx="1"/>
          </p:nvPr>
        </p:nvSpPr>
        <p:spPr bwMode="auto">
          <a:noFill/>
        </p:spPr>
        <p:txBody>
          <a:bodyPr wrap="square" numCol="1" anchor="t" anchorCtr="0" compatLnSpc="1">
            <a:prstTxWarp prst="textNoShape">
              <a:avLst/>
            </a:prstTxWarp>
          </a:bodyPr>
          <a:lstStyle/>
          <a:p>
            <a:r>
              <a:t>The three clocks are the original idea — slow down here. Every project has a time clock, a money clock and a promise it made; when they separate, the outcome is already decided long before the cost revision is printed.</a:t>
            </a:r>
          </a:p>
          <a:p>
            <a:r>
              <a:t>Prescriptive in one sentence: the output is not a score, it is 'this project, this reason, this action class, this owner, ranked here'.</a:t>
            </a:r>
          </a:p>
          <a:p>
            <a:r>
              <a:t>If asked what is new: ranking by the gap between three clocks, the evidence gate in front of every score, and reporting statistics and ML side by side instead of claiming one replaces the other.</a:t>
            </a:r>
          </a:p>
        </p:txBody>
      </p:sp>
      <p:sp>
        <p:nvSpPr>
          <p:cNvPr id="16387" name="Slide Number Placeholder 3"/>
          <p:cNvSpPr>
            <a:spLocks noGrp="1"/>
          </p:cNvSpPr>
          <p:nvPr>
            <p:ph type="sldNum" sz="quarter" idx="5"/>
          </p:nvPr>
        </p:nvSpPr>
        <p:spPr bwMode="auto">
          <a:noFill/>
          <a:ln>
            <a:miter lim="800000"/>
            <a:headEnd/>
            <a:tailEnd/>
          </a:ln>
        </p:spPr>
        <p:txBody>
          <a:bodyPr/>
          <a:lstStyle/>
          <a:p>
            <a:fld id="{65F62A7E-A2F8-438F-9CF8-47DE63F471B4}" type="slidenum">
              <a:rPr lang="en-US"/>
              <a:pPr/>
              <a:t>2</a:t>
            </a:fld>
            <a:endParaRPr lang="en-US"/>
          </a:p>
        </p:txBody>
      </p:sp>
    </p:spTree>
    <p:extLst>
      <p:ext uri="{BB962C8B-B14F-4D97-AF65-F5344CB8AC3E}">
        <p14:creationId xmlns:p14="http://schemas.microsoft.com/office/powerpoint/2010/main" val="290407322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r>
              <a:t>(b) is the question the brief asks twice — 'whether AI/ML provide significant gains over conventional statistical methods'. Answer it head-on and do not oversell: ML clearly helps on frequent events, and on rare cost revisions the simpler model wins. That honesty is what makes the rest believable.</a:t>
            </a:r>
          </a:p>
          <a:p>
            <a:r>
              <a:t>(c) is the second half of the brief: attribute performance to current CUF fields versus fields not yet captured. Say the finding (trajectory variables dominate) and then the plan (add non-CUF blocks one at a time, publish marginal lift).</a:t>
            </a:r>
          </a:p>
          <a:p>
            <a:r>
              <a:t>Validation discipline to name out loud: ordered month-by-month holdout, project-disjoint splits, and the conventional baseline scored on the same folds.</a:t>
            </a:r>
          </a:p>
        </p:txBody>
      </p:sp>
      <p:sp>
        <p:nvSpPr>
          <p:cNvPr id="18435" name="Slide Number Placeholder 3"/>
          <p:cNvSpPr>
            <a:spLocks noGrp="1"/>
          </p:cNvSpPr>
          <p:nvPr>
            <p:ph type="sldNum" sz="quarter" idx="5"/>
          </p:nvPr>
        </p:nvSpPr>
        <p:spPr bwMode="auto">
          <a:noFill/>
          <a:ln>
            <a:miter lim="800000"/>
            <a:headEnd/>
            <a:tailEnd/>
          </a:ln>
        </p:spPr>
        <p:txBody>
          <a:bodyPr/>
          <a:lstStyle/>
          <a:p>
            <a:fld id="{0CA7B74D-3791-4AC6-8451-F10DBCCCDD9A}" type="slidenum">
              <a:rPr lang="en-US"/>
              <a:pPr/>
              <a:t>3</a:t>
            </a:fld>
            <a:endParaRPr lang="en-US"/>
          </a:p>
        </p:txBody>
      </p:sp>
    </p:spTree>
    <p:extLst>
      <p:ext uri="{BB962C8B-B14F-4D97-AF65-F5344CB8AC3E}">
        <p14:creationId xmlns:p14="http://schemas.microsoft.com/office/powerpoint/2010/main" val="233520629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r>
              <a:t>Feasibility in one line: the input already exists, the machine already exists, the monthly routine already exists.</a:t>
            </a:r>
          </a:p>
          <a:p>
            <a:r>
              <a:t>The reconciliation line is the strongest feasibility proof available: our extraction of the current-format reports matches the reports' own printed totals, so the numbers feeding the models are the department's own numbers.</a:t>
            </a:r>
          </a:p>
          <a:p>
            <a:r>
              <a:t>Lead the risk table with the rare-event risk — juries reward teams that name their weakest result first.</a:t>
            </a:r>
          </a:p>
        </p:txBody>
      </p:sp>
      <p:sp>
        <p:nvSpPr>
          <p:cNvPr id="18435" name="Slide Number Placeholder 3"/>
          <p:cNvSpPr>
            <a:spLocks noGrp="1"/>
          </p:cNvSpPr>
          <p:nvPr>
            <p:ph type="sldNum" sz="quarter" idx="5"/>
          </p:nvPr>
        </p:nvSpPr>
        <p:spPr bwMode="auto">
          <a:noFill/>
          <a:ln>
            <a:miter lim="800000"/>
            <a:headEnd/>
            <a:tailEnd/>
          </a:ln>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0CA7B74D-3791-4AC6-8451-F10DBCCCDD9A}" type="slidenum">
              <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endParaRPr>
          </a:p>
        </p:txBody>
      </p:sp>
    </p:spTree>
    <p:extLst>
      <p:ext uri="{BB962C8B-B14F-4D97-AF65-F5344CB8AC3E}">
        <p14:creationId xmlns:p14="http://schemas.microsoft.com/office/powerpoint/2010/main" val="37735054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r>
              <a:t>The checklist is the slide. Read the nine outcomes from the brief out loud and point at the status column: the honest mix of working, in build and finale roadmap is far more convincing than nine ticks.</a:t>
            </a:r>
          </a:p>
          <a:p>
            <a:r>
              <a:t>Numbers to quote: 1,981 ongoing projects, 22 sectors, ₹42.78 lakh crore revised cost in the April 2026 report; 193 of 1,775 projects (10.9%) at High or Critical in the prototype's latest snapshot.</a:t>
            </a:r>
          </a:p>
          <a:p>
            <a:r>
              <a:t>Impact is attention, not savings. Say so before the jury asks.</a:t>
            </a:r>
          </a:p>
        </p:txBody>
      </p:sp>
      <p:sp>
        <p:nvSpPr>
          <p:cNvPr id="18435" name="Slide Number Placeholder 3"/>
          <p:cNvSpPr>
            <a:spLocks noGrp="1"/>
          </p:cNvSpPr>
          <p:nvPr>
            <p:ph type="sldNum" sz="quarter" idx="5"/>
          </p:nvPr>
        </p:nvSpPr>
        <p:spPr bwMode="auto">
          <a:noFill/>
          <a:ln>
            <a:miter lim="800000"/>
            <a:headEnd/>
            <a:tailEnd/>
          </a:ln>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0CA7B74D-3791-4AC6-8451-F10DBCCCDD9A}" type="slidenum">
              <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endParaRPr>
          </a:p>
        </p:txBody>
      </p:sp>
    </p:spTree>
    <p:extLst>
      <p:ext uri="{BB962C8B-B14F-4D97-AF65-F5344CB8AC3E}">
        <p14:creationId xmlns:p14="http://schemas.microsoft.com/office/powerpoint/2010/main" val="264172284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r>
              <a:t>Close on the last line: our prediction is validated by the next report MoSPI publishes. That is a standard no dashboard can dodge.</a:t>
            </a:r>
          </a:p>
          <a:p>
            <a:r>
              <a:t>Cite the department's own figures for scale and our artifacts for method — never the reverse.</a:t>
            </a:r>
          </a:p>
          <a:p>
            <a:r>
              <a:t>Replace the repository and demo links, and the team name and ID, before exporting the PDF.</a:t>
            </a:r>
          </a:p>
        </p:txBody>
      </p:sp>
      <p:sp>
        <p:nvSpPr>
          <p:cNvPr id="18435" name="Slide Number Placeholder 3"/>
          <p:cNvSpPr>
            <a:spLocks noGrp="1"/>
          </p:cNvSpPr>
          <p:nvPr>
            <p:ph type="sldNum" sz="quarter" idx="5"/>
          </p:nvPr>
        </p:nvSpPr>
        <p:spPr bwMode="auto">
          <a:noFill/>
          <a:ln>
            <a:miter lim="800000"/>
            <a:headEnd/>
            <a:tailEnd/>
          </a:ln>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0CA7B74D-3791-4AC6-8451-F10DBCCCDD9A}" type="slidenum">
              <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endParaRPr>
          </a:p>
        </p:txBody>
      </p:sp>
    </p:spTree>
    <p:extLst>
      <p:ext uri="{BB962C8B-B14F-4D97-AF65-F5344CB8AC3E}">
        <p14:creationId xmlns:p14="http://schemas.microsoft.com/office/powerpoint/2010/main" val="190867272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ea typeface="ＭＳ Ｐゴシック" pitchFamily="1" charset="-128"/>
            </a:endParaRPr>
          </a:p>
        </p:txBody>
      </p:sp>
      <p:sp>
        <p:nvSpPr>
          <p:cNvPr id="18435" name="Slide Number Placeholder 3"/>
          <p:cNvSpPr>
            <a:spLocks noGrp="1"/>
          </p:cNvSpPr>
          <p:nvPr>
            <p:ph type="sldNum" sz="quarter" idx="5"/>
          </p:nvPr>
        </p:nvSpPr>
        <p:spPr bwMode="auto">
          <a:noFill/>
          <a:ln>
            <a:miter lim="800000"/>
            <a:headEnd/>
            <a:tailEnd/>
          </a:ln>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0CA7B74D-3791-4AC6-8451-F10DBCCCDD9A}" type="slidenum">
              <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7</a:t>
            </a:fld>
            <a:endPar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endParaRPr>
          </a:p>
        </p:txBody>
      </p:sp>
    </p:spTree>
    <p:extLst>
      <p:ext uri="{BB962C8B-B14F-4D97-AF65-F5344CB8AC3E}">
        <p14:creationId xmlns:p14="http://schemas.microsoft.com/office/powerpoint/2010/main" val="3783576877"/>
      </p:ext>
    </p:extLst>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cold: 'Every month, ministries file the CUF and PAIMANA updates ~2,000 projects worth ₹42.78 lakh crore. Today that data tells MoSPI what already happened. Problem statement 26103 asks for monitoring that predicts and prescribes. That is the whole pitch: PARAKH is that layer.'</a:t>
            </a:r>
          </a:p>
          <a:p>
            <a:r>
              <a:t>Name it once: PARAKH (परख) is the assay you run on something to find out what it is really made of. We assay the evidence, then forecast the drift.</a:t>
            </a:r>
          </a:p>
          <a:p>
            <a:r>
              <a:t>Fix before submitting: Team ID, Team Name, repository and demo links. Owner: MoSPI · Data Informatics &amp; Innovation Division (DIID). PAIMANA operations: Infrastructure &amp; Project Monitoring Division (IPMD).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8"/>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fld id="{E60792E3-D524-454C-8AFD-A91972900BCB}" type="datetime1">
              <a:rPr lang="en-US" smtClean="0"/>
              <a:t>6/2/2026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5B7E1BAA-A38D-40DE-B22C-DF9BD7D82058}" type="slidenum">
              <a:rPr lang="en-US"/>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708B7524-32A2-4C20-A58C-BC3BAA1042FC}" type="datetime1">
              <a:rPr lang="en-US" smtClean="0"/>
              <a:t>6/2/2026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677C3CE7-23F7-4828-823C-E0205DF2CF97}" type="slidenum">
              <a:rPr lang="en-US"/>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3"/>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fld id="{1E994447-D6B2-43BB-A877-57F1A267B999}" type="datetime1">
              <a:rPr lang="en-US" smtClean="0"/>
              <a:t>6/2/2026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41DB31D2-2A87-4F4C-A9AD-05C6CC2B321D}" type="slidenum">
              <a:rPr lang="en-US"/>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3"/>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3"/>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fld id="{68920E16-BD35-483C-AA6B-346FC7E46DEA}" type="datetime1">
              <a:rPr lang="en-US" smtClean="0"/>
              <a:t>6/2/2026</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7" name="Slide Number Placeholder 5"/>
          <p:cNvSpPr>
            <a:spLocks noGrp="1"/>
          </p:cNvSpPr>
          <p:nvPr>
            <p:ph type="sldNum" sz="quarter" idx="12"/>
          </p:nvPr>
        </p:nvSpPr>
        <p:spPr/>
        <p:txBody>
          <a:bodyPr/>
          <a:lstStyle>
            <a:lvl1pPr>
              <a:defRPr/>
            </a:lvl1pPr>
          </a:lstStyle>
          <a:p>
            <a:fld id="{E1FC16D9-1635-4844-816A-0A8A2160FADA}" type="slidenum">
              <a:rPr lang="en-US"/>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9"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9"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fld id="{2FEAC6F8-5103-4FC0-A69E-5C6AE6469DA8}" type="datetime1">
              <a:rPr lang="en-US" smtClean="0"/>
              <a:t>6/2/2026</a:t>
            </a:fld>
            <a:endParaRPr lang="en-US"/>
          </a:p>
        </p:txBody>
      </p:sp>
      <p:sp>
        <p:nvSpPr>
          <p:cNvPr id="8"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9" name="Slide Number Placeholder 5"/>
          <p:cNvSpPr>
            <a:spLocks noGrp="1"/>
          </p:cNvSpPr>
          <p:nvPr>
            <p:ph type="sldNum" sz="quarter" idx="12"/>
          </p:nvPr>
        </p:nvSpPr>
        <p:spPr/>
        <p:txBody>
          <a:bodyPr/>
          <a:lstStyle>
            <a:lvl1pPr>
              <a:defRPr/>
            </a:lvl1pPr>
          </a:lstStyle>
          <a:p>
            <a:fld id="{71C4100A-98DE-4944-910A-A93F5CA9F724}" type="slidenum">
              <a:rPr lang="en-US"/>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fld id="{C60C6921-0627-4C8F-83D5-0CF936D2FFDD}" type="datetime1">
              <a:rPr lang="en-US" smtClean="0"/>
              <a:t>6/2/2026</a:t>
            </a:fld>
            <a:endParaRPr lang="en-US"/>
          </a:p>
        </p:txBody>
      </p:sp>
      <p:sp>
        <p:nvSpPr>
          <p:cNvPr id="4"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5" name="Slide Number Placeholder 5"/>
          <p:cNvSpPr>
            <a:spLocks noGrp="1"/>
          </p:cNvSpPr>
          <p:nvPr>
            <p:ph type="sldNum" sz="quarter" idx="12"/>
          </p:nvPr>
        </p:nvSpPr>
        <p:spPr/>
        <p:txBody>
          <a:bodyPr/>
          <a:lstStyle>
            <a:lvl1pPr>
              <a:defRPr/>
            </a:lvl1pPr>
          </a:lstStyle>
          <a:p>
            <a:fld id="{6A63342B-5A73-45DC-864D-086DE78037EF}" type="slidenum">
              <a:rPr lang="en-US"/>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fld id="{2FF08AD7-8103-40F8-983C-E2BA6BB9CBE0}" type="datetime1">
              <a:rPr lang="en-US" smtClean="0"/>
              <a:t>6/2/2026</a:t>
            </a:fld>
            <a:endParaRPr lang="en-US"/>
          </a:p>
        </p:txBody>
      </p:sp>
      <p:sp>
        <p:nvSpPr>
          <p:cNvPr id="3"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4" name="Slide Number Placeholder 5"/>
          <p:cNvSpPr>
            <a:spLocks noGrp="1"/>
          </p:cNvSpPr>
          <p:nvPr>
            <p:ph type="sldNum" sz="quarter" idx="12"/>
          </p:nvPr>
        </p:nvSpPr>
        <p:spPr/>
        <p:txBody>
          <a:bodyPr/>
          <a:lstStyle>
            <a:lvl1pPr>
              <a:defRPr/>
            </a:lvl1pPr>
          </a:lstStyle>
          <a:p>
            <a:fld id="{B635AFB3-1ACD-44AC-8702-86B1729DF035}" type="slidenum">
              <a:rPr lang="en-US"/>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2"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3"/>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2" y="1435103"/>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fld id="{DF8C06B4-9380-4A4D-AF49-A3596E17DAF5}" type="datetime1">
              <a:rPr lang="en-US" smtClean="0"/>
              <a:t>6/2/2026</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7" name="Slide Number Placeholder 5"/>
          <p:cNvSpPr>
            <a:spLocks noGrp="1"/>
          </p:cNvSpPr>
          <p:nvPr>
            <p:ph type="sldNum" sz="quarter" idx="12"/>
          </p:nvPr>
        </p:nvSpPr>
        <p:spPr/>
        <p:txBody>
          <a:bodyPr/>
          <a:lstStyle>
            <a:lvl1pPr>
              <a:defRPr/>
            </a:lvl1pPr>
          </a:lstStyle>
          <a:p>
            <a:fld id="{05CF15F3-5E77-4C57-9E21-50D6D1D6C022}" type="slidenum">
              <a:rPr lang="en-US"/>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fld id="{EF7FDEF1-C582-4E22-9E77-D68326471F28}" type="datetime1">
              <a:rPr lang="en-US" smtClean="0"/>
              <a:t>6/2/2026</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7" name="Slide Number Placeholder 5"/>
          <p:cNvSpPr>
            <a:spLocks noGrp="1"/>
          </p:cNvSpPr>
          <p:nvPr>
            <p:ph type="sldNum" sz="quarter" idx="12"/>
          </p:nvPr>
        </p:nvSpPr>
        <p:spPr/>
        <p:txBody>
          <a:bodyPr/>
          <a:lstStyle>
            <a:lvl1pPr>
              <a:defRPr/>
            </a:lvl1pPr>
          </a:lstStyle>
          <a:p>
            <a:fld id="{1242169A-B3C7-4FB6-967F-AF95F4EB3315}" type="slidenum">
              <a:rPr lang="en-US"/>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053C3A68-6922-42D3-8905-ECC2D82A3469}" type="datetime1">
              <a:rPr lang="en-US" smtClean="0"/>
              <a:t>6/2/2026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94FDD027-5576-4F27-AAB6-1D994836EE78}" type="slidenum">
              <a:rPr lang="en-US"/>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41"/>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41"/>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CB69E9F4-7604-4950-A8B2-8ACDEDB1506E}" type="datetime1">
              <a:rPr lang="en-US" smtClean="0"/>
              <a:t>6/2/2026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2957CE61-8714-431B-A40A-01B1C5541AB7}" type="slidenum">
              <a:rPr lang="en-US"/>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609600" y="-47625"/>
            <a:ext cx="109728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Text Placeholder 2"/>
          <p:cNvSpPr>
            <a:spLocks noGrp="1"/>
          </p:cNvSpPr>
          <p:nvPr>
            <p:ph type="body" idx="1"/>
          </p:nvPr>
        </p:nvSpPr>
        <p:spPr bwMode="auto">
          <a:xfrm>
            <a:off x="609600" y="1095375"/>
            <a:ext cx="10972800" cy="503078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3"/>
            <a:ext cx="2844800" cy="365125"/>
          </a:xfrm>
          <a:prstGeom prst="rect">
            <a:avLst/>
          </a:prstGeom>
        </p:spPr>
        <p:txBody>
          <a:bodyPr vert="horz" wrap="square" lIns="91440" tIns="45720" rIns="91440" bIns="45720" numCol="1" anchor="ctr" anchorCtr="0" compatLnSpc="1">
            <a:prstTxWarp prst="textNoShape">
              <a:avLst/>
            </a:prstTxWarp>
          </a:bodyPr>
          <a:lstStyle>
            <a:lvl1pPr>
              <a:defRPr sz="1200">
                <a:solidFill>
                  <a:srgbClr val="898989"/>
                </a:solidFill>
                <a:latin typeface="TradeGothic" pitchFamily="1" charset="0"/>
              </a:defRPr>
            </a:lvl1pPr>
          </a:lstStyle>
          <a:p>
            <a:fld id="{780A9602-A9A9-453F-AEF1-37B5837E02CD}" type="datetime1">
              <a:rPr lang="en-US" smtClean="0"/>
              <a:t>6/2/2026</a:t>
            </a:fld>
            <a:endParaRPr lang="en-US"/>
          </a:p>
        </p:txBody>
      </p:sp>
      <p:sp>
        <p:nvSpPr>
          <p:cNvPr id="5" name="Footer Placeholder 4"/>
          <p:cNvSpPr>
            <a:spLocks noGrp="1"/>
          </p:cNvSpPr>
          <p:nvPr>
            <p:ph type="ftr" sz="quarter" idx="3"/>
          </p:nvPr>
        </p:nvSpPr>
        <p:spPr>
          <a:xfrm>
            <a:off x="4165600" y="6356353"/>
            <a:ext cx="38608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TradeGothic"/>
                <a:ea typeface="+mn-ea"/>
                <a:cs typeface="+mn-cs"/>
              </a:defRPr>
            </a:lvl1pPr>
          </a:lstStyle>
          <a:p>
            <a:pPr>
              <a:defRPr/>
            </a:pPr>
            <a:r>
              <a:rPr lang="en-US"/>
              <a:t>@SIH Idea submission- Template</a:t>
            </a:r>
          </a:p>
        </p:txBody>
      </p:sp>
      <p:sp>
        <p:nvSpPr>
          <p:cNvPr id="6" name="Slide Number Placeholder 5"/>
          <p:cNvSpPr>
            <a:spLocks noGrp="1"/>
          </p:cNvSpPr>
          <p:nvPr>
            <p:ph type="sldNum" sz="quarter" idx="4"/>
          </p:nvPr>
        </p:nvSpPr>
        <p:spPr>
          <a:xfrm>
            <a:off x="8737600" y="6356353"/>
            <a:ext cx="28448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latin typeface="TradeGothic" pitchFamily="1" charset="0"/>
              </a:defRPr>
            </a:lvl1pPr>
          </a:lstStyle>
          <a:p>
            <a:fld id="{1411BA53-830D-4830-BB65-E58DBE17D0B7}" type="slidenum">
              <a:rPr lang="en-US"/>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ctr" defTabSz="457200" rtl="0" eaLnBrk="0" fontAlgn="base" hangingPunct="0">
        <a:spcBef>
          <a:spcPct val="0"/>
        </a:spcBef>
        <a:spcAft>
          <a:spcPct val="0"/>
        </a:spcAft>
        <a:defRPr sz="4400" kern="1200">
          <a:solidFill>
            <a:schemeClr val="tx1"/>
          </a:solidFill>
          <a:latin typeface="TradeGothic"/>
          <a:ea typeface="ＭＳ Ｐゴシック" charset="0"/>
          <a:cs typeface="ＭＳ Ｐゴシック" charset="0"/>
        </a:defRPr>
      </a:lvl1pPr>
      <a:lvl2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2pPr>
      <a:lvl3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3pPr>
      <a:lvl4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4pPr>
      <a:lvl5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5pPr>
      <a:lvl6pPr marL="4572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6pPr>
      <a:lvl7pPr marL="9144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7pPr>
      <a:lvl8pPr marL="13716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8pPr>
      <a:lvl9pPr marL="18288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9pPr>
    </p:titleStyle>
    <p:bodyStyle>
      <a:lvl1pPr marL="342900" indent="-342900" algn="l" defTabSz="457200" rtl="0" eaLnBrk="0" fontAlgn="base" hangingPunct="0">
        <a:spcBef>
          <a:spcPct val="20000"/>
        </a:spcBef>
        <a:spcAft>
          <a:spcPct val="0"/>
        </a:spcAft>
        <a:buFont typeface="Arial" pitchFamily="34" charset="0"/>
        <a:buChar char="•"/>
        <a:defRPr sz="3200" kern="1200">
          <a:solidFill>
            <a:schemeClr val="tx1"/>
          </a:solidFill>
          <a:latin typeface="TradeGothic"/>
          <a:ea typeface="ＭＳ Ｐゴシック" charset="0"/>
          <a:cs typeface="ＭＳ Ｐゴシック" charset="0"/>
        </a:defRPr>
      </a:lvl1pPr>
      <a:lvl2pPr marL="742950" indent="-285750" algn="l" defTabSz="457200" rtl="0" eaLnBrk="0" fontAlgn="base" hangingPunct="0">
        <a:spcBef>
          <a:spcPct val="20000"/>
        </a:spcBef>
        <a:spcAft>
          <a:spcPct val="0"/>
        </a:spcAft>
        <a:buFont typeface="Arial" pitchFamily="34" charset="0"/>
        <a:buChar char="–"/>
        <a:defRPr sz="2800" kern="1200">
          <a:solidFill>
            <a:schemeClr val="tx1"/>
          </a:solidFill>
          <a:latin typeface="TradeGothic"/>
          <a:ea typeface="ＭＳ Ｐゴシック" charset="0"/>
          <a:cs typeface="+mn-cs"/>
        </a:defRPr>
      </a:lvl2pPr>
      <a:lvl3pPr marL="1143000" indent="-228600" algn="l" defTabSz="457200" rtl="0" eaLnBrk="0" fontAlgn="base" hangingPunct="0">
        <a:spcBef>
          <a:spcPct val="20000"/>
        </a:spcBef>
        <a:spcAft>
          <a:spcPct val="0"/>
        </a:spcAft>
        <a:buFont typeface="Arial" pitchFamily="34" charset="0"/>
        <a:buChar char="•"/>
        <a:defRPr sz="2400" kern="1200">
          <a:solidFill>
            <a:schemeClr val="tx1"/>
          </a:solidFill>
          <a:latin typeface="TradeGothic"/>
          <a:ea typeface="ＭＳ Ｐゴシック" charset="0"/>
          <a:cs typeface="+mn-cs"/>
        </a:defRPr>
      </a:lvl3pPr>
      <a:lvl4pPr marL="1600200" indent="-228600" algn="l" defTabSz="457200" rtl="0" eaLnBrk="0" fontAlgn="base" hangingPunct="0">
        <a:spcBef>
          <a:spcPct val="20000"/>
        </a:spcBef>
        <a:spcAft>
          <a:spcPct val="0"/>
        </a:spcAft>
        <a:buFont typeface="Arial" pitchFamily="34" charset="0"/>
        <a:buChar char="–"/>
        <a:defRPr sz="2000" kern="1200">
          <a:solidFill>
            <a:schemeClr val="tx1"/>
          </a:solidFill>
          <a:latin typeface="TradeGothic"/>
          <a:ea typeface="ＭＳ Ｐゴシック" charset="0"/>
          <a:cs typeface="+mn-cs"/>
        </a:defRPr>
      </a:lvl4pPr>
      <a:lvl5pPr marL="2057400" indent="-228600" algn="l" defTabSz="457200" rtl="0" eaLnBrk="0" fontAlgn="base" hangingPunct="0">
        <a:spcBef>
          <a:spcPct val="20000"/>
        </a:spcBef>
        <a:spcAft>
          <a:spcPct val="0"/>
        </a:spcAft>
        <a:buFont typeface="Arial" pitchFamily="34" charset="0"/>
        <a:buChar char="»"/>
        <a:defRPr sz="2000" kern="1200">
          <a:solidFill>
            <a:schemeClr val="tx1"/>
          </a:solidFill>
          <a:latin typeface="TradeGothic"/>
          <a:ea typeface="ＭＳ Ｐゴシック" charset="0"/>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6" name="Rectangle 24">
            <a:extLst>
              <a:ext uri="{FF2B5EF4-FFF2-40B4-BE49-F238E27FC236}">
                <a16:creationId xmlns:a16="http://schemas.microsoft.com/office/drawing/2014/main" id="{3E443FD7-A66B-4AA0-872D-B088B9BC5F17}"/>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00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Freeform: Shape 26">
            <a:extLst>
              <a:ext uri="{FF2B5EF4-FFF2-40B4-BE49-F238E27FC236}">
                <a16:creationId xmlns:a16="http://schemas.microsoft.com/office/drawing/2014/main" id="{C04BE0EF-3561-49B4-9A29-F283168A91C7}"/>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56780" y="851521"/>
            <a:ext cx="4638605" cy="5154967"/>
          </a:xfrm>
          <a:custGeom>
            <a:avLst/>
            <a:gdLst>
              <a:gd name="connsiteX0" fmla="*/ 363179 w 6184806"/>
              <a:gd name="connsiteY0" fmla="*/ 3125191 h 5154967"/>
              <a:gd name="connsiteX1" fmla="*/ 898270 w 6184806"/>
              <a:gd name="connsiteY1" fmla="*/ 3125191 h 5154967"/>
              <a:gd name="connsiteX2" fmla="*/ 980326 w 6184806"/>
              <a:gd name="connsiteY2" fmla="*/ 3173551 h 5154967"/>
              <a:gd name="connsiteX3" fmla="*/ 1248448 w 6184806"/>
              <a:gd name="connsiteY3" fmla="*/ 3635277 h 5154967"/>
              <a:gd name="connsiteX4" fmla="*/ 1248448 w 6184806"/>
              <a:gd name="connsiteY4" fmla="*/ 3729695 h 5154967"/>
              <a:gd name="connsiteX5" fmla="*/ 980326 w 6184806"/>
              <a:gd name="connsiteY5" fmla="*/ 4191421 h 5154967"/>
              <a:gd name="connsiteX6" fmla="*/ 898270 w 6184806"/>
              <a:gd name="connsiteY6" fmla="*/ 4239781 h 5154967"/>
              <a:gd name="connsiteX7" fmla="*/ 363179 w 6184806"/>
              <a:gd name="connsiteY7" fmla="*/ 4239781 h 5154967"/>
              <a:gd name="connsiteX8" fmla="*/ 279969 w 6184806"/>
              <a:gd name="connsiteY8" fmla="*/ 4191421 h 5154967"/>
              <a:gd name="connsiteX9" fmla="*/ 13002 w 6184806"/>
              <a:gd name="connsiteY9" fmla="*/ 3729695 h 5154967"/>
              <a:gd name="connsiteX10" fmla="*/ 13002 w 6184806"/>
              <a:gd name="connsiteY10" fmla="*/ 3635277 h 5154967"/>
              <a:gd name="connsiteX11" fmla="*/ 279969 w 6184806"/>
              <a:gd name="connsiteY11" fmla="*/ 3173551 h 5154967"/>
              <a:gd name="connsiteX12" fmla="*/ 363179 w 6184806"/>
              <a:gd name="connsiteY12" fmla="*/ 3125191 h 5154967"/>
              <a:gd name="connsiteX13" fmla="*/ 2489721 w 6184806"/>
              <a:gd name="connsiteY13" fmla="*/ 570035 h 5154967"/>
              <a:gd name="connsiteX14" fmla="*/ 2764862 w 6184806"/>
              <a:gd name="connsiteY14" fmla="*/ 570035 h 5154967"/>
              <a:gd name="connsiteX15" fmla="*/ 2796959 w 6184806"/>
              <a:gd name="connsiteY15" fmla="*/ 570035 h 5154967"/>
              <a:gd name="connsiteX16" fmla="*/ 2827587 w 6184806"/>
              <a:gd name="connsiteY16" fmla="*/ 622777 h 5154967"/>
              <a:gd name="connsiteX17" fmla="*/ 2977604 w 6184806"/>
              <a:gd name="connsiteY17" fmla="*/ 881117 h 5154967"/>
              <a:gd name="connsiteX18" fmla="*/ 2977604 w 6184806"/>
              <a:gd name="connsiteY18" fmla="*/ 1025720 h 5154967"/>
              <a:gd name="connsiteX19" fmla="*/ 2566968 w 6184806"/>
              <a:gd name="connsiteY19" fmla="*/ 1732863 h 5154967"/>
              <a:gd name="connsiteX20" fmla="*/ 2441299 w 6184806"/>
              <a:gd name="connsiteY20" fmla="*/ 1806927 h 5154967"/>
              <a:gd name="connsiteX21" fmla="*/ 1621798 w 6184806"/>
              <a:gd name="connsiteY21" fmla="*/ 1806927 h 5154967"/>
              <a:gd name="connsiteX22" fmla="*/ 1583218 w 6184806"/>
              <a:gd name="connsiteY22" fmla="*/ 1801802 h 5154967"/>
              <a:gd name="connsiteX23" fmla="*/ 1556683 w 6184806"/>
              <a:gd name="connsiteY23" fmla="*/ 1790677 h 5154967"/>
              <a:gd name="connsiteX24" fmla="*/ 1572899 w 6184806"/>
              <a:gd name="connsiteY24" fmla="*/ 1762630 h 5154967"/>
              <a:gd name="connsiteX25" fmla="*/ 2147429 w 6184806"/>
              <a:gd name="connsiteY25" fmla="*/ 768968 h 5154967"/>
              <a:gd name="connsiteX26" fmla="*/ 2489721 w 6184806"/>
              <a:gd name="connsiteY26" fmla="*/ 570035 h 5154967"/>
              <a:gd name="connsiteX27" fmla="*/ 1573268 w 6184806"/>
              <a:gd name="connsiteY27" fmla="*/ 0 h 5154967"/>
              <a:gd name="connsiteX28" fmla="*/ 2497662 w 6184806"/>
              <a:gd name="connsiteY28" fmla="*/ 0 h 5154967"/>
              <a:gd name="connsiteX29" fmla="*/ 2639415 w 6184806"/>
              <a:gd name="connsiteY29" fmla="*/ 83546 h 5154967"/>
              <a:gd name="connsiteX30" fmla="*/ 2887862 w 6184806"/>
              <a:gd name="connsiteY30" fmla="*/ 511387 h 5154967"/>
              <a:gd name="connsiteX31" fmla="*/ 2915928 w 6184806"/>
              <a:gd name="connsiteY31" fmla="*/ 559720 h 5154967"/>
              <a:gd name="connsiteX32" fmla="*/ 2893844 w 6184806"/>
              <a:gd name="connsiteY32" fmla="*/ 559720 h 5154967"/>
              <a:gd name="connsiteX33" fmla="*/ 2789466 w 6184806"/>
              <a:gd name="connsiteY33" fmla="*/ 559720 h 5154967"/>
              <a:gd name="connsiteX34" fmla="*/ 2744122 w 6184806"/>
              <a:gd name="connsiteY34" fmla="*/ 481634 h 5154967"/>
              <a:gd name="connsiteX35" fmla="*/ 2570885 w 6184806"/>
              <a:gd name="connsiteY35" fmla="*/ 183309 h 5154967"/>
              <a:gd name="connsiteX36" fmla="*/ 2445216 w 6184806"/>
              <a:gd name="connsiteY36" fmla="*/ 109243 h 5154967"/>
              <a:gd name="connsiteX37" fmla="*/ 1625714 w 6184806"/>
              <a:gd name="connsiteY37" fmla="*/ 109243 h 5154967"/>
              <a:gd name="connsiteX38" fmla="*/ 1498276 w 6184806"/>
              <a:gd name="connsiteY38" fmla="*/ 183309 h 5154967"/>
              <a:gd name="connsiteX39" fmla="*/ 1089410 w 6184806"/>
              <a:gd name="connsiteY39" fmla="*/ 890450 h 5154967"/>
              <a:gd name="connsiteX40" fmla="*/ 1089410 w 6184806"/>
              <a:gd name="connsiteY40" fmla="*/ 1035054 h 5154967"/>
              <a:gd name="connsiteX41" fmla="*/ 1498276 w 6184806"/>
              <a:gd name="connsiteY41" fmla="*/ 1742196 h 5154967"/>
              <a:gd name="connsiteX42" fmla="*/ 1552039 w 6184806"/>
              <a:gd name="connsiteY42" fmla="*/ 1796422 h 5154967"/>
              <a:gd name="connsiteX43" fmla="*/ 1558260 w 6184806"/>
              <a:gd name="connsiteY43" fmla="*/ 1799029 h 5154967"/>
              <a:gd name="connsiteX44" fmla="*/ 1524911 w 6184806"/>
              <a:gd name="connsiteY44" fmla="*/ 1856707 h 5154967"/>
              <a:gd name="connsiteX45" fmla="*/ 1500108 w 6184806"/>
              <a:gd name="connsiteY45" fmla="*/ 1899604 h 5154967"/>
              <a:gd name="connsiteX46" fmla="*/ 1525834 w 6184806"/>
              <a:gd name="connsiteY46" fmla="*/ 1910390 h 5154967"/>
              <a:gd name="connsiteX47" fmla="*/ 1569352 w 6184806"/>
              <a:gd name="connsiteY47" fmla="*/ 1916170 h 5154967"/>
              <a:gd name="connsiteX48" fmla="*/ 2493745 w 6184806"/>
              <a:gd name="connsiteY48" fmla="*/ 1916170 h 5154967"/>
              <a:gd name="connsiteX49" fmla="*/ 2635498 w 6184806"/>
              <a:gd name="connsiteY49" fmla="*/ 1832627 h 5154967"/>
              <a:gd name="connsiteX50" fmla="*/ 3098693 w 6184806"/>
              <a:gd name="connsiteY50" fmla="*/ 1034974 h 5154967"/>
              <a:gd name="connsiteX51" fmla="*/ 3098693 w 6184806"/>
              <a:gd name="connsiteY51" fmla="*/ 871863 h 5154967"/>
              <a:gd name="connsiteX52" fmla="*/ 2945803 w 6184806"/>
              <a:gd name="connsiteY52" fmla="*/ 608576 h 5154967"/>
              <a:gd name="connsiteX53" fmla="*/ 2923422 w 6184806"/>
              <a:gd name="connsiteY53" fmla="*/ 570035 h 5154967"/>
              <a:gd name="connsiteX54" fmla="*/ 3027104 w 6184806"/>
              <a:gd name="connsiteY54" fmla="*/ 570035 h 5154967"/>
              <a:gd name="connsiteX55" fmla="*/ 4690846 w 6184806"/>
              <a:gd name="connsiteY55" fmla="*/ 570035 h 5154967"/>
              <a:gd name="connsiteX56" fmla="*/ 5028384 w 6184806"/>
              <a:gd name="connsiteY56" fmla="*/ 768968 h 5154967"/>
              <a:gd name="connsiteX57" fmla="*/ 6131323 w 6184806"/>
              <a:gd name="connsiteY57" fmla="*/ 2668304 h 5154967"/>
              <a:gd name="connsiteX58" fmla="*/ 6131323 w 6184806"/>
              <a:gd name="connsiteY58" fmla="*/ 3056698 h 5154967"/>
              <a:gd name="connsiteX59" fmla="*/ 5028384 w 6184806"/>
              <a:gd name="connsiteY59" fmla="*/ 4956035 h 5154967"/>
              <a:gd name="connsiteX60" fmla="*/ 4690846 w 6184806"/>
              <a:gd name="connsiteY60" fmla="*/ 5154967 h 5154967"/>
              <a:gd name="connsiteX61" fmla="*/ 2489721 w 6184806"/>
              <a:gd name="connsiteY61" fmla="*/ 5154967 h 5154967"/>
              <a:gd name="connsiteX62" fmla="*/ 2147429 w 6184806"/>
              <a:gd name="connsiteY62" fmla="*/ 4956035 h 5154967"/>
              <a:gd name="connsiteX63" fmla="*/ 1049243 w 6184806"/>
              <a:gd name="connsiteY63" fmla="*/ 3056698 h 5154967"/>
              <a:gd name="connsiteX64" fmla="*/ 1049243 w 6184806"/>
              <a:gd name="connsiteY64" fmla="*/ 2668304 h 5154967"/>
              <a:gd name="connsiteX65" fmla="*/ 1457007 w 6184806"/>
              <a:gd name="connsiteY65" fmla="*/ 1963067 h 5154967"/>
              <a:gd name="connsiteX66" fmla="*/ 1491373 w 6184806"/>
              <a:gd name="connsiteY66" fmla="*/ 1903634 h 5154967"/>
              <a:gd name="connsiteX67" fmla="*/ 1490164 w 6184806"/>
              <a:gd name="connsiteY67" fmla="*/ 1903127 h 5154967"/>
              <a:gd name="connsiteX68" fmla="*/ 1429519 w 6184806"/>
              <a:gd name="connsiteY68" fmla="*/ 1841960 h 5154967"/>
              <a:gd name="connsiteX69" fmla="*/ 968320 w 6184806"/>
              <a:gd name="connsiteY69" fmla="*/ 1044307 h 5154967"/>
              <a:gd name="connsiteX70" fmla="*/ 968320 w 6184806"/>
              <a:gd name="connsiteY70" fmla="*/ 881196 h 5154967"/>
              <a:gd name="connsiteX71" fmla="*/ 1429519 w 6184806"/>
              <a:gd name="connsiteY71" fmla="*/ 83546 h 5154967"/>
              <a:gd name="connsiteX72" fmla="*/ 1573268 w 6184806"/>
              <a:gd name="connsiteY72" fmla="*/ 0 h 51549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Lst>
            <a:rect l="l" t="t" r="r" b="b"/>
            <a:pathLst>
              <a:path w="6184806" h="5154967">
                <a:moveTo>
                  <a:pt x="363179" y="3125191"/>
                </a:moveTo>
                <a:cubicBezTo>
                  <a:pt x="363179" y="3125191"/>
                  <a:pt x="363179" y="3125191"/>
                  <a:pt x="898270" y="3125191"/>
                </a:cubicBezTo>
                <a:cubicBezTo>
                  <a:pt x="931786" y="3125191"/>
                  <a:pt x="964145" y="3143614"/>
                  <a:pt x="980326" y="3173551"/>
                </a:cubicBezTo>
                <a:cubicBezTo>
                  <a:pt x="980326" y="3173551"/>
                  <a:pt x="980326" y="3173551"/>
                  <a:pt x="1248448" y="3635277"/>
                </a:cubicBezTo>
                <a:cubicBezTo>
                  <a:pt x="1265784" y="3664063"/>
                  <a:pt x="1265784" y="3700909"/>
                  <a:pt x="1248448" y="3729695"/>
                </a:cubicBezTo>
                <a:cubicBezTo>
                  <a:pt x="1248448" y="3729695"/>
                  <a:pt x="1248448" y="3729695"/>
                  <a:pt x="980326" y="4191421"/>
                </a:cubicBezTo>
                <a:cubicBezTo>
                  <a:pt x="964145" y="4221358"/>
                  <a:pt x="931786" y="4239781"/>
                  <a:pt x="898270" y="4239781"/>
                </a:cubicBezTo>
                <a:cubicBezTo>
                  <a:pt x="898270" y="4239781"/>
                  <a:pt x="898270" y="4239781"/>
                  <a:pt x="363179" y="4239781"/>
                </a:cubicBezTo>
                <a:cubicBezTo>
                  <a:pt x="328508" y="4239781"/>
                  <a:pt x="297305" y="4221358"/>
                  <a:pt x="279969" y="4191421"/>
                </a:cubicBezTo>
                <a:cubicBezTo>
                  <a:pt x="279969" y="4191421"/>
                  <a:pt x="279969" y="4191421"/>
                  <a:pt x="13002" y="3729695"/>
                </a:cubicBezTo>
                <a:cubicBezTo>
                  <a:pt x="-4334" y="3700909"/>
                  <a:pt x="-4334" y="3664063"/>
                  <a:pt x="13002" y="3635277"/>
                </a:cubicBezTo>
                <a:cubicBezTo>
                  <a:pt x="13002" y="3635277"/>
                  <a:pt x="13002" y="3635277"/>
                  <a:pt x="279969" y="3173551"/>
                </a:cubicBezTo>
                <a:cubicBezTo>
                  <a:pt x="297305" y="3143614"/>
                  <a:pt x="328508" y="3125191"/>
                  <a:pt x="363179" y="3125191"/>
                </a:cubicBezTo>
                <a:close/>
                <a:moveTo>
                  <a:pt x="2489721" y="570035"/>
                </a:moveTo>
                <a:cubicBezTo>
                  <a:pt x="2489721" y="570035"/>
                  <a:pt x="2489721" y="570035"/>
                  <a:pt x="2764862" y="570035"/>
                </a:cubicBezTo>
                <a:lnTo>
                  <a:pt x="2796959" y="570035"/>
                </a:lnTo>
                <a:lnTo>
                  <a:pt x="2827587" y="622777"/>
                </a:lnTo>
                <a:cubicBezTo>
                  <a:pt x="2870233" y="696217"/>
                  <a:pt x="2919858" y="781675"/>
                  <a:pt x="2977604" y="881117"/>
                </a:cubicBezTo>
                <a:cubicBezTo>
                  <a:pt x="3004153" y="925204"/>
                  <a:pt x="3004153" y="981634"/>
                  <a:pt x="2977604" y="1025720"/>
                </a:cubicBezTo>
                <a:cubicBezTo>
                  <a:pt x="2977604" y="1025720"/>
                  <a:pt x="2977604" y="1025720"/>
                  <a:pt x="2566968" y="1732863"/>
                </a:cubicBezTo>
                <a:cubicBezTo>
                  <a:pt x="2542188" y="1778712"/>
                  <a:pt x="2492629" y="1806927"/>
                  <a:pt x="2441299" y="1806927"/>
                </a:cubicBezTo>
                <a:cubicBezTo>
                  <a:pt x="2441299" y="1806927"/>
                  <a:pt x="2441299" y="1806927"/>
                  <a:pt x="1621798" y="1806927"/>
                </a:cubicBezTo>
                <a:cubicBezTo>
                  <a:pt x="1608523" y="1806927"/>
                  <a:pt x="1595580" y="1805163"/>
                  <a:pt x="1583218" y="1801802"/>
                </a:cubicBezTo>
                <a:lnTo>
                  <a:pt x="1556683" y="1790677"/>
                </a:lnTo>
                <a:lnTo>
                  <a:pt x="1572899" y="1762630"/>
                </a:lnTo>
                <a:cubicBezTo>
                  <a:pt x="1719523" y="1509042"/>
                  <a:pt x="1907201" y="1184448"/>
                  <a:pt x="2147429" y="768968"/>
                </a:cubicBezTo>
                <a:cubicBezTo>
                  <a:pt x="2218739" y="645819"/>
                  <a:pt x="2347099" y="570035"/>
                  <a:pt x="2489721" y="570035"/>
                </a:cubicBezTo>
                <a:close/>
                <a:moveTo>
                  <a:pt x="1573268" y="0"/>
                </a:moveTo>
                <a:cubicBezTo>
                  <a:pt x="1573268" y="0"/>
                  <a:pt x="1573268" y="0"/>
                  <a:pt x="2497662" y="0"/>
                </a:cubicBezTo>
                <a:cubicBezTo>
                  <a:pt x="2555561" y="0"/>
                  <a:pt x="2611463" y="31828"/>
                  <a:pt x="2639415" y="83546"/>
                </a:cubicBezTo>
                <a:cubicBezTo>
                  <a:pt x="2639415" y="83546"/>
                  <a:pt x="2639415" y="83546"/>
                  <a:pt x="2887862" y="511387"/>
                </a:cubicBezTo>
                <a:lnTo>
                  <a:pt x="2915928" y="559720"/>
                </a:lnTo>
                <a:lnTo>
                  <a:pt x="2893844" y="559720"/>
                </a:lnTo>
                <a:lnTo>
                  <a:pt x="2789466" y="559720"/>
                </a:lnTo>
                <a:lnTo>
                  <a:pt x="2744122" y="481634"/>
                </a:lnTo>
                <a:cubicBezTo>
                  <a:pt x="2570885" y="183309"/>
                  <a:pt x="2570885" y="183309"/>
                  <a:pt x="2570885" y="183309"/>
                </a:cubicBezTo>
                <a:cubicBezTo>
                  <a:pt x="2546104" y="137459"/>
                  <a:pt x="2496545" y="109243"/>
                  <a:pt x="2445216" y="109243"/>
                </a:cubicBezTo>
                <a:cubicBezTo>
                  <a:pt x="1625714" y="109243"/>
                  <a:pt x="1625714" y="109243"/>
                  <a:pt x="1625714" y="109243"/>
                </a:cubicBezTo>
                <a:cubicBezTo>
                  <a:pt x="1572615" y="109243"/>
                  <a:pt x="1524825" y="137459"/>
                  <a:pt x="1498276" y="183309"/>
                </a:cubicBezTo>
                <a:cubicBezTo>
                  <a:pt x="1089410" y="890450"/>
                  <a:pt x="1089410" y="890450"/>
                  <a:pt x="1089410" y="890450"/>
                </a:cubicBezTo>
                <a:cubicBezTo>
                  <a:pt x="1062860" y="934537"/>
                  <a:pt x="1062860" y="990967"/>
                  <a:pt x="1089410" y="1035054"/>
                </a:cubicBezTo>
                <a:cubicBezTo>
                  <a:pt x="1498276" y="1742196"/>
                  <a:pt x="1498276" y="1742196"/>
                  <a:pt x="1498276" y="1742196"/>
                </a:cubicBezTo>
                <a:cubicBezTo>
                  <a:pt x="1511551" y="1765121"/>
                  <a:pt x="1530135" y="1783637"/>
                  <a:pt x="1552039" y="1796422"/>
                </a:cubicBezTo>
                <a:lnTo>
                  <a:pt x="1558260" y="1799029"/>
                </a:lnTo>
                <a:lnTo>
                  <a:pt x="1524911" y="1856707"/>
                </a:lnTo>
                <a:lnTo>
                  <a:pt x="1500108" y="1899604"/>
                </a:lnTo>
                <a:lnTo>
                  <a:pt x="1525834" y="1910390"/>
                </a:lnTo>
                <a:cubicBezTo>
                  <a:pt x="1539779" y="1914181"/>
                  <a:pt x="1554378" y="1916170"/>
                  <a:pt x="1569352" y="1916170"/>
                </a:cubicBezTo>
                <a:cubicBezTo>
                  <a:pt x="2493745" y="1916170"/>
                  <a:pt x="2493745" y="1916170"/>
                  <a:pt x="2493745" y="1916170"/>
                </a:cubicBezTo>
                <a:cubicBezTo>
                  <a:pt x="2551645" y="1916170"/>
                  <a:pt x="2607546" y="1884345"/>
                  <a:pt x="2635498" y="1832627"/>
                </a:cubicBezTo>
                <a:cubicBezTo>
                  <a:pt x="3098693" y="1034974"/>
                  <a:pt x="3098693" y="1034974"/>
                  <a:pt x="3098693" y="1034974"/>
                </a:cubicBezTo>
                <a:cubicBezTo>
                  <a:pt x="3128641" y="985246"/>
                  <a:pt x="3128641" y="921593"/>
                  <a:pt x="3098693" y="871863"/>
                </a:cubicBezTo>
                <a:cubicBezTo>
                  <a:pt x="3040794" y="772157"/>
                  <a:pt x="2990132" y="684914"/>
                  <a:pt x="2945803" y="608576"/>
                </a:cubicBezTo>
                <a:lnTo>
                  <a:pt x="2923422" y="570035"/>
                </a:lnTo>
                <a:lnTo>
                  <a:pt x="3027104" y="570035"/>
                </a:lnTo>
                <a:cubicBezTo>
                  <a:pt x="3349535" y="570035"/>
                  <a:pt x="3865424" y="570035"/>
                  <a:pt x="4690846" y="570035"/>
                </a:cubicBezTo>
                <a:cubicBezTo>
                  <a:pt x="4828714" y="570035"/>
                  <a:pt x="4961827" y="645819"/>
                  <a:pt x="5028384" y="768968"/>
                </a:cubicBezTo>
                <a:cubicBezTo>
                  <a:pt x="5028384" y="768968"/>
                  <a:pt x="5028384" y="768968"/>
                  <a:pt x="6131323" y="2668304"/>
                </a:cubicBezTo>
                <a:cubicBezTo>
                  <a:pt x="6202634" y="2786717"/>
                  <a:pt x="6202634" y="2938285"/>
                  <a:pt x="6131323" y="3056698"/>
                </a:cubicBezTo>
                <a:cubicBezTo>
                  <a:pt x="6131323" y="3056698"/>
                  <a:pt x="6131323" y="3056698"/>
                  <a:pt x="5028384" y="4956035"/>
                </a:cubicBezTo>
                <a:cubicBezTo>
                  <a:pt x="4961827" y="5079184"/>
                  <a:pt x="4828714" y="5154967"/>
                  <a:pt x="4690846" y="5154967"/>
                </a:cubicBezTo>
                <a:cubicBezTo>
                  <a:pt x="4690846" y="5154967"/>
                  <a:pt x="4690846" y="5154967"/>
                  <a:pt x="2489721" y="5154967"/>
                </a:cubicBezTo>
                <a:cubicBezTo>
                  <a:pt x="2347099" y="5154967"/>
                  <a:pt x="2218739" y="5079184"/>
                  <a:pt x="2147429" y="4956035"/>
                </a:cubicBezTo>
                <a:cubicBezTo>
                  <a:pt x="2147429" y="4956035"/>
                  <a:pt x="2147429" y="4956035"/>
                  <a:pt x="1049243" y="3056698"/>
                </a:cubicBezTo>
                <a:cubicBezTo>
                  <a:pt x="977932" y="2938285"/>
                  <a:pt x="977932" y="2786717"/>
                  <a:pt x="1049243" y="2668304"/>
                </a:cubicBezTo>
                <a:cubicBezTo>
                  <a:pt x="1049243" y="2668304"/>
                  <a:pt x="1049243" y="2668304"/>
                  <a:pt x="1457007" y="1963067"/>
                </a:cubicBezTo>
                <a:lnTo>
                  <a:pt x="1491373" y="1903634"/>
                </a:lnTo>
                <a:lnTo>
                  <a:pt x="1490164" y="1903127"/>
                </a:lnTo>
                <a:cubicBezTo>
                  <a:pt x="1465456" y="1888705"/>
                  <a:pt x="1444493" y="1867820"/>
                  <a:pt x="1429519" y="1841960"/>
                </a:cubicBezTo>
                <a:cubicBezTo>
                  <a:pt x="1429519" y="1841960"/>
                  <a:pt x="1429519" y="1841960"/>
                  <a:pt x="968320" y="1044307"/>
                </a:cubicBezTo>
                <a:cubicBezTo>
                  <a:pt x="938371" y="994579"/>
                  <a:pt x="938371" y="930926"/>
                  <a:pt x="968320" y="881196"/>
                </a:cubicBezTo>
                <a:cubicBezTo>
                  <a:pt x="968320" y="881196"/>
                  <a:pt x="968320" y="881196"/>
                  <a:pt x="1429519" y="83546"/>
                </a:cubicBezTo>
                <a:cubicBezTo>
                  <a:pt x="1459466" y="31828"/>
                  <a:pt x="1513373" y="0"/>
                  <a:pt x="1573268" y="0"/>
                </a:cubicBezTo>
                <a:close/>
              </a:path>
            </a:pathLst>
          </a:custGeom>
          <a:solidFill>
            <a:schemeClr val="tx1">
              <a:lumMod val="50000"/>
              <a:lumOff val="50000"/>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5" name="Picture 4">
            <a:extLst>
              <a:ext uri="{FF2B5EF4-FFF2-40B4-BE49-F238E27FC236}">
                <a16:creationId xmlns:a16="http://schemas.microsoft.com/office/drawing/2014/main" id="{9120848B-B2B4-45BE-A961-AEC0B06CF41B}"/>
              </a:ext>
            </a:extLst>
          </p:cNvPr>
          <p:cNvPicPr>
            <a:picLocks noChangeAspect="1"/>
          </p:cNvPicPr>
          <p:nvPr/>
        </p:nvPicPr>
        <p:blipFill rotWithShape="1">
          <a:blip r:embed="rId2"/>
          <a:srcRect r="59916"/>
          <a:stretch/>
        </p:blipFill>
        <p:spPr>
          <a:xfrm>
            <a:off x="6854891" y="1715881"/>
            <a:ext cx="3203509" cy="3426237"/>
          </a:xfrm>
          <a:prstGeom prst="rect">
            <a:avLst/>
          </a:prstGeom>
        </p:spPr>
      </p:pic>
      <p:sp>
        <p:nvSpPr>
          <p:cNvPr id="4" name="Subtitle 3"/>
          <p:cNvSpPr>
            <a:spLocks noGrp="1"/>
          </p:cNvSpPr>
          <p:nvPr>
            <p:ph type="subTitle" idx="1"/>
          </p:nvPr>
        </p:nvSpPr>
        <p:spPr>
          <a:xfrm>
            <a:off x="1245686" y="648614"/>
            <a:ext cx="8534400" cy="1752600"/>
          </a:xfrm>
        </p:spPr>
        <p:txBody>
          <a:bodyPr/>
          <a:lstStyle/>
          <a:p>
            <a:endParaRPr lang="en-US" b="1" dirty="0">
              <a:solidFill>
                <a:schemeClr val="tx1"/>
              </a:solidFill>
              <a:latin typeface="Times New Roman" panose="02020603050405020304" pitchFamily="18" charset="0"/>
              <a:cs typeface="Times New Roman" panose="02020603050405020304" pitchFamily="18" charset="0"/>
            </a:endParaRPr>
          </a:p>
          <a:p>
            <a:r>
              <a:rPr lang="en-US" b="1" dirty="0">
                <a:solidFill>
                  <a:schemeClr val="tx1"/>
                </a:solidFill>
                <a:latin typeface="Times New Roman" panose="02020603050405020304" pitchFamily="18" charset="0"/>
                <a:cs typeface="Times New Roman" panose="02020603050405020304" pitchFamily="18" charset="0"/>
              </a:rPr>
              <a:t>TITLE PAGE</a:t>
            </a:r>
            <a:endParaRPr lang="en-IN" b="1" dirty="0">
              <a:solidFill>
                <a:schemeClr val="tx1"/>
              </a:solidFill>
              <a:latin typeface="Times New Roman" panose="02020603050405020304" pitchFamily="18" charset="0"/>
              <a:cs typeface="Times New Roman" panose="02020603050405020304" pitchFamily="18" charset="0"/>
            </a:endParaRPr>
          </a:p>
        </p:txBody>
      </p:sp>
      <p:sp>
        <p:nvSpPr>
          <p:cNvPr id="8" name="Title 7"/>
          <p:cNvSpPr>
            <a:spLocks noGrp="1"/>
          </p:cNvSpPr>
          <p:nvPr>
            <p:ph type="ctrTitle"/>
          </p:nvPr>
        </p:nvSpPr>
        <p:spPr>
          <a:xfrm>
            <a:off x="331286" y="-526757"/>
            <a:ext cx="10363200" cy="2076450"/>
          </a:xfrm>
        </p:spPr>
        <p:txBody>
          <a:bodyPr/>
          <a:lstStyle/>
          <a:p>
            <a:r>
              <a:rPr lang="en-US" sz="4000" b="1" dirty="0">
                <a:solidFill>
                  <a:schemeClr val="tx2"/>
                </a:solidFill>
                <a:latin typeface="Garamond" panose="02020404030301010803" pitchFamily="18" charset="0"/>
              </a:rPr>
              <a:t>SMART INDIA HACKATHON </a:t>
            </a:r>
            <a:r>
              <a:rPr lang="en-US" sz="4000" b="1" dirty="0" smtClean="0">
                <a:solidFill>
                  <a:schemeClr val="tx2"/>
                </a:solidFill>
                <a:latin typeface="Garamond" panose="02020404030301010803" pitchFamily="18" charset="0"/>
              </a:rPr>
              <a:t>2026</a:t>
            </a:r>
            <a:endParaRPr lang="en-IN" sz="4000" b="1" dirty="0">
              <a:solidFill>
                <a:schemeClr val="tx2"/>
              </a:solidFill>
              <a:latin typeface="Garamond" panose="02020404030301010803" pitchFamily="18" charset="0"/>
            </a:endParaRPr>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
        <p:nvSpPr>
          <p:cNvPr id="38" name="TextBox 37"/>
          <p:cNvSpPr txBox="1"/>
          <p:nvPr/>
        </p:nvSpPr>
        <p:spPr>
          <a:xfrm>
            <a:off x="1783080" y="1847088"/>
            <a:ext cx="9509760" cy="502920"/>
          </a:xfrm>
          <a:prstGeom prst="rect">
            <a:avLst/>
          </a:prstGeom>
          <a:noFill/>
        </p:spPr>
        <p:txBody>
          <a:bodyPr wrap="square" lIns="0" rIns="0" tIns="0" bIns="0" anchor="t">
            <a:spAutoFit/>
          </a:bodyPr>
          <a:lstStyle/>
          <a:p>
            <a:pPr algn="l">
              <a:lnSpc>
                <a:spcPct val="105000"/>
              </a:lnSpc>
              <a:spcAft>
                <a:spcPts val="200"/>
              </a:spcAft>
            </a:pPr>
            <a:r>
              <a:rPr sz="3000" b="1">
                <a:solidFill>
                  <a:srgbClr val="102A43"/>
                </a:solidFill>
                <a:latin typeface="Times New Roman"/>
              </a:rPr>
              <a:t>PARAKH  ·  परख</a:t>
            </a:r>
          </a:p>
        </p:txBody>
      </p:sp>
      <p:sp>
        <p:nvSpPr>
          <p:cNvPr id="39" name="Rectangle 38"/>
          <p:cNvSpPr/>
          <p:nvPr/>
        </p:nvSpPr>
        <p:spPr>
          <a:xfrm>
            <a:off x="1783080" y="2450592"/>
            <a:ext cx="1463040" cy="32004"/>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1783080" y="2596896"/>
            <a:ext cx="9509760" cy="603504"/>
          </a:xfrm>
          <a:prstGeom prst="rect">
            <a:avLst/>
          </a:prstGeom>
          <a:noFill/>
        </p:spPr>
        <p:txBody>
          <a:bodyPr wrap="square" lIns="0" rIns="0" tIns="0" bIns="0" anchor="t">
            <a:spAutoFit/>
          </a:bodyPr>
          <a:lstStyle/>
          <a:p>
            <a:pPr algn="l">
              <a:lnSpc>
                <a:spcPct val="105000"/>
              </a:lnSpc>
              <a:spcAft>
                <a:spcPts val="300"/>
              </a:spcAft>
            </a:pPr>
            <a:r>
              <a:rPr sz="1700" b="1">
                <a:solidFill>
                  <a:srgbClr val="1F2933"/>
                </a:solidFill>
                <a:latin typeface="Times New Roman"/>
              </a:rPr>
              <a:t>From monthly report to monthly decision.</a:t>
            </a:r>
          </a:p>
          <a:p>
            <a:pPr algn="l">
              <a:lnSpc>
                <a:spcPct val="105000"/>
              </a:lnSpc>
              <a:spcAft>
                <a:spcPts val="0"/>
              </a:spcAft>
            </a:pPr>
            <a:r>
              <a:rPr sz="1100" b="0">
                <a:solidFill>
                  <a:srgbClr val="0070C0"/>
                </a:solidFill>
                <a:latin typeface="Calibri"/>
              </a:rPr>
              <a:t>A predictive and prescriptive early-warning layer on the PAIMANA project data — open-source, and built on the fields MoSPI already collects.</a:t>
            </a:r>
          </a:p>
        </p:txBody>
      </p:sp>
      <p:sp>
        <p:nvSpPr>
          <p:cNvPr id="41" name="TextBox 40"/>
          <p:cNvSpPr txBox="1"/>
          <p:nvPr/>
        </p:nvSpPr>
        <p:spPr>
          <a:xfrm>
            <a:off x="1783080" y="3639312"/>
            <a:ext cx="9509760" cy="1600200"/>
          </a:xfrm>
          <a:prstGeom prst="rect">
            <a:avLst/>
          </a:prstGeom>
          <a:noFill/>
        </p:spPr>
        <p:txBody>
          <a:bodyPr wrap="square" lIns="0" rIns="0" tIns="0" bIns="0" anchor="t">
            <a:spAutoFit/>
          </a:bodyPr>
          <a:lstStyle/>
          <a:p>
            <a:pPr algn="l">
              <a:lnSpc>
                <a:spcPct val="135000"/>
              </a:lnSpc>
              <a:spcAft>
                <a:spcPts val="400"/>
              </a:spcAft>
            </a:pPr>
            <a:r>
              <a:rPr sz="1150" b="0">
                <a:solidFill>
                  <a:srgbClr val="1F2933"/>
                </a:solidFill>
                <a:latin typeface="Calibri"/>
              </a:rPr>
              <a:t>Problem Statement ID – 26103</a:t>
            </a:r>
          </a:p>
          <a:p>
            <a:pPr algn="l">
              <a:lnSpc>
                <a:spcPct val="135000"/>
              </a:lnSpc>
              <a:spcAft>
                <a:spcPts val="400"/>
              </a:spcAft>
            </a:pPr>
            <a:r>
              <a:rPr sz="1150" b="0">
                <a:solidFill>
                  <a:srgbClr val="1F2933"/>
                </a:solidFill>
                <a:latin typeface="Calibri"/>
              </a:rPr>
              <a:t>Problem Statement Title – Use case on web-based integrated project-monitoring platform</a:t>
            </a:r>
          </a:p>
          <a:p>
            <a:pPr algn="l">
              <a:lnSpc>
                <a:spcPct val="135000"/>
              </a:lnSpc>
              <a:spcAft>
                <a:spcPts val="400"/>
              </a:spcAft>
            </a:pPr>
            <a:r>
              <a:rPr sz="1150" b="0">
                <a:solidFill>
                  <a:srgbClr val="1F2933"/>
                </a:solidFill>
                <a:latin typeface="Calibri"/>
              </a:rPr>
              <a:t>Theme – Smart Automation</a:t>
            </a:r>
          </a:p>
          <a:p>
            <a:pPr algn="l">
              <a:lnSpc>
                <a:spcPct val="135000"/>
              </a:lnSpc>
              <a:spcAft>
                <a:spcPts val="400"/>
              </a:spcAft>
            </a:pPr>
            <a:r>
              <a:rPr sz="1150" b="0">
                <a:solidFill>
                  <a:srgbClr val="1F2933"/>
                </a:solidFill>
                <a:latin typeface="Calibri"/>
              </a:rPr>
              <a:t>PS Category – Software</a:t>
            </a:r>
          </a:p>
          <a:p>
            <a:pPr algn="l">
              <a:lnSpc>
                <a:spcPct val="135000"/>
              </a:lnSpc>
              <a:spcAft>
                <a:spcPts val="400"/>
              </a:spcAft>
            </a:pPr>
            <a:r>
              <a:rPr sz="1150" b="0">
                <a:solidFill>
                  <a:srgbClr val="1F2933"/>
                </a:solidFill>
                <a:latin typeface="Calibri"/>
              </a:rPr>
              <a:t>Team ID – [Team ID]</a:t>
            </a:r>
          </a:p>
          <a:p>
            <a:pPr algn="l">
              <a:lnSpc>
                <a:spcPct val="135000"/>
              </a:lnSpc>
              <a:spcAft>
                <a:spcPts val="400"/>
              </a:spcAft>
            </a:pPr>
            <a:r>
              <a:rPr sz="1150" b="0">
                <a:solidFill>
                  <a:srgbClr val="1F2933"/>
                </a:solidFill>
                <a:latin typeface="Calibri"/>
              </a:rPr>
              <a:t>Team Name (registered on portal) – [Team name as on portal]</a:t>
            </a:r>
          </a:p>
        </p:txBody>
      </p:sp>
      <p:sp>
        <p:nvSpPr>
          <p:cNvPr id="42" name="TextBox 41"/>
          <p:cNvSpPr txBox="1"/>
          <p:nvPr/>
        </p:nvSpPr>
        <p:spPr>
          <a:xfrm>
            <a:off x="1783080" y="5504688"/>
            <a:ext cx="9509760" cy="457200"/>
          </a:xfrm>
          <a:prstGeom prst="rect">
            <a:avLst/>
          </a:prstGeom>
          <a:noFill/>
        </p:spPr>
        <p:txBody>
          <a:bodyPr wrap="square" lIns="0" rIns="0" tIns="0" bIns="0" anchor="t">
            <a:spAutoFit/>
          </a:bodyPr>
          <a:lstStyle/>
          <a:p>
            <a:pPr algn="l">
              <a:lnSpc>
                <a:spcPct val="105000"/>
              </a:lnSpc>
              <a:spcAft>
                <a:spcPts val="400"/>
              </a:spcAft>
            </a:pPr>
            <a:r>
              <a:rPr sz="1000" b="1">
                <a:solidFill>
                  <a:srgbClr val="1B6E45"/>
                </a:solidFill>
                <a:latin typeface="Calibri"/>
              </a:rPr>
              <a:t>PROOF OF FEASIBILITY  </a:t>
            </a:r>
          </a:p>
          <a:p>
            <a:pPr algn="l">
              <a:lnSpc>
                <a:spcPct val="105000"/>
              </a:lnSpc>
              <a:spcAft>
                <a:spcPts val="0"/>
              </a:spcAft>
            </a:pPr>
            <a:r>
              <a:rPr sz="1000" b="0">
                <a:solidFill>
                  <a:srgbClr val="5B6B7B"/>
                </a:solidFill>
                <a:latin typeface="Calibri"/>
              </a:rPr>
              <a:t>— a working pipeline already ingests the published monthly reports end to end: 17 reports, 2,522 pages, 25,180 project-month rows, 0 failed extractions, and 11 of the 13 current-format reports reconciled exactly to their own printed totals.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algn="ctr" fontAlgn="auto">
              <a:spcBef>
                <a:spcPts val="0"/>
              </a:spcBef>
              <a:spcAft>
                <a:spcPts val="0"/>
              </a:spcAft>
              <a:defRPr/>
            </a:pPr>
            <a:endParaRPr lang="en-US" dirty="0">
              <a:solidFill>
                <a:schemeClr val="accent2">
                  <a:lumMod val="75000"/>
                </a:schemeClr>
              </a:solidFill>
              <a:latin typeface="+mn-lt"/>
              <a:ea typeface="+mn-ea"/>
            </a:endParaRPr>
          </a:p>
        </p:txBody>
      </p:sp>
      <p:sp>
        <p:nvSpPr>
          <p:cNvPr id="15361" name="Title 1"/>
          <p:cNvSpPr>
            <a:spLocks noGrp="1"/>
          </p:cNvSpPr>
          <p:nvPr>
            <p:ph type="title"/>
          </p:nvPr>
        </p:nvSpPr>
        <p:spPr>
          <a:xfrm>
            <a:off x="1783080" y="128016"/>
            <a:ext cx="9509760" cy="658368"/>
          </a:xfrm>
        </p:spPr>
        <p:txBody>
          <a:bodyPr wrap="square" anchor="ctr"/>
          <a:lstStyle/>
          <a:p>
            <a:pPr eaLnBrk="1" hangingPunct="1" algn="l"/>
            <a:r>
              <a:rPr sz="2600" b="1">
                <a:solidFill>
                  <a:srgbClr val="102A43"/>
                </a:solidFill>
                <a:latin typeface="Times New Roman"/>
              </a:rPr>
              <a:t>IDEA TITLE — PARAKH: the prescriptive layer on PAIMANA</a:t>
            </a:r>
          </a:p>
        </p:txBody>
      </p:sp>
      <p:sp>
        <p:nvSpPr>
          <p:cNvPr id="6" name="Slide Number Placeholder 5"/>
          <p:cNvSpPr>
            <a:spLocks noGrp="1"/>
          </p:cNvSpPr>
          <p:nvPr>
            <p:ph type="sldNum" sz="quarter" idx="12"/>
          </p:nvPr>
        </p:nvSpPr>
        <p:spPr/>
        <p:txBody>
          <a:bodyPr/>
          <a:lstStyle/>
          <a:p>
            <a:fld id="{677C3CE7-23F7-4828-823C-E0205DF2CF97}" type="slidenum">
              <a:rPr lang="en-US" b="1" smtClean="0">
                <a:solidFill>
                  <a:schemeClr val="bg1"/>
                </a:solidFill>
              </a:rPr>
              <a:pPr/>
              <a:t>2</a:t>
            </a:fld>
            <a:endParaRPr lang="en-US" b="1" dirty="0">
              <a:solidFill>
                <a:schemeClr val="bg1"/>
              </a:solidFill>
            </a:endParaRPr>
          </a:p>
        </p:txBody>
      </p:sp>
      <p:sp>
        <p:nvSpPr>
          <p:cNvPr id="7" name="Footer Placeholder 6"/>
          <p:cNvSpPr>
            <a:spLocks noGrp="1"/>
          </p:cNvSpPr>
          <p:nvPr>
            <p:ph type="ftr" sz="quarter" idx="11"/>
          </p:nvPr>
        </p:nvSpPr>
        <p:spPr>
          <a:xfrm>
            <a:off x="4648200" y="6356353"/>
            <a:ext cx="3204000" cy="365125"/>
          </a:xfrm>
        </p:spPr>
        <p:txBody>
          <a:bodyPr/>
          <a:lstStyle/>
          <a:p>
            <a:pPr>
              <a:defRPr/>
            </a:pPr>
            <a:r>
              <a:rPr lang="en-US">
                <a:solidFill>
                  <a:schemeClr val="bg1"/>
                </a:solidFill>
              </a:rPr>
              <a:t>@SIH Idea submission- Template</a:t>
            </a:r>
            <a:endParaRPr lang="en-US" dirty="0">
              <a:solidFill>
                <a:schemeClr val="bg1"/>
              </a:solidFill>
            </a:endParaRPr>
          </a:p>
        </p:txBody>
      </p:sp>
      <p:sp>
        <p:nvSpPr>
          <p:cNvPr id="10" name="Oval 9"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xmlns=""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sz="850" b="1">
                <a:solidFill>
                  <a:srgbClr val="102A43"/>
                </a:solidFill>
                <a:latin typeface="Calibri"/>
              </a:rPr>
              <a:t>[Team name as on portal]</a:t>
            </a:r>
            <a:endParaRPr lang="en-IN" dirty="0"/>
          </a:p>
        </p:txBody>
      </p:sp>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
        <p:nvSpPr>
          <p:cNvPr id="15362" name="TextBox 15361"/>
          <p:cNvSpPr txBox="1"/>
          <p:nvPr/>
        </p:nvSpPr>
        <p:spPr>
          <a:xfrm>
            <a:off x="1783080" y="786384"/>
            <a:ext cx="9509760" cy="237744"/>
          </a:xfrm>
          <a:prstGeom prst="rect">
            <a:avLst/>
          </a:prstGeom>
          <a:noFill/>
        </p:spPr>
        <p:txBody>
          <a:bodyPr wrap="square" lIns="0" rIns="0" tIns="0" bIns="0" anchor="t">
            <a:spAutoFit/>
          </a:bodyPr>
          <a:lstStyle/>
          <a:p>
            <a:pPr algn="l">
              <a:lnSpc>
                <a:spcPct val="105000"/>
              </a:lnSpc>
              <a:spcAft>
                <a:spcPts val="0"/>
              </a:spcAft>
            </a:pPr>
            <a:r>
              <a:rPr sz="1150" b="0">
                <a:solidFill>
                  <a:srgbClr val="5B6B7B"/>
                </a:solidFill>
                <a:latin typeface="Calibri"/>
              </a:rPr>
              <a:t>PAIMANA already tells MoSPI what happened. PARAKH tells it what is about to change, why, and what to do about it — on the same monthly data.</a:t>
            </a:r>
          </a:p>
        </p:txBody>
      </p:sp>
      <p:sp>
        <p:nvSpPr>
          <p:cNvPr id="15363" name="TextBox 15362"/>
          <p:cNvSpPr txBox="1"/>
          <p:nvPr/>
        </p:nvSpPr>
        <p:spPr>
          <a:xfrm>
            <a:off x="457200" y="1115568"/>
            <a:ext cx="3703320" cy="182880"/>
          </a:xfrm>
          <a:prstGeom prst="rect">
            <a:avLst/>
          </a:prstGeom>
          <a:noFill/>
        </p:spPr>
        <p:txBody>
          <a:bodyPr wrap="square" lIns="0" rIns="0" tIns="0" bIns="0" anchor="t">
            <a:spAutoFit/>
          </a:bodyPr>
          <a:lstStyle/>
          <a:p>
            <a:pPr algn="l">
              <a:lnSpc>
                <a:spcPct val="105000"/>
              </a:lnSpc>
              <a:spcAft>
                <a:spcPts val="0"/>
              </a:spcAft>
            </a:pPr>
            <a:r>
              <a:rPr sz="950" b="1">
                <a:solidFill>
                  <a:srgbClr val="0070C0"/>
                </a:solidFill>
                <a:latin typeface="Calibri"/>
              </a:rPr>
              <a:t>PROPOSED SOLUTION — DETAILED EXPLANATION</a:t>
            </a:r>
          </a:p>
        </p:txBody>
      </p:sp>
      <p:sp>
        <p:nvSpPr>
          <p:cNvPr id="15364" name="Rectangle 15363"/>
          <p:cNvSpPr/>
          <p:nvPr/>
        </p:nvSpPr>
        <p:spPr>
          <a:xfrm>
            <a:off x="457200" y="1303020"/>
            <a:ext cx="3703320" cy="20117"/>
          </a:xfrm>
          <a:prstGeom prst="rect">
            <a:avLst/>
          </a:prstGeom>
          <a:solidFill>
            <a:srgbClr val="C5DC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365" name="TextBox 15364"/>
          <p:cNvSpPr txBox="1"/>
          <p:nvPr/>
        </p:nvSpPr>
        <p:spPr>
          <a:xfrm>
            <a:off x="457200" y="1408176"/>
            <a:ext cx="3703320" cy="1261872"/>
          </a:xfrm>
          <a:prstGeom prst="rect">
            <a:avLst/>
          </a:prstGeom>
          <a:noFill/>
        </p:spPr>
        <p:txBody>
          <a:bodyPr wrap="square" lIns="0" rIns="0" tIns="0" bIns="0" anchor="t">
            <a:spAutoFit/>
          </a:bodyPr>
          <a:lstStyle/>
          <a:p>
            <a:pPr algn="l">
              <a:lnSpc>
                <a:spcPct val="104000"/>
              </a:lnSpc>
              <a:spcAft>
                <a:spcPts val="400"/>
              </a:spcAft>
            </a:pPr>
            <a:r>
              <a:rPr sz="1050" b="0">
                <a:solidFill>
                  <a:srgbClr val="1F2933"/>
                </a:solidFill>
                <a:latin typeface="Calibri"/>
              </a:rPr>
              <a:t>The brief's own conclusion: monitoring must move from descriptive reporting to predictive and prescriptive decision support. PARAKH is that layer — it reads the monthly CUF/PAIMANA update ministries already file and turns it into a ranked, explained, actionable review queue.</a:t>
            </a:r>
          </a:p>
          <a:p>
            <a:pPr algn="l">
              <a:lnSpc>
                <a:spcPct val="104000"/>
              </a:lnSpc>
              <a:spcAft>
                <a:spcPts val="400"/>
              </a:spcAft>
            </a:pPr>
            <a:r>
              <a:rPr sz="950" b="0">
                <a:solidFill>
                  <a:srgbClr val="5B6B7B"/>
                </a:solidFill>
                <a:latin typeface="Calibri"/>
              </a:rPr>
              <a:t>It asks for no new form, no new portal and no new field entry from any project administrator.</a:t>
            </a:r>
          </a:p>
        </p:txBody>
      </p:sp>
      <p:sp>
        <p:nvSpPr>
          <p:cNvPr id="15366" name="Rounded Rectangle 15365"/>
          <p:cNvSpPr/>
          <p:nvPr/>
        </p:nvSpPr>
        <p:spPr>
          <a:xfrm>
            <a:off x="457200" y="2706624"/>
            <a:ext cx="256032" cy="256032"/>
          </a:xfrm>
          <a:prstGeom prst="roundRect">
            <a:avLst>
              <a:gd name="adj" fmla="val 18000"/>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18288" rIns="18288" tIns="0" bIns="0"/>
          <a:lstStyle/>
          <a:p>
            <a:pPr algn="ctr"/>
            <a:r>
              <a:rPr sz="950" b="1">
                <a:solidFill>
                  <a:srgbClr val="FFFFFF"/>
                </a:solidFill>
                <a:latin typeface="Calibri"/>
              </a:rPr>
              <a:t>1</a:t>
            </a:r>
          </a:p>
        </p:txBody>
      </p:sp>
      <p:sp>
        <p:nvSpPr>
          <p:cNvPr id="15367" name="TextBox 15366"/>
          <p:cNvSpPr txBox="1"/>
          <p:nvPr/>
        </p:nvSpPr>
        <p:spPr>
          <a:xfrm>
            <a:off x="804672" y="2688336"/>
            <a:ext cx="3355848" cy="274320"/>
          </a:xfrm>
          <a:prstGeom prst="rect">
            <a:avLst/>
          </a:prstGeom>
          <a:noFill/>
        </p:spPr>
        <p:txBody>
          <a:bodyPr wrap="square" lIns="0" rIns="0" tIns="0" bIns="0" anchor="t">
            <a:spAutoFit/>
          </a:bodyPr>
          <a:lstStyle/>
          <a:p>
            <a:pPr algn="l">
              <a:lnSpc>
                <a:spcPct val="105000"/>
              </a:lnSpc>
              <a:spcAft>
                <a:spcPts val="0"/>
              </a:spcAft>
            </a:pPr>
            <a:r>
              <a:rPr sz="900" b="1">
                <a:solidFill>
                  <a:srgbClr val="102A43"/>
                </a:solidFill>
                <a:latin typeface="Calibri"/>
              </a:rPr>
              <a:t>MONTHLY UPDATE  </a:t>
            </a:r>
          </a:p>
          <a:p>
            <a:pPr algn="l">
              <a:lnSpc>
                <a:spcPct val="105000"/>
              </a:lnSpc>
              <a:spcAft>
                <a:spcPts val="0"/>
              </a:spcAft>
            </a:pPr>
            <a:r>
              <a:rPr sz="850" b="0">
                <a:solidFill>
                  <a:srgbClr val="5B6B7B"/>
                </a:solidFill>
                <a:latin typeface="Calibri"/>
              </a:rPr>
              <a:t>the CUF/PAIMANA snapshot as filed</a:t>
            </a:r>
          </a:p>
        </p:txBody>
      </p:sp>
      <p:sp>
        <p:nvSpPr>
          <p:cNvPr id="15368" name="Rectangle 15367"/>
          <p:cNvSpPr/>
          <p:nvPr/>
        </p:nvSpPr>
        <p:spPr>
          <a:xfrm>
            <a:off x="580644" y="2953512"/>
            <a:ext cx="18288" cy="82296"/>
          </a:xfrm>
          <a:prstGeom prst="rect">
            <a:avLst/>
          </a:prstGeom>
          <a:solidFill>
            <a:srgbClr val="C5DC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369" name="Rounded Rectangle 15368"/>
          <p:cNvSpPr/>
          <p:nvPr/>
        </p:nvSpPr>
        <p:spPr>
          <a:xfrm>
            <a:off x="457200" y="3035808"/>
            <a:ext cx="256032" cy="256032"/>
          </a:xfrm>
          <a:prstGeom prst="roundRect">
            <a:avLst>
              <a:gd name="adj" fmla="val 18000"/>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18288" rIns="18288" tIns="0" bIns="0"/>
          <a:lstStyle/>
          <a:p>
            <a:pPr algn="ctr"/>
            <a:r>
              <a:rPr sz="950" b="1">
                <a:solidFill>
                  <a:srgbClr val="FFFFFF"/>
                </a:solidFill>
                <a:latin typeface="Calibri"/>
              </a:rPr>
              <a:t>2</a:t>
            </a:r>
          </a:p>
        </p:txBody>
      </p:sp>
      <p:sp>
        <p:nvSpPr>
          <p:cNvPr id="15370" name="TextBox 15369"/>
          <p:cNvSpPr txBox="1"/>
          <p:nvPr/>
        </p:nvSpPr>
        <p:spPr>
          <a:xfrm>
            <a:off x="804672" y="3017520"/>
            <a:ext cx="3355848" cy="274320"/>
          </a:xfrm>
          <a:prstGeom prst="rect">
            <a:avLst/>
          </a:prstGeom>
          <a:noFill/>
        </p:spPr>
        <p:txBody>
          <a:bodyPr wrap="square" lIns="0" rIns="0" tIns="0" bIns="0" anchor="t">
            <a:spAutoFit/>
          </a:bodyPr>
          <a:lstStyle/>
          <a:p>
            <a:pPr algn="l">
              <a:lnSpc>
                <a:spcPct val="105000"/>
              </a:lnSpc>
              <a:spcAft>
                <a:spcPts val="0"/>
              </a:spcAft>
            </a:pPr>
            <a:r>
              <a:rPr sz="900" b="1">
                <a:solidFill>
                  <a:srgbClr val="102A43"/>
                </a:solidFill>
                <a:latin typeface="Calibri"/>
              </a:rPr>
              <a:t>VERIFY + TRACE  </a:t>
            </a:r>
          </a:p>
          <a:p>
            <a:pPr algn="l">
              <a:lnSpc>
                <a:spcPct val="105000"/>
              </a:lnSpc>
              <a:spcAft>
                <a:spcPts val="0"/>
              </a:spcAft>
            </a:pPr>
            <a:r>
              <a:rPr sz="850" b="0">
                <a:solidFill>
                  <a:srgbClr val="5B6B7B"/>
                </a:solidFill>
                <a:latin typeface="Calibri"/>
              </a:rPr>
              <a:t>every field keeps its report and page</a:t>
            </a:r>
          </a:p>
        </p:txBody>
      </p:sp>
      <p:sp>
        <p:nvSpPr>
          <p:cNvPr id="15371" name="Rectangle 15370"/>
          <p:cNvSpPr/>
          <p:nvPr/>
        </p:nvSpPr>
        <p:spPr>
          <a:xfrm>
            <a:off x="580644" y="3282696"/>
            <a:ext cx="18288" cy="82296"/>
          </a:xfrm>
          <a:prstGeom prst="rect">
            <a:avLst/>
          </a:prstGeom>
          <a:solidFill>
            <a:srgbClr val="C5DC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372" name="Rounded Rectangle 15371"/>
          <p:cNvSpPr/>
          <p:nvPr/>
        </p:nvSpPr>
        <p:spPr>
          <a:xfrm>
            <a:off x="457200" y="3364992"/>
            <a:ext cx="256032" cy="256032"/>
          </a:xfrm>
          <a:prstGeom prst="roundRect">
            <a:avLst>
              <a:gd name="adj" fmla="val 18000"/>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18288" rIns="18288" tIns="0" bIns="0"/>
          <a:lstStyle/>
          <a:p>
            <a:pPr algn="ctr"/>
            <a:r>
              <a:rPr sz="950" b="1">
                <a:solidFill>
                  <a:srgbClr val="FFFFFF"/>
                </a:solidFill>
                <a:latin typeface="Calibri"/>
              </a:rPr>
              <a:t>3</a:t>
            </a:r>
          </a:p>
        </p:txBody>
      </p:sp>
      <p:sp>
        <p:nvSpPr>
          <p:cNvPr id="15373" name="TextBox 15372"/>
          <p:cNvSpPr txBox="1"/>
          <p:nvPr/>
        </p:nvSpPr>
        <p:spPr>
          <a:xfrm>
            <a:off x="804672" y="3346704"/>
            <a:ext cx="3355848" cy="274320"/>
          </a:xfrm>
          <a:prstGeom prst="rect">
            <a:avLst/>
          </a:prstGeom>
          <a:noFill/>
        </p:spPr>
        <p:txBody>
          <a:bodyPr wrap="square" lIns="0" rIns="0" tIns="0" bIns="0" anchor="t">
            <a:spAutoFit/>
          </a:bodyPr>
          <a:lstStyle/>
          <a:p>
            <a:pPr algn="l">
              <a:lnSpc>
                <a:spcPct val="105000"/>
              </a:lnSpc>
              <a:spcAft>
                <a:spcPts val="0"/>
              </a:spcAft>
            </a:pPr>
            <a:r>
              <a:rPr sz="900" b="1">
                <a:solidFill>
                  <a:srgbClr val="102A43"/>
                </a:solidFill>
                <a:latin typeface="Calibri"/>
              </a:rPr>
              <a:t>PAIR T → T+1  </a:t>
            </a:r>
          </a:p>
          <a:p>
            <a:pPr algn="l">
              <a:lnSpc>
                <a:spcPct val="105000"/>
              </a:lnSpc>
              <a:spcAft>
                <a:spcPts val="0"/>
              </a:spcAft>
            </a:pPr>
            <a:r>
              <a:rPr sz="850" b="0">
                <a:solidFill>
                  <a:srgbClr val="5B6B7B"/>
                </a:solidFill>
                <a:latin typeface="Calibri"/>
              </a:rPr>
              <a:t>each project's months become examples</a:t>
            </a:r>
          </a:p>
        </p:txBody>
      </p:sp>
      <p:sp>
        <p:nvSpPr>
          <p:cNvPr id="15374" name="Rectangle 15373"/>
          <p:cNvSpPr/>
          <p:nvPr/>
        </p:nvSpPr>
        <p:spPr>
          <a:xfrm>
            <a:off x="580644" y="3611880"/>
            <a:ext cx="18288" cy="82296"/>
          </a:xfrm>
          <a:prstGeom prst="rect">
            <a:avLst/>
          </a:prstGeom>
          <a:solidFill>
            <a:srgbClr val="C5DC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375" name="Rounded Rectangle 15374"/>
          <p:cNvSpPr/>
          <p:nvPr/>
        </p:nvSpPr>
        <p:spPr>
          <a:xfrm>
            <a:off x="457200" y="3694176"/>
            <a:ext cx="256032" cy="256032"/>
          </a:xfrm>
          <a:prstGeom prst="roundRect">
            <a:avLst>
              <a:gd name="adj" fmla="val 18000"/>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18288" rIns="18288" tIns="0" bIns="0"/>
          <a:lstStyle/>
          <a:p>
            <a:pPr algn="ctr"/>
            <a:r>
              <a:rPr sz="950" b="1">
                <a:solidFill>
                  <a:srgbClr val="FFFFFF"/>
                </a:solidFill>
                <a:latin typeface="Calibri"/>
              </a:rPr>
              <a:t>4</a:t>
            </a:r>
          </a:p>
        </p:txBody>
      </p:sp>
      <p:sp>
        <p:nvSpPr>
          <p:cNvPr id="15376" name="TextBox 15375"/>
          <p:cNvSpPr txBox="1"/>
          <p:nvPr/>
        </p:nvSpPr>
        <p:spPr>
          <a:xfrm>
            <a:off x="804672" y="3675888"/>
            <a:ext cx="3355848" cy="274320"/>
          </a:xfrm>
          <a:prstGeom prst="rect">
            <a:avLst/>
          </a:prstGeom>
          <a:noFill/>
        </p:spPr>
        <p:txBody>
          <a:bodyPr wrap="square" lIns="0" rIns="0" tIns="0" bIns="0" anchor="t">
            <a:spAutoFit/>
          </a:bodyPr>
          <a:lstStyle/>
          <a:p>
            <a:pPr algn="l">
              <a:lnSpc>
                <a:spcPct val="105000"/>
              </a:lnSpc>
              <a:spcAft>
                <a:spcPts val="0"/>
              </a:spcAft>
            </a:pPr>
            <a:r>
              <a:rPr sz="900" b="1">
                <a:solidFill>
                  <a:srgbClr val="102A43"/>
                </a:solidFill>
                <a:latin typeface="Calibri"/>
              </a:rPr>
              <a:t>PREDICT  </a:t>
            </a:r>
          </a:p>
          <a:p>
            <a:pPr algn="l">
              <a:lnSpc>
                <a:spcPct val="105000"/>
              </a:lnSpc>
              <a:spcAft>
                <a:spcPts val="0"/>
              </a:spcAft>
            </a:pPr>
            <a:r>
              <a:rPr sz="850" b="0">
                <a:solidFill>
                  <a:srgbClr val="5B6B7B"/>
                </a:solidFill>
                <a:latin typeface="Calibri"/>
              </a:rPr>
              <a:t>cost escalation · schedule slip · risk score</a:t>
            </a:r>
          </a:p>
        </p:txBody>
      </p:sp>
      <p:sp>
        <p:nvSpPr>
          <p:cNvPr id="15377" name="Rectangle 15376"/>
          <p:cNvSpPr/>
          <p:nvPr/>
        </p:nvSpPr>
        <p:spPr>
          <a:xfrm>
            <a:off x="580644" y="3941064"/>
            <a:ext cx="18288" cy="82296"/>
          </a:xfrm>
          <a:prstGeom prst="rect">
            <a:avLst/>
          </a:prstGeom>
          <a:solidFill>
            <a:srgbClr val="C5DC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378" name="Rounded Rectangle 15377"/>
          <p:cNvSpPr/>
          <p:nvPr/>
        </p:nvSpPr>
        <p:spPr>
          <a:xfrm>
            <a:off x="457200" y="4023360"/>
            <a:ext cx="256032" cy="256032"/>
          </a:xfrm>
          <a:prstGeom prst="roundRect">
            <a:avLst>
              <a:gd name="adj" fmla="val 18000"/>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18288" rIns="18288" tIns="0" bIns="0"/>
          <a:lstStyle/>
          <a:p>
            <a:pPr algn="ctr"/>
            <a:r>
              <a:rPr sz="950" b="1">
                <a:solidFill>
                  <a:srgbClr val="FFFFFF"/>
                </a:solidFill>
                <a:latin typeface="Calibri"/>
              </a:rPr>
              <a:t>5</a:t>
            </a:r>
          </a:p>
        </p:txBody>
      </p:sp>
      <p:sp>
        <p:nvSpPr>
          <p:cNvPr id="15379" name="TextBox 15378"/>
          <p:cNvSpPr txBox="1"/>
          <p:nvPr/>
        </p:nvSpPr>
        <p:spPr>
          <a:xfrm>
            <a:off x="804672" y="4005072"/>
            <a:ext cx="3355848" cy="274320"/>
          </a:xfrm>
          <a:prstGeom prst="rect">
            <a:avLst/>
          </a:prstGeom>
          <a:noFill/>
        </p:spPr>
        <p:txBody>
          <a:bodyPr wrap="square" lIns="0" rIns="0" tIns="0" bIns="0" anchor="t">
            <a:spAutoFit/>
          </a:bodyPr>
          <a:lstStyle/>
          <a:p>
            <a:pPr algn="l">
              <a:lnSpc>
                <a:spcPct val="105000"/>
              </a:lnSpc>
              <a:spcAft>
                <a:spcPts val="0"/>
              </a:spcAft>
            </a:pPr>
            <a:r>
              <a:rPr sz="900" b="1">
                <a:solidFill>
                  <a:srgbClr val="102A43"/>
                </a:solidFill>
                <a:latin typeface="Calibri"/>
              </a:rPr>
              <a:t>EXPLAIN + PRESCRIBE  </a:t>
            </a:r>
          </a:p>
          <a:p>
            <a:pPr algn="l">
              <a:lnSpc>
                <a:spcPct val="105000"/>
              </a:lnSpc>
              <a:spcAft>
                <a:spcPts val="0"/>
              </a:spcAft>
            </a:pPr>
            <a:r>
              <a:rPr sz="850" b="0">
                <a:solidFill>
                  <a:srgbClr val="5B6B7B"/>
                </a:solidFill>
                <a:latin typeface="Calibri"/>
              </a:rPr>
              <a:t>drivers · action prompt · owner</a:t>
            </a:r>
          </a:p>
        </p:txBody>
      </p:sp>
      <p:sp>
        <p:nvSpPr>
          <p:cNvPr id="15380" name="Rectangle 15379"/>
          <p:cNvSpPr/>
          <p:nvPr/>
        </p:nvSpPr>
        <p:spPr>
          <a:xfrm>
            <a:off x="580644" y="4270248"/>
            <a:ext cx="18288" cy="82296"/>
          </a:xfrm>
          <a:prstGeom prst="rect">
            <a:avLst/>
          </a:prstGeom>
          <a:solidFill>
            <a:srgbClr val="C5DC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381" name="Rounded Rectangle 15380"/>
          <p:cNvSpPr/>
          <p:nvPr/>
        </p:nvSpPr>
        <p:spPr>
          <a:xfrm>
            <a:off x="457200" y="4352544"/>
            <a:ext cx="256032" cy="256032"/>
          </a:xfrm>
          <a:prstGeom prst="roundRect">
            <a:avLst>
              <a:gd name="adj" fmla="val 18000"/>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18288" rIns="18288" tIns="0" bIns="0"/>
          <a:lstStyle/>
          <a:p>
            <a:pPr algn="ctr"/>
            <a:r>
              <a:rPr sz="950" b="1">
                <a:solidFill>
                  <a:srgbClr val="FFFFFF"/>
                </a:solidFill>
                <a:latin typeface="Calibri"/>
              </a:rPr>
              <a:t>6</a:t>
            </a:r>
          </a:p>
        </p:txBody>
      </p:sp>
      <p:sp>
        <p:nvSpPr>
          <p:cNvPr id="15382" name="TextBox 15381"/>
          <p:cNvSpPr txBox="1"/>
          <p:nvPr/>
        </p:nvSpPr>
        <p:spPr>
          <a:xfrm>
            <a:off x="804672" y="4334256"/>
            <a:ext cx="3355848" cy="274320"/>
          </a:xfrm>
          <a:prstGeom prst="rect">
            <a:avLst/>
          </a:prstGeom>
          <a:noFill/>
        </p:spPr>
        <p:txBody>
          <a:bodyPr wrap="square" lIns="0" rIns="0" tIns="0" bIns="0" anchor="t">
            <a:spAutoFit/>
          </a:bodyPr>
          <a:lstStyle/>
          <a:p>
            <a:pPr algn="l">
              <a:lnSpc>
                <a:spcPct val="105000"/>
              </a:lnSpc>
              <a:spcAft>
                <a:spcPts val="0"/>
              </a:spcAft>
            </a:pPr>
            <a:r>
              <a:rPr sz="900" b="1">
                <a:solidFill>
                  <a:srgbClr val="102A43"/>
                </a:solidFill>
                <a:latin typeface="Calibri"/>
              </a:rPr>
              <a:t>EARLY-WARNING QUEUE  </a:t>
            </a:r>
          </a:p>
          <a:p>
            <a:pPr algn="l">
              <a:lnSpc>
                <a:spcPct val="105000"/>
              </a:lnSpc>
              <a:spcAft>
                <a:spcPts val="0"/>
              </a:spcAft>
            </a:pPr>
            <a:r>
              <a:rPr sz="850" b="0">
                <a:solidFill>
                  <a:srgbClr val="5B6B7B"/>
                </a:solidFill>
                <a:latin typeface="Calibri"/>
              </a:rPr>
              <a:t>ranked for the next review cycle</a:t>
            </a:r>
          </a:p>
        </p:txBody>
      </p:sp>
      <p:sp>
        <p:nvSpPr>
          <p:cNvPr id="15383" name="TextBox 15382"/>
          <p:cNvSpPr txBox="1"/>
          <p:nvPr/>
        </p:nvSpPr>
        <p:spPr>
          <a:xfrm>
            <a:off x="4343400" y="1115568"/>
            <a:ext cx="3639312" cy="182880"/>
          </a:xfrm>
          <a:prstGeom prst="rect">
            <a:avLst/>
          </a:prstGeom>
          <a:noFill/>
        </p:spPr>
        <p:txBody>
          <a:bodyPr wrap="square" lIns="0" rIns="0" tIns="0" bIns="0" anchor="t">
            <a:spAutoFit/>
          </a:bodyPr>
          <a:lstStyle/>
          <a:p>
            <a:pPr algn="l">
              <a:lnSpc>
                <a:spcPct val="105000"/>
              </a:lnSpc>
              <a:spcAft>
                <a:spcPts val="0"/>
              </a:spcAft>
            </a:pPr>
            <a:r>
              <a:rPr sz="950" b="1">
                <a:solidFill>
                  <a:srgbClr val="0070C0"/>
                </a:solidFill>
                <a:latin typeface="Calibri"/>
              </a:rPr>
              <a:t>HOW IT ADDRESSES THE PROBLEM</a:t>
            </a:r>
          </a:p>
        </p:txBody>
      </p:sp>
      <p:sp>
        <p:nvSpPr>
          <p:cNvPr id="15384" name="Rectangle 15383"/>
          <p:cNvSpPr/>
          <p:nvPr/>
        </p:nvSpPr>
        <p:spPr>
          <a:xfrm>
            <a:off x="4343400" y="1303020"/>
            <a:ext cx="3639312" cy="20117"/>
          </a:xfrm>
          <a:prstGeom prst="rect">
            <a:avLst/>
          </a:prstGeom>
          <a:solidFill>
            <a:srgbClr val="C5DC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385" name="TextBox 15384"/>
          <p:cNvSpPr txBox="1"/>
          <p:nvPr/>
        </p:nvSpPr>
        <p:spPr>
          <a:xfrm>
            <a:off x="4343400" y="1408176"/>
            <a:ext cx="3639312" cy="3474720"/>
          </a:xfrm>
          <a:prstGeom prst="rect">
            <a:avLst/>
          </a:prstGeom>
          <a:noFill/>
        </p:spPr>
        <p:txBody>
          <a:bodyPr wrap="square" lIns="0" rIns="0" tIns="0" bIns="0" anchor="t">
            <a:spAutoFit/>
          </a:bodyPr>
          <a:lstStyle/>
          <a:p>
            <a:pPr algn="l">
              <a:lnSpc>
                <a:spcPct val="104000"/>
              </a:lnSpc>
              <a:spcAft>
                <a:spcPts val="400"/>
              </a:spcAft>
            </a:pPr>
            <a:r>
              <a:rPr sz="1050" b="1">
                <a:solidFill>
                  <a:srgbClr val="1F2933"/>
                </a:solidFill>
                <a:latin typeface="Calibri"/>
              </a:rPr>
              <a:t>The brief's diagnosis</a:t>
            </a:r>
            <a:r>
              <a:rPr sz="1050" b="0">
                <a:solidFill>
                  <a:srgbClr val="1F2933"/>
                </a:solidFill>
                <a:latin typeface="Calibri"/>
              </a:rPr>
              <a:t> — cost overruns, time overruns and implementation risks become visible only after they are reported, so intervention is always late.</a:t>
            </a:r>
          </a:p>
          <a:p>
            <a:pPr algn="l">
              <a:lnSpc>
                <a:spcPct val="104000"/>
              </a:lnSpc>
              <a:spcAft>
                <a:spcPts val="400"/>
              </a:spcAft>
            </a:pPr>
            <a:r>
              <a:rPr sz="1050" b="1">
                <a:solidFill>
                  <a:srgbClr val="1F2933"/>
                </a:solidFill>
                <a:latin typeface="Calibri"/>
              </a:rPr>
              <a:t>PARAKH answers the three questions a monitoring cell needs, for every project, every month:</a:t>
            </a:r>
          </a:p>
          <a:p>
            <a:pPr algn="l" marL="137160" indent="-137160">
              <a:lnSpc>
                <a:spcPct val="104000"/>
              </a:lnSpc>
              <a:spcAft>
                <a:spcPts val="400"/>
              </a:spcAft>
              <a:buFont typeface="Arial"/>
              <a:buChar char="•"/>
            </a:pPr>
            <a:r>
              <a:rPr sz="1050" b="1">
                <a:solidFill>
                  <a:srgbClr val="1F2933"/>
                </a:solidFill>
                <a:latin typeface="Calibri"/>
              </a:rPr>
              <a:t>WHAT WILL CHANGE?</a:t>
            </a:r>
            <a:r>
              <a:rPr sz="1050" b="0">
                <a:solidFill>
                  <a:srgbClr val="1F2933"/>
                </a:solidFill>
                <a:latin typeface="Calibri"/>
              </a:rPr>
              <a:t> whether the cost will be revised upward, or the completion date will move, at the next monthly report.</a:t>
            </a:r>
          </a:p>
          <a:p>
            <a:pPr algn="l" marL="137160" indent="-137160">
              <a:lnSpc>
                <a:spcPct val="104000"/>
              </a:lnSpc>
              <a:spcAft>
                <a:spcPts val="400"/>
              </a:spcAft>
              <a:buFont typeface="Arial"/>
              <a:buChar char="•"/>
            </a:pPr>
            <a:r>
              <a:rPr sz="1050" b="1">
                <a:solidFill>
                  <a:srgbClr val="1F2933"/>
                </a:solidFill>
                <a:latin typeface="Calibri"/>
              </a:rPr>
              <a:t>WHY?</a:t>
            </a:r>
            <a:r>
              <a:rPr sz="1050" b="0">
                <a:solidFill>
                  <a:srgbClr val="1F2933"/>
                </a:solidFill>
                <a:latin typeface="Calibri"/>
              </a:rPr>
              <a:t> the inputs that pushed that ranking up or pulled it down, for that project.</a:t>
            </a:r>
          </a:p>
          <a:p>
            <a:pPr algn="l" marL="137160" indent="-137160">
              <a:lnSpc>
                <a:spcPct val="104000"/>
              </a:lnSpc>
              <a:spcAft>
                <a:spcPts val="400"/>
              </a:spcAft>
              <a:buFont typeface="Arial"/>
              <a:buChar char="•"/>
            </a:pPr>
            <a:r>
              <a:rPr sz="1050" b="1">
                <a:solidFill>
                  <a:srgbClr val="1F2933"/>
                </a:solidFill>
                <a:latin typeface="Calibri"/>
              </a:rPr>
              <a:t>WHAT NEXT?</a:t>
            </a:r>
            <a:r>
              <a:rPr sz="1050" b="0">
                <a:solidFill>
                  <a:srgbClr val="1F2933"/>
                </a:solidFill>
                <a:latin typeface="Calibri"/>
              </a:rPr>
              <a:t> an action class for the reviewer, the peer benchmark behind it, and the role that owns it.</a:t>
            </a:r>
          </a:p>
          <a:p>
            <a:pPr algn="l">
              <a:lnSpc>
                <a:spcPct val="104000"/>
              </a:lnSpc>
              <a:spcAft>
                <a:spcPts val="400"/>
              </a:spcAft>
            </a:pPr>
            <a:r>
              <a:rPr sz="1050" b="0">
                <a:solidFill>
                  <a:srgbClr val="1F2933"/>
                </a:solidFill>
                <a:latin typeface="Calibri"/>
              </a:rPr>
              <a:t>Because the queue is sized to staff capacity, it prioritises interventions instead of describing them.</a:t>
            </a:r>
          </a:p>
          <a:p>
            <a:pPr algn="l">
              <a:lnSpc>
                <a:spcPct val="104000"/>
              </a:lnSpc>
              <a:spcAft>
                <a:spcPts val="400"/>
              </a:spcAft>
            </a:pPr>
            <a:r>
              <a:rPr sz="1050" b="1">
                <a:solidFill>
                  <a:srgbClr val="1F2933"/>
                </a:solidFill>
                <a:latin typeface="Calibri"/>
              </a:rPr>
              <a:t>Unverified data never scores</a:t>
            </a:r>
            <a:r>
              <a:rPr sz="1050" b="0">
                <a:solidFill>
                  <a:srgbClr val="1F2933"/>
                </a:solidFill>
                <a:latin typeface="Calibri"/>
              </a:rPr>
              <a:t> — a record that fails reconciliation is held for review, not silently predicted on.</a:t>
            </a:r>
          </a:p>
        </p:txBody>
      </p:sp>
      <p:sp>
        <p:nvSpPr>
          <p:cNvPr id="15386" name="TextBox 15385"/>
          <p:cNvSpPr txBox="1"/>
          <p:nvPr/>
        </p:nvSpPr>
        <p:spPr>
          <a:xfrm>
            <a:off x="8165592" y="1115568"/>
            <a:ext cx="3566160" cy="182880"/>
          </a:xfrm>
          <a:prstGeom prst="rect">
            <a:avLst/>
          </a:prstGeom>
          <a:noFill/>
        </p:spPr>
        <p:txBody>
          <a:bodyPr wrap="square" lIns="0" rIns="0" tIns="0" bIns="0" anchor="t">
            <a:spAutoFit/>
          </a:bodyPr>
          <a:lstStyle/>
          <a:p>
            <a:pPr algn="l">
              <a:lnSpc>
                <a:spcPct val="105000"/>
              </a:lnSpc>
              <a:spcAft>
                <a:spcPts val="0"/>
              </a:spcAft>
            </a:pPr>
            <a:r>
              <a:rPr sz="950" b="1">
                <a:solidFill>
                  <a:srgbClr val="0070C0"/>
                </a:solidFill>
                <a:latin typeface="Calibri"/>
              </a:rPr>
              <a:t>INNOVATION AND UNIQUENESS OF THE SOLUTION</a:t>
            </a:r>
          </a:p>
        </p:txBody>
      </p:sp>
      <p:sp>
        <p:nvSpPr>
          <p:cNvPr id="15387" name="Rectangle 15386"/>
          <p:cNvSpPr/>
          <p:nvPr/>
        </p:nvSpPr>
        <p:spPr>
          <a:xfrm>
            <a:off x="8165592" y="1303020"/>
            <a:ext cx="3566160" cy="20117"/>
          </a:xfrm>
          <a:prstGeom prst="rect">
            <a:avLst/>
          </a:prstGeom>
          <a:solidFill>
            <a:srgbClr val="C5DC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388" name="TextBox 15387"/>
          <p:cNvSpPr txBox="1"/>
          <p:nvPr/>
        </p:nvSpPr>
        <p:spPr>
          <a:xfrm>
            <a:off x="8165592" y="1408176"/>
            <a:ext cx="3566160" cy="3474720"/>
          </a:xfrm>
          <a:prstGeom prst="rect">
            <a:avLst/>
          </a:prstGeom>
          <a:noFill/>
        </p:spPr>
        <p:txBody>
          <a:bodyPr wrap="square" lIns="0" rIns="0" tIns="0" bIns="0" anchor="t">
            <a:spAutoFit/>
          </a:bodyPr>
          <a:lstStyle/>
          <a:p>
            <a:pPr algn="l">
              <a:lnSpc>
                <a:spcPct val="104000"/>
              </a:lnSpc>
              <a:spcAft>
                <a:spcPts val="400"/>
              </a:spcAft>
            </a:pPr>
            <a:r>
              <a:rPr sz="1050" b="1">
                <a:solidFill>
                  <a:srgbClr val="1F2933"/>
                </a:solidFill>
                <a:latin typeface="Calibri"/>
              </a:rPr>
              <a:t>1 · Prescriptive, not just predictive.</a:t>
            </a:r>
            <a:r>
              <a:rPr sz="1050" b="0">
                <a:solidFill>
                  <a:srgbClr val="1F2933"/>
                </a:solidFill>
                <a:latin typeface="Calibri"/>
              </a:rPr>
              <a:t> Every alert carries a recommended action class, the peer benchmark that justifies it, and the owner role.</a:t>
            </a:r>
          </a:p>
          <a:p>
            <a:pPr algn="l">
              <a:lnSpc>
                <a:spcPct val="104000"/>
              </a:lnSpc>
              <a:spcAft>
                <a:spcPts val="400"/>
              </a:spcAft>
            </a:pPr>
            <a:r>
              <a:rPr sz="1050" b="1">
                <a:solidFill>
                  <a:srgbClr val="1F2933"/>
                </a:solidFill>
                <a:latin typeface="Calibri"/>
              </a:rPr>
              <a:t>2 · We predict drift, not failure.</a:t>
            </a:r>
            <a:r>
              <a:rPr sz="1050" b="0">
                <a:solidFill>
                  <a:srgbClr val="1F2933"/>
                </a:solidFill>
                <a:latin typeface="Calibri"/>
              </a:rPr>
              <a:t> A project rarely collapses; its clocks separate. Measuring the gap below makes the warning explainable in one sentence.</a:t>
            </a:r>
          </a:p>
          <a:p>
            <a:pPr algn="l">
              <a:lnSpc>
                <a:spcPct val="104000"/>
              </a:lnSpc>
              <a:spcAft>
                <a:spcPts val="400"/>
              </a:spcAft>
            </a:pPr>
            <a:r>
              <a:rPr sz="1050" b="1">
                <a:solidFill>
                  <a:srgbClr val="1F2933"/>
                </a:solidFill>
                <a:latin typeface="Calibri"/>
              </a:rPr>
              <a:t>3 · Two engines, never blended.</a:t>
            </a:r>
            <a:r>
              <a:rPr sz="1050" b="0">
                <a:solidFill>
                  <a:srgbClr val="1F2933"/>
                </a:solidFill>
                <a:latin typeface="Calibri"/>
              </a:rPr>
              <a:t> Conventional statistics and machine learning are scored on identical folds and reported side by side, so the department sees where ML earns its place.</a:t>
            </a:r>
          </a:p>
          <a:p>
            <a:pPr algn="l">
              <a:lnSpc>
                <a:spcPct val="104000"/>
              </a:lnSpc>
              <a:spcAft>
                <a:spcPts val="400"/>
              </a:spcAft>
            </a:pPr>
            <a:r>
              <a:rPr sz="1050" b="1">
                <a:solidFill>
                  <a:srgbClr val="1F2933"/>
                </a:solidFill>
                <a:latin typeface="Calibri"/>
              </a:rPr>
              <a:t>4 · An evidence gate on every score.</a:t>
            </a:r>
            <a:r>
              <a:rPr sz="1050" b="0">
                <a:solidFill>
                  <a:srgbClr val="1F2933"/>
                </a:solidFill>
                <a:latin typeface="Calibri"/>
              </a:rPr>
              <a:t> Validation status travels with every prediction, and every figure keeps its source page.</a:t>
            </a:r>
          </a:p>
          <a:p>
            <a:pPr algn="l">
              <a:lnSpc>
                <a:spcPct val="104000"/>
              </a:lnSpc>
              <a:spcAft>
                <a:spcPts val="400"/>
              </a:spcAft>
            </a:pPr>
            <a:r>
              <a:rPr sz="1050" b="1">
                <a:solidFill>
                  <a:srgbClr val="1F2933"/>
                </a:solidFill>
                <a:latin typeface="Calibri"/>
              </a:rPr>
              <a:t>5 · It measures itself.</a:t>
            </a:r>
            <a:r>
              <a:rPr sz="1050" b="0">
                <a:solidFill>
                  <a:srgbClr val="1F2933"/>
                </a:solidFill>
                <a:latin typeface="Calibri"/>
              </a:rPr>
              <a:t> Reviewer dispositions are recorded, so accuracy claims become a measured precision@K instead of a promise.</a:t>
            </a:r>
          </a:p>
        </p:txBody>
      </p:sp>
      <p:sp>
        <p:nvSpPr>
          <p:cNvPr id="15389" name="TextBox 15388"/>
          <p:cNvSpPr txBox="1"/>
          <p:nvPr/>
        </p:nvSpPr>
        <p:spPr>
          <a:xfrm>
            <a:off x="457200" y="4937760"/>
            <a:ext cx="11247120" cy="201168"/>
          </a:xfrm>
          <a:prstGeom prst="rect">
            <a:avLst/>
          </a:prstGeom>
          <a:noFill/>
        </p:spPr>
        <p:txBody>
          <a:bodyPr wrap="square" lIns="0" rIns="0" tIns="0" bIns="0" anchor="t">
            <a:spAutoFit/>
          </a:bodyPr>
          <a:lstStyle/>
          <a:p>
            <a:pPr algn="l">
              <a:lnSpc>
                <a:spcPct val="105000"/>
              </a:lnSpc>
              <a:spcAft>
                <a:spcPts val="0"/>
              </a:spcAft>
            </a:pPr>
            <a:r>
              <a:rPr sz="950" b="1">
                <a:solidFill>
                  <a:srgbClr val="0070C0"/>
                </a:solidFill>
                <a:latin typeface="Calibri"/>
              </a:rPr>
              <a:t>THE THREE CLOCKS  ·  WHY A PROJECT SLIPS MONTHS BEFORE THE REPORT SAYS SO</a:t>
            </a:r>
          </a:p>
        </p:txBody>
      </p:sp>
      <p:sp>
        <p:nvSpPr>
          <p:cNvPr id="15390" name="Rounded Rectangle 15389"/>
          <p:cNvSpPr/>
          <p:nvPr/>
        </p:nvSpPr>
        <p:spPr>
          <a:xfrm>
            <a:off x="457200" y="5138928"/>
            <a:ext cx="3657600" cy="896112"/>
          </a:xfrm>
          <a:prstGeom prst="roundRect">
            <a:avLst>
              <a:gd name="adj" fmla="val 6000"/>
            </a:avLst>
          </a:prstGeom>
          <a:solidFill>
            <a:srgbClr val="FBFDFF"/>
          </a:solidFill>
          <a:ln w="9525">
            <a:solidFill>
              <a:srgbClr val="C5DC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391" name="Rectangle 15390"/>
          <p:cNvSpPr/>
          <p:nvPr/>
        </p:nvSpPr>
        <p:spPr>
          <a:xfrm>
            <a:off x="457200" y="5138928"/>
            <a:ext cx="41148" cy="896112"/>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392" name="TextBox 15391"/>
          <p:cNvSpPr txBox="1"/>
          <p:nvPr/>
        </p:nvSpPr>
        <p:spPr>
          <a:xfrm>
            <a:off x="603504" y="5230368"/>
            <a:ext cx="3383280" cy="731520"/>
          </a:xfrm>
          <a:prstGeom prst="rect">
            <a:avLst/>
          </a:prstGeom>
          <a:noFill/>
        </p:spPr>
        <p:txBody>
          <a:bodyPr wrap="square" lIns="0" rIns="0" tIns="0" bIns="0" anchor="t">
            <a:spAutoFit/>
          </a:bodyPr>
          <a:lstStyle/>
          <a:p>
            <a:pPr algn="l">
              <a:lnSpc>
                <a:spcPct val="102000"/>
              </a:lnSpc>
              <a:spcAft>
                <a:spcPts val="100"/>
              </a:spcAft>
            </a:pPr>
            <a:r>
              <a:rPr sz="1000" b="1">
                <a:solidFill>
                  <a:srgbClr val="0070C0"/>
                </a:solidFill>
                <a:latin typeface="Calibri"/>
              </a:rPr>
              <a:t>TIME vs PROGRESS</a:t>
            </a:r>
          </a:p>
          <a:p>
            <a:pPr algn="l">
              <a:lnSpc>
                <a:spcPct val="102000"/>
              </a:lnSpc>
              <a:spcAft>
                <a:spcPts val="0"/>
              </a:spcAft>
            </a:pPr>
            <a:r>
              <a:rPr sz="850" b="0">
                <a:solidFill>
                  <a:srgbClr val="1F2933"/>
                </a:solidFill>
                <a:latin typeface="Calibri"/>
              </a:rPr>
              <a:t>share of the approved timeline consumed against share of physical work completed</a:t>
            </a:r>
          </a:p>
        </p:txBody>
      </p:sp>
      <p:sp>
        <p:nvSpPr>
          <p:cNvPr id="15393" name="Rounded Rectangle 15392"/>
          <p:cNvSpPr/>
          <p:nvPr/>
        </p:nvSpPr>
        <p:spPr>
          <a:xfrm>
            <a:off x="4261104" y="5138928"/>
            <a:ext cx="3657600" cy="896112"/>
          </a:xfrm>
          <a:prstGeom prst="roundRect">
            <a:avLst>
              <a:gd name="adj" fmla="val 6000"/>
            </a:avLst>
          </a:prstGeom>
          <a:solidFill>
            <a:srgbClr val="FBFDFF"/>
          </a:solidFill>
          <a:ln w="9525">
            <a:solidFill>
              <a:srgbClr val="C5DC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394" name="Rectangle 15393"/>
          <p:cNvSpPr/>
          <p:nvPr/>
        </p:nvSpPr>
        <p:spPr>
          <a:xfrm>
            <a:off x="4261104" y="5138928"/>
            <a:ext cx="41148" cy="896112"/>
          </a:xfrm>
          <a:prstGeom prst="rect">
            <a:avLst/>
          </a:prstGeom>
          <a:solidFill>
            <a:srgbClr val="B06D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395" name="TextBox 15394"/>
          <p:cNvSpPr txBox="1"/>
          <p:nvPr/>
        </p:nvSpPr>
        <p:spPr>
          <a:xfrm>
            <a:off x="4407408" y="5230368"/>
            <a:ext cx="3383280" cy="731520"/>
          </a:xfrm>
          <a:prstGeom prst="rect">
            <a:avLst/>
          </a:prstGeom>
          <a:noFill/>
        </p:spPr>
        <p:txBody>
          <a:bodyPr wrap="square" lIns="0" rIns="0" tIns="0" bIns="0" anchor="t">
            <a:spAutoFit/>
          </a:bodyPr>
          <a:lstStyle/>
          <a:p>
            <a:pPr algn="l">
              <a:lnSpc>
                <a:spcPct val="102000"/>
              </a:lnSpc>
              <a:spcAft>
                <a:spcPts val="100"/>
              </a:spcAft>
            </a:pPr>
            <a:r>
              <a:rPr sz="1000" b="1">
                <a:solidFill>
                  <a:srgbClr val="B06D0A"/>
                </a:solidFill>
                <a:latin typeface="Calibri"/>
              </a:rPr>
              <a:t>MONEY vs PROGRESS</a:t>
            </a:r>
          </a:p>
          <a:p>
            <a:pPr algn="l">
              <a:lnSpc>
                <a:spcPct val="102000"/>
              </a:lnSpc>
              <a:spcAft>
                <a:spcPts val="0"/>
              </a:spcAft>
            </a:pPr>
            <a:r>
              <a:rPr sz="850" b="0">
                <a:solidFill>
                  <a:srgbClr val="1F2933"/>
                </a:solidFill>
                <a:latin typeface="Calibri"/>
              </a:rPr>
              <a:t>share of the revised cost released against share of physical work completed — paying ahead of building</a:t>
            </a:r>
          </a:p>
        </p:txBody>
      </p:sp>
      <p:sp>
        <p:nvSpPr>
          <p:cNvPr id="15396" name="Rounded Rectangle 15395"/>
          <p:cNvSpPr/>
          <p:nvPr/>
        </p:nvSpPr>
        <p:spPr>
          <a:xfrm>
            <a:off x="8065008" y="5138928"/>
            <a:ext cx="3657600" cy="896112"/>
          </a:xfrm>
          <a:prstGeom prst="roundRect">
            <a:avLst>
              <a:gd name="adj" fmla="val 6000"/>
            </a:avLst>
          </a:prstGeom>
          <a:solidFill>
            <a:srgbClr val="FBFDFF"/>
          </a:solidFill>
          <a:ln w="9525">
            <a:solidFill>
              <a:srgbClr val="C5DC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397" name="Rectangle 15396"/>
          <p:cNvSpPr/>
          <p:nvPr/>
        </p:nvSpPr>
        <p:spPr>
          <a:xfrm>
            <a:off x="8065008" y="5138928"/>
            <a:ext cx="41148" cy="896112"/>
          </a:xfrm>
          <a:prstGeom prst="rect">
            <a:avLst/>
          </a:prstGeom>
          <a:solidFill>
            <a:srgbClr val="B32B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398" name="TextBox 15397"/>
          <p:cNvSpPr txBox="1"/>
          <p:nvPr/>
        </p:nvSpPr>
        <p:spPr>
          <a:xfrm>
            <a:off x="8211312" y="5230368"/>
            <a:ext cx="3383280" cy="731520"/>
          </a:xfrm>
          <a:prstGeom prst="rect">
            <a:avLst/>
          </a:prstGeom>
          <a:noFill/>
        </p:spPr>
        <p:txBody>
          <a:bodyPr wrap="square" lIns="0" rIns="0" tIns="0" bIns="0" anchor="t">
            <a:spAutoFit/>
          </a:bodyPr>
          <a:lstStyle/>
          <a:p>
            <a:pPr algn="l">
              <a:lnSpc>
                <a:spcPct val="102000"/>
              </a:lnSpc>
              <a:spcAft>
                <a:spcPts val="100"/>
              </a:spcAft>
            </a:pPr>
            <a:r>
              <a:rPr sz="1000" b="1">
                <a:solidFill>
                  <a:srgbClr val="B32B22"/>
                </a:solidFill>
                <a:latin typeface="Calibri"/>
              </a:rPr>
              <a:t>PROMISE vs RECORD</a:t>
            </a:r>
          </a:p>
          <a:p>
            <a:pPr algn="l">
              <a:lnSpc>
                <a:spcPct val="102000"/>
              </a:lnSpc>
              <a:spcAft>
                <a:spcPts val="0"/>
              </a:spcAft>
            </a:pPr>
            <a:r>
              <a:rPr sz="850" b="0">
                <a:solidFill>
                  <a:srgbClr val="1F2933"/>
                </a:solidFill>
                <a:latin typeface="Calibri"/>
              </a:rPr>
              <a:t>how many times the cost or the completion date have already been revised — repetition predicts repetition</a:t>
            </a:r>
          </a:p>
        </p:txBody>
      </p:sp>
      <p:sp>
        <p:nvSpPr>
          <p:cNvPr id="15399" name="TextBox 15398"/>
          <p:cNvSpPr txBox="1"/>
          <p:nvPr/>
        </p:nvSpPr>
        <p:spPr>
          <a:xfrm>
            <a:off x="457200" y="6071616"/>
            <a:ext cx="11247120" cy="219456"/>
          </a:xfrm>
          <a:prstGeom prst="rect">
            <a:avLst/>
          </a:prstGeom>
          <a:noFill/>
        </p:spPr>
        <p:txBody>
          <a:bodyPr wrap="square" lIns="0" rIns="0" tIns="0" bIns="0" anchor="t">
            <a:spAutoFit/>
          </a:bodyPr>
          <a:lstStyle/>
          <a:p>
            <a:pPr algn="l">
              <a:lnSpc>
                <a:spcPct val="105000"/>
              </a:lnSpc>
              <a:spcAft>
                <a:spcPts val="0"/>
              </a:spcAft>
            </a:pPr>
            <a:r>
              <a:rPr sz="850" b="0">
                <a:solidFill>
                  <a:srgbClr val="5B6B7B"/>
                </a:solidFill>
                <a:latin typeface="Calibri"/>
              </a:rPr>
              <a:t>PARAKH ranks by the widest gap between the three clocks — not by the loudest number, and not by a black-box score.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algn="ctr" fontAlgn="auto">
              <a:spcBef>
                <a:spcPts val="0"/>
              </a:spcBef>
              <a:spcAft>
                <a:spcPts val="0"/>
              </a:spcAft>
              <a:defRPr/>
            </a:pPr>
            <a:endParaRPr lang="en-US" dirty="0">
              <a:solidFill>
                <a:schemeClr val="accent2">
                  <a:lumMod val="75000"/>
                </a:schemeClr>
              </a:solidFill>
              <a:latin typeface="+mn-lt"/>
              <a:ea typeface="+mn-ea"/>
            </a:endParaRPr>
          </a:p>
        </p:txBody>
      </p:sp>
      <p:sp>
        <p:nvSpPr>
          <p:cNvPr id="17409" name="Title 1"/>
          <p:cNvSpPr>
            <a:spLocks noGrp="1"/>
          </p:cNvSpPr>
          <p:nvPr>
            <p:ph type="title"/>
          </p:nvPr>
        </p:nvSpPr>
        <p:spPr>
          <a:xfrm>
            <a:off x="1783080" y="128016"/>
            <a:ext cx="9509760" cy="658368"/>
          </a:xfrm>
        </p:spPr>
        <p:txBody>
          <a:bodyPr wrap="square" anchor="ctr"/>
          <a:lstStyle/>
          <a:p>
            <a:pPr eaLnBrk="1" hangingPunct="1" algn="l"/>
            <a:r>
              <a:rPr sz="3000" b="1">
                <a:solidFill>
                  <a:srgbClr val="102A43"/>
                </a:solidFill>
                <a:latin typeface="Times New Roman"/>
              </a:rPr>
              <a:t>TECHNICAL APPROACH</a:t>
            </a:r>
          </a:p>
        </p:txBody>
      </p:sp>
      <p:sp>
        <p:nvSpPr>
          <p:cNvPr id="6" name="Slide Number Placeholder 5"/>
          <p:cNvSpPr>
            <a:spLocks noGrp="1"/>
          </p:cNvSpPr>
          <p:nvPr>
            <p:ph type="sldNum" sz="quarter" idx="12"/>
          </p:nvPr>
        </p:nvSpPr>
        <p:spPr/>
        <p:txBody>
          <a:bodyPr/>
          <a:lstStyle/>
          <a:p>
            <a:fld id="{677C3CE7-23F7-4828-823C-E0205DF2CF97}" type="slidenum">
              <a:rPr lang="en-US" b="1">
                <a:solidFill>
                  <a:schemeClr val="bg1"/>
                </a:solidFill>
              </a:rPr>
              <a:pPr/>
              <a:t>3</a:t>
            </a:fld>
            <a:endParaRPr lang="en-US" b="1" dirty="0">
              <a:solidFill>
                <a:schemeClr val="bg1"/>
              </a:solidFill>
            </a:endParaRPr>
          </a:p>
        </p:txBody>
      </p:sp>
      <p:sp>
        <p:nvSpPr>
          <p:cNvPr id="7" name="Footer Placeholder 6"/>
          <p:cNvSpPr>
            <a:spLocks noGrp="1"/>
          </p:cNvSpPr>
          <p:nvPr>
            <p:ph type="ftr" sz="quarter" idx="11"/>
          </p:nvPr>
        </p:nvSpPr>
        <p:spPr>
          <a:xfrm>
            <a:off x="4648200" y="6356353"/>
            <a:ext cx="3204000" cy="365125"/>
          </a:xfrm>
        </p:spPr>
        <p:txBody>
          <a:bodyPr/>
          <a:lstStyle/>
          <a:p>
            <a:pPr>
              <a:defRPr/>
            </a:pPr>
            <a:r>
              <a:rPr lang="en-US">
                <a:solidFill>
                  <a:schemeClr val="bg1"/>
                </a:solidFill>
              </a:rPr>
              <a:t>@SIH Idea submission- Template</a:t>
            </a:r>
            <a:endParaRPr lang="en-US" dirty="0">
              <a:solidFill>
                <a:schemeClr val="bg1"/>
              </a:solidFill>
            </a:endParaRPr>
          </a:p>
        </p:txBody>
      </p:sp>
      <p:sp>
        <p:nvSpPr>
          <p:cNvPr id="11" name="Oval 10"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xmlns=""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sz="850" b="1">
                <a:solidFill>
                  <a:srgbClr val="102A43"/>
                </a:solidFill>
                <a:latin typeface="Calibri"/>
              </a:rPr>
              <a:t>[Team name as on portal]</a:t>
            </a:r>
            <a:endParaRPr lang="en-IN" dirty="0"/>
          </a:p>
        </p:txBody>
      </p:sp>
      <p:pic>
        <p:nvPicPr>
          <p:cNvPr id="12" name="Picture 1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
        <p:nvSpPr>
          <p:cNvPr id="17410" name="TextBox 17409"/>
          <p:cNvSpPr txBox="1"/>
          <p:nvPr/>
        </p:nvSpPr>
        <p:spPr>
          <a:xfrm>
            <a:off x="1783080" y="786384"/>
            <a:ext cx="9509760" cy="237744"/>
          </a:xfrm>
          <a:prstGeom prst="rect">
            <a:avLst/>
          </a:prstGeom>
          <a:noFill/>
        </p:spPr>
        <p:txBody>
          <a:bodyPr wrap="square" lIns="0" rIns="0" tIns="0" bIns="0" anchor="t">
            <a:spAutoFit/>
          </a:bodyPr>
          <a:lstStyle/>
          <a:p>
            <a:pPr algn="l">
              <a:lnSpc>
                <a:spcPct val="105000"/>
              </a:lnSpc>
              <a:spcAft>
                <a:spcPts val="0"/>
              </a:spcAft>
            </a:pPr>
            <a:r>
              <a:rPr sz="1150" b="0">
                <a:solidFill>
                  <a:srgbClr val="5B6B7B"/>
                </a:solidFill>
                <a:latin typeface="Calibri"/>
              </a:rPr>
              <a:t>Open-source only · built on the fields already in the CUF · compared against conventional statistics on identical folds.</a:t>
            </a:r>
          </a:p>
        </p:txBody>
      </p:sp>
      <p:sp>
        <p:nvSpPr>
          <p:cNvPr id="17411" name="Rounded Rectangle 17410"/>
          <p:cNvSpPr/>
          <p:nvPr/>
        </p:nvSpPr>
        <p:spPr>
          <a:xfrm>
            <a:off x="457200" y="1097280"/>
            <a:ext cx="1802892" cy="658368"/>
          </a:xfrm>
          <a:prstGeom prst="roundRect">
            <a:avLst>
              <a:gd name="adj" fmla="val 6000"/>
            </a:avLst>
          </a:prstGeom>
          <a:solidFill>
            <a:srgbClr val="F2F7FC"/>
          </a:solidFill>
          <a:ln w="9525">
            <a:solidFill>
              <a:srgbClr val="C5DC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412" name="TextBox 17411"/>
          <p:cNvSpPr txBox="1"/>
          <p:nvPr/>
        </p:nvSpPr>
        <p:spPr>
          <a:xfrm>
            <a:off x="548640" y="1152144"/>
            <a:ext cx="1620012" cy="566928"/>
          </a:xfrm>
          <a:prstGeom prst="rect">
            <a:avLst/>
          </a:prstGeom>
          <a:noFill/>
        </p:spPr>
        <p:txBody>
          <a:bodyPr wrap="square" lIns="0" rIns="0" tIns="0" bIns="0" anchor="t">
            <a:spAutoFit/>
          </a:bodyPr>
          <a:lstStyle/>
          <a:p>
            <a:pPr algn="l">
              <a:lnSpc>
                <a:spcPct val="100000"/>
              </a:lnSpc>
              <a:spcAft>
                <a:spcPts val="100"/>
              </a:spcAft>
            </a:pPr>
            <a:r>
              <a:rPr sz="900" b="1">
                <a:solidFill>
                  <a:srgbClr val="0070C0"/>
                </a:solidFill>
                <a:latin typeface="Consolas"/>
              </a:rPr>
              <a:t>1  INGEST</a:t>
            </a:r>
          </a:p>
          <a:p>
            <a:pPr algn="l">
              <a:lnSpc>
                <a:spcPct val="100000"/>
              </a:lnSpc>
              <a:spcAft>
                <a:spcPts val="0"/>
              </a:spcAft>
            </a:pPr>
            <a:r>
              <a:rPr sz="800" b="0">
                <a:solidFill>
                  <a:srgbClr val="1F2933"/>
                </a:solidFill>
                <a:latin typeface="Calibri"/>
              </a:rPr>
              <a:t>monthly CUF / PAIMANA update + OCMS history</a:t>
            </a:r>
          </a:p>
        </p:txBody>
      </p:sp>
      <p:sp>
        <p:nvSpPr>
          <p:cNvPr id="17413" name="Rounded Rectangle 17412"/>
          <p:cNvSpPr/>
          <p:nvPr/>
        </p:nvSpPr>
        <p:spPr>
          <a:xfrm>
            <a:off x="2351532" y="1097280"/>
            <a:ext cx="1802892" cy="658368"/>
          </a:xfrm>
          <a:prstGeom prst="roundRect">
            <a:avLst>
              <a:gd name="adj" fmla="val 6000"/>
            </a:avLst>
          </a:prstGeom>
          <a:solidFill>
            <a:srgbClr val="F2F7FC"/>
          </a:solidFill>
          <a:ln w="9525">
            <a:solidFill>
              <a:srgbClr val="C5DC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414" name="TextBox 17413"/>
          <p:cNvSpPr txBox="1"/>
          <p:nvPr/>
        </p:nvSpPr>
        <p:spPr>
          <a:xfrm>
            <a:off x="2442972" y="1152144"/>
            <a:ext cx="1620012" cy="566928"/>
          </a:xfrm>
          <a:prstGeom prst="rect">
            <a:avLst/>
          </a:prstGeom>
          <a:noFill/>
        </p:spPr>
        <p:txBody>
          <a:bodyPr wrap="square" lIns="0" rIns="0" tIns="0" bIns="0" anchor="t">
            <a:spAutoFit/>
          </a:bodyPr>
          <a:lstStyle/>
          <a:p>
            <a:pPr algn="l">
              <a:lnSpc>
                <a:spcPct val="100000"/>
              </a:lnSpc>
              <a:spcAft>
                <a:spcPts val="100"/>
              </a:spcAft>
            </a:pPr>
            <a:r>
              <a:rPr sz="900" b="1">
                <a:solidFill>
                  <a:srgbClr val="0070C0"/>
                </a:solidFill>
                <a:latin typeface="Consolas"/>
              </a:rPr>
              <a:t>2  VERIFY</a:t>
            </a:r>
          </a:p>
          <a:p>
            <a:pPr algn="l">
              <a:lnSpc>
                <a:spcPct val="100000"/>
              </a:lnSpc>
              <a:spcAft>
                <a:spcPts val="0"/>
              </a:spcAft>
            </a:pPr>
            <a:r>
              <a:rPr sz="800" b="0">
                <a:solidFill>
                  <a:srgbClr val="1F2933"/>
                </a:solidFill>
                <a:latin typeface="Calibri"/>
              </a:rPr>
              <a:t>schema, range and totals reconciliation per report</a:t>
            </a:r>
          </a:p>
        </p:txBody>
      </p:sp>
      <p:sp>
        <p:nvSpPr>
          <p:cNvPr id="17415" name="Rounded Rectangle 17414"/>
          <p:cNvSpPr/>
          <p:nvPr/>
        </p:nvSpPr>
        <p:spPr>
          <a:xfrm>
            <a:off x="4245864" y="1097280"/>
            <a:ext cx="1802892" cy="658368"/>
          </a:xfrm>
          <a:prstGeom prst="roundRect">
            <a:avLst>
              <a:gd name="adj" fmla="val 6000"/>
            </a:avLst>
          </a:prstGeom>
          <a:solidFill>
            <a:srgbClr val="F2F7FC"/>
          </a:solidFill>
          <a:ln w="9525">
            <a:solidFill>
              <a:srgbClr val="C5DC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416" name="TextBox 17415"/>
          <p:cNvSpPr txBox="1"/>
          <p:nvPr/>
        </p:nvSpPr>
        <p:spPr>
          <a:xfrm>
            <a:off x="4337304" y="1152144"/>
            <a:ext cx="1620012" cy="566928"/>
          </a:xfrm>
          <a:prstGeom prst="rect">
            <a:avLst/>
          </a:prstGeom>
          <a:noFill/>
        </p:spPr>
        <p:txBody>
          <a:bodyPr wrap="square" lIns="0" rIns="0" tIns="0" bIns="0" anchor="t">
            <a:spAutoFit/>
          </a:bodyPr>
          <a:lstStyle/>
          <a:p>
            <a:pPr algn="l">
              <a:lnSpc>
                <a:spcPct val="100000"/>
              </a:lnSpc>
              <a:spcAft>
                <a:spcPts val="100"/>
              </a:spcAft>
            </a:pPr>
            <a:r>
              <a:rPr sz="900" b="1">
                <a:solidFill>
                  <a:srgbClr val="0070C0"/>
                </a:solidFill>
                <a:latin typeface="Consolas"/>
              </a:rPr>
              <a:t>3  PAIR</a:t>
            </a:r>
          </a:p>
          <a:p>
            <a:pPr algn="l">
              <a:lnSpc>
                <a:spcPct val="100000"/>
              </a:lnSpc>
              <a:spcAft>
                <a:spcPts val="0"/>
              </a:spcAft>
            </a:pPr>
            <a:r>
              <a:rPr sz="800" b="0">
                <a:solidFill>
                  <a:srgbClr val="1F2933"/>
                </a:solidFill>
                <a:latin typeface="Calibri"/>
              </a:rPr>
              <a:t>T → T+1 examples built per project</a:t>
            </a:r>
          </a:p>
        </p:txBody>
      </p:sp>
      <p:sp>
        <p:nvSpPr>
          <p:cNvPr id="17417" name="Rounded Rectangle 17416"/>
          <p:cNvSpPr/>
          <p:nvPr/>
        </p:nvSpPr>
        <p:spPr>
          <a:xfrm>
            <a:off x="6140196" y="1097280"/>
            <a:ext cx="1802892" cy="658368"/>
          </a:xfrm>
          <a:prstGeom prst="roundRect">
            <a:avLst>
              <a:gd name="adj" fmla="val 6000"/>
            </a:avLst>
          </a:prstGeom>
          <a:solidFill>
            <a:srgbClr val="F2F7FC"/>
          </a:solidFill>
          <a:ln w="9525">
            <a:solidFill>
              <a:srgbClr val="C5DC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418" name="TextBox 17417"/>
          <p:cNvSpPr txBox="1"/>
          <p:nvPr/>
        </p:nvSpPr>
        <p:spPr>
          <a:xfrm>
            <a:off x="6231636" y="1152144"/>
            <a:ext cx="1620012" cy="566928"/>
          </a:xfrm>
          <a:prstGeom prst="rect">
            <a:avLst/>
          </a:prstGeom>
          <a:noFill/>
        </p:spPr>
        <p:txBody>
          <a:bodyPr wrap="square" lIns="0" rIns="0" tIns="0" bIns="0" anchor="t">
            <a:spAutoFit/>
          </a:bodyPr>
          <a:lstStyle/>
          <a:p>
            <a:pPr algn="l">
              <a:lnSpc>
                <a:spcPct val="100000"/>
              </a:lnSpc>
              <a:spcAft>
                <a:spcPts val="100"/>
              </a:spcAft>
            </a:pPr>
            <a:r>
              <a:rPr sz="900" b="1">
                <a:solidFill>
                  <a:srgbClr val="0070C0"/>
                </a:solidFill>
                <a:latin typeface="Consolas"/>
              </a:rPr>
              <a:t>4  MODEL</a:t>
            </a:r>
          </a:p>
          <a:p>
            <a:pPr algn="l">
              <a:lnSpc>
                <a:spcPct val="100000"/>
              </a:lnSpc>
              <a:spcAft>
                <a:spcPts val="0"/>
              </a:spcAft>
            </a:pPr>
            <a:r>
              <a:rPr sz="800" b="0">
                <a:solidFill>
                  <a:srgbClr val="1F2933"/>
                </a:solidFill>
                <a:latin typeface="Calibri"/>
              </a:rPr>
              <a:t>conventional statistics vs ML, same folds</a:t>
            </a:r>
          </a:p>
        </p:txBody>
      </p:sp>
      <p:sp>
        <p:nvSpPr>
          <p:cNvPr id="17419" name="Rounded Rectangle 17418"/>
          <p:cNvSpPr/>
          <p:nvPr/>
        </p:nvSpPr>
        <p:spPr>
          <a:xfrm>
            <a:off x="8034528" y="1097280"/>
            <a:ext cx="1802892" cy="658368"/>
          </a:xfrm>
          <a:prstGeom prst="roundRect">
            <a:avLst>
              <a:gd name="adj" fmla="val 6000"/>
            </a:avLst>
          </a:prstGeom>
          <a:solidFill>
            <a:srgbClr val="F2F7FC"/>
          </a:solidFill>
          <a:ln w="9525">
            <a:solidFill>
              <a:srgbClr val="C5DC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420" name="TextBox 17419"/>
          <p:cNvSpPr txBox="1"/>
          <p:nvPr/>
        </p:nvSpPr>
        <p:spPr>
          <a:xfrm>
            <a:off x="8125968" y="1152144"/>
            <a:ext cx="1620012" cy="566928"/>
          </a:xfrm>
          <a:prstGeom prst="rect">
            <a:avLst/>
          </a:prstGeom>
          <a:noFill/>
        </p:spPr>
        <p:txBody>
          <a:bodyPr wrap="square" lIns="0" rIns="0" tIns="0" bIns="0" anchor="t">
            <a:spAutoFit/>
          </a:bodyPr>
          <a:lstStyle/>
          <a:p>
            <a:pPr algn="l">
              <a:lnSpc>
                <a:spcPct val="100000"/>
              </a:lnSpc>
              <a:spcAft>
                <a:spcPts val="100"/>
              </a:spcAft>
            </a:pPr>
            <a:r>
              <a:rPr sz="900" b="1">
                <a:solidFill>
                  <a:srgbClr val="0070C0"/>
                </a:solidFill>
                <a:latin typeface="Consolas"/>
              </a:rPr>
              <a:t>5  EXPLAIN</a:t>
            </a:r>
          </a:p>
          <a:p>
            <a:pPr algn="l">
              <a:lnSpc>
                <a:spcPct val="100000"/>
              </a:lnSpc>
              <a:spcAft>
                <a:spcPts val="0"/>
              </a:spcAft>
            </a:pPr>
            <a:r>
              <a:rPr sz="800" b="0">
                <a:solidFill>
                  <a:srgbClr val="1F2933"/>
                </a:solidFill>
                <a:latin typeface="Calibri"/>
              </a:rPr>
              <a:t>per-project drivers + peer benchmarks</a:t>
            </a:r>
          </a:p>
        </p:txBody>
      </p:sp>
      <p:sp>
        <p:nvSpPr>
          <p:cNvPr id="17421" name="Rounded Rectangle 17420"/>
          <p:cNvSpPr/>
          <p:nvPr/>
        </p:nvSpPr>
        <p:spPr>
          <a:xfrm>
            <a:off x="9928860" y="1097280"/>
            <a:ext cx="1802892" cy="658368"/>
          </a:xfrm>
          <a:prstGeom prst="roundRect">
            <a:avLst>
              <a:gd name="adj" fmla="val 6000"/>
            </a:avLst>
          </a:prstGeom>
          <a:solidFill>
            <a:srgbClr val="F2F7FC"/>
          </a:solidFill>
          <a:ln w="9525">
            <a:solidFill>
              <a:srgbClr val="C5DC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422" name="TextBox 17421"/>
          <p:cNvSpPr txBox="1"/>
          <p:nvPr/>
        </p:nvSpPr>
        <p:spPr>
          <a:xfrm>
            <a:off x="10020300" y="1152144"/>
            <a:ext cx="1620012" cy="566928"/>
          </a:xfrm>
          <a:prstGeom prst="rect">
            <a:avLst/>
          </a:prstGeom>
          <a:noFill/>
        </p:spPr>
        <p:txBody>
          <a:bodyPr wrap="square" lIns="0" rIns="0" tIns="0" bIns="0" anchor="t">
            <a:spAutoFit/>
          </a:bodyPr>
          <a:lstStyle/>
          <a:p>
            <a:pPr algn="l">
              <a:lnSpc>
                <a:spcPct val="100000"/>
              </a:lnSpc>
              <a:spcAft>
                <a:spcPts val="100"/>
              </a:spcAft>
            </a:pPr>
            <a:r>
              <a:rPr sz="900" b="1">
                <a:solidFill>
                  <a:srgbClr val="0070C0"/>
                </a:solidFill>
                <a:latin typeface="Consolas"/>
              </a:rPr>
              <a:t>6  SERVE</a:t>
            </a:r>
          </a:p>
          <a:p>
            <a:pPr algn="l">
              <a:lnSpc>
                <a:spcPct val="100000"/>
              </a:lnSpc>
              <a:spcAft>
                <a:spcPts val="0"/>
              </a:spcAft>
            </a:pPr>
            <a:r>
              <a:rPr sz="800" b="0">
                <a:solidFill>
                  <a:srgbClr val="1F2933"/>
                </a:solidFill>
                <a:latin typeface="Calibri"/>
              </a:rPr>
              <a:t>queue, dashboard, benchmarking, API</a:t>
            </a:r>
          </a:p>
        </p:txBody>
      </p:sp>
      <p:sp>
        <p:nvSpPr>
          <p:cNvPr id="17423" name="TextBox 17422"/>
          <p:cNvSpPr txBox="1"/>
          <p:nvPr/>
        </p:nvSpPr>
        <p:spPr>
          <a:xfrm>
            <a:off x="457200" y="1975104"/>
            <a:ext cx="3429000" cy="182880"/>
          </a:xfrm>
          <a:prstGeom prst="rect">
            <a:avLst/>
          </a:prstGeom>
          <a:noFill/>
        </p:spPr>
        <p:txBody>
          <a:bodyPr wrap="square" lIns="0" rIns="0" tIns="0" bIns="0" anchor="t">
            <a:spAutoFit/>
          </a:bodyPr>
          <a:lstStyle/>
          <a:p>
            <a:pPr algn="l">
              <a:lnSpc>
                <a:spcPct val="105000"/>
              </a:lnSpc>
              <a:spcAft>
                <a:spcPts val="0"/>
              </a:spcAft>
            </a:pPr>
            <a:r>
              <a:rPr sz="950" b="1">
                <a:solidFill>
                  <a:srgbClr val="0070C0"/>
                </a:solidFill>
                <a:latin typeface="Calibri"/>
              </a:rPr>
              <a:t>TECHNOLOGIES TO BE USED</a:t>
            </a:r>
          </a:p>
        </p:txBody>
      </p:sp>
      <p:sp>
        <p:nvSpPr>
          <p:cNvPr id="17424" name="Rectangle 17423"/>
          <p:cNvSpPr/>
          <p:nvPr/>
        </p:nvSpPr>
        <p:spPr>
          <a:xfrm>
            <a:off x="457200" y="2162556"/>
            <a:ext cx="3429000" cy="20117"/>
          </a:xfrm>
          <a:prstGeom prst="rect">
            <a:avLst/>
          </a:prstGeom>
          <a:solidFill>
            <a:srgbClr val="C5DC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425" name="TextBox 17424"/>
          <p:cNvSpPr txBox="1"/>
          <p:nvPr/>
        </p:nvSpPr>
        <p:spPr>
          <a:xfrm>
            <a:off x="457200" y="2249424"/>
            <a:ext cx="3429000" cy="3310128"/>
          </a:xfrm>
          <a:prstGeom prst="rect">
            <a:avLst/>
          </a:prstGeom>
          <a:noFill/>
        </p:spPr>
        <p:txBody>
          <a:bodyPr wrap="square" lIns="0" rIns="0" tIns="0" bIns="0" anchor="t">
            <a:spAutoFit/>
          </a:bodyPr>
          <a:lstStyle/>
          <a:p>
            <a:pPr algn="l">
              <a:lnSpc>
                <a:spcPct val="104000"/>
              </a:lnSpc>
              <a:spcAft>
                <a:spcPts val="400"/>
              </a:spcAft>
            </a:pPr>
            <a:r>
              <a:rPr sz="1050" b="1">
                <a:solidFill>
                  <a:srgbClr val="102A43"/>
                </a:solidFill>
                <a:latin typeface="Calibri"/>
              </a:rPr>
              <a:t>Ingestion and evidence</a:t>
            </a:r>
          </a:p>
          <a:p>
            <a:pPr algn="l">
              <a:lnSpc>
                <a:spcPct val="104000"/>
              </a:lnSpc>
              <a:spcAft>
                <a:spcPts val="400"/>
              </a:spcAft>
            </a:pPr>
            <a:r>
              <a:rPr sz="1050" b="0">
                <a:solidFill>
                  <a:srgbClr val="1F2933"/>
                </a:solidFill>
                <a:latin typeface="Calibri"/>
              </a:rPr>
              <a:t>Python · pandas · Parquet · pdfplumber. Every value keeps its report and page; unverified records are held, not scored.</a:t>
            </a:r>
          </a:p>
          <a:p>
            <a:pPr algn="l">
              <a:lnSpc>
                <a:spcPct val="104000"/>
              </a:lnSpc>
              <a:spcAft>
                <a:spcPts val="400"/>
              </a:spcAft>
            </a:pPr>
            <a:r>
              <a:rPr sz="1050" b="1">
                <a:solidFill>
                  <a:srgbClr val="102A43"/>
                </a:solidFill>
                <a:latin typeface="Calibri"/>
              </a:rPr>
              <a:t>Modelling and attribution</a:t>
            </a:r>
          </a:p>
          <a:p>
            <a:pPr algn="l">
              <a:lnSpc>
                <a:spcPct val="104000"/>
              </a:lnSpc>
              <a:spcAft>
                <a:spcPts val="400"/>
              </a:spcAft>
            </a:pPr>
            <a:r>
              <a:rPr sz="1050" b="0">
                <a:solidFill>
                  <a:srgbClr val="1F2933"/>
                </a:solidFill>
                <a:latin typeface="Calibri"/>
              </a:rPr>
              <a:t>scikit-learn (logistic regression, gradient boosting) · XGBoost · statsmodels for the conventional statistical baseline · SHAP for exact per-project attributions.</a:t>
            </a:r>
          </a:p>
          <a:p>
            <a:pPr algn="l">
              <a:lnSpc>
                <a:spcPct val="104000"/>
              </a:lnSpc>
              <a:spcAft>
                <a:spcPts val="400"/>
              </a:spcAft>
            </a:pPr>
            <a:r>
              <a:rPr sz="1050" b="1">
                <a:solidFill>
                  <a:srgbClr val="102A43"/>
                </a:solidFill>
                <a:latin typeface="Calibri"/>
              </a:rPr>
              <a:t>Prescriptive and language layer</a:t>
            </a:r>
          </a:p>
          <a:p>
            <a:pPr algn="l">
              <a:lnSpc>
                <a:spcPct val="104000"/>
              </a:lnSpc>
              <a:spcAft>
                <a:spcPts val="400"/>
              </a:spcAft>
            </a:pPr>
            <a:r>
              <a:rPr sz="1050" b="0">
                <a:solidFill>
                  <a:srgbClr val="1F2933"/>
                </a:solidFill>
                <a:latin typeface="Calibri"/>
              </a:rPr>
              <a:t>A rule-based prescription playbook over computed evidence, plus an open-weight LLM running locally (Llama / Mistral class, via Ollama) for the project-intelligence assistant — it narrates evidence, it never invents numbers.</a:t>
            </a:r>
          </a:p>
          <a:p>
            <a:pPr algn="l">
              <a:lnSpc>
                <a:spcPct val="104000"/>
              </a:lnSpc>
              <a:spcAft>
                <a:spcPts val="400"/>
              </a:spcAft>
            </a:pPr>
            <a:r>
              <a:rPr sz="1050" b="1">
                <a:solidFill>
                  <a:srgbClr val="102A43"/>
                </a:solidFill>
                <a:latin typeface="Calibri"/>
              </a:rPr>
              <a:t>Serving and deployment</a:t>
            </a:r>
          </a:p>
          <a:p>
            <a:pPr algn="l">
              <a:lnSpc>
                <a:spcPct val="104000"/>
              </a:lnSpc>
              <a:spcAft>
                <a:spcPts val="400"/>
              </a:spcAft>
            </a:pPr>
            <a:r>
              <a:rPr sz="1050" b="0">
                <a:solidFill>
                  <a:srgbClr val="1F2933"/>
                </a:solidFill>
                <a:latin typeface="Calibri"/>
              </a:rPr>
              <a:t>Next.js (React) dashboard + REST API · Docker · single node, CPU only, no paid model API.</a:t>
            </a:r>
          </a:p>
        </p:txBody>
      </p:sp>
      <p:sp>
        <p:nvSpPr>
          <p:cNvPr id="17426" name="TextBox 17425"/>
          <p:cNvSpPr txBox="1"/>
          <p:nvPr/>
        </p:nvSpPr>
        <p:spPr>
          <a:xfrm>
            <a:off x="4160520" y="1920240"/>
            <a:ext cx="7571232" cy="182880"/>
          </a:xfrm>
          <a:prstGeom prst="rect">
            <a:avLst/>
          </a:prstGeom>
          <a:noFill/>
        </p:spPr>
        <p:txBody>
          <a:bodyPr wrap="square" lIns="0" rIns="0" tIns="0" bIns="0" anchor="t">
            <a:spAutoFit/>
          </a:bodyPr>
          <a:lstStyle/>
          <a:p>
            <a:pPr algn="l">
              <a:lnSpc>
                <a:spcPct val="105000"/>
              </a:lnSpc>
              <a:spcAft>
                <a:spcPts val="0"/>
              </a:spcAft>
            </a:pPr>
            <a:r>
              <a:rPr sz="950" b="1">
                <a:solidFill>
                  <a:srgbClr val="0070C0"/>
                </a:solidFill>
                <a:latin typeface="Calibri"/>
              </a:rPr>
              <a:t>(a)  PREDICTIVE MODELS THE BRIEF ASKS FOR</a:t>
            </a:r>
          </a:p>
        </p:txBody>
      </p:sp>
      <p:sp>
        <p:nvSpPr>
          <p:cNvPr id="17427" name="Rectangle 17426"/>
          <p:cNvSpPr/>
          <p:nvPr/>
        </p:nvSpPr>
        <p:spPr>
          <a:xfrm>
            <a:off x="4160520" y="2107692"/>
            <a:ext cx="7571232" cy="20117"/>
          </a:xfrm>
          <a:prstGeom prst="rect">
            <a:avLst/>
          </a:prstGeom>
          <a:solidFill>
            <a:srgbClr val="C5DC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428" name="TextBox 17427"/>
          <p:cNvSpPr txBox="1"/>
          <p:nvPr/>
        </p:nvSpPr>
        <p:spPr>
          <a:xfrm>
            <a:off x="4160520" y="2194560"/>
            <a:ext cx="7571232" cy="365760"/>
          </a:xfrm>
          <a:prstGeom prst="rect">
            <a:avLst/>
          </a:prstGeom>
          <a:noFill/>
        </p:spPr>
        <p:txBody>
          <a:bodyPr wrap="square" lIns="0" rIns="0" tIns="0" bIns="0" anchor="t">
            <a:spAutoFit/>
          </a:bodyPr>
          <a:lstStyle/>
          <a:p>
            <a:pPr algn="l">
              <a:lnSpc>
                <a:spcPct val="102000"/>
              </a:lnSpc>
              <a:spcAft>
                <a:spcPts val="100"/>
              </a:spcAft>
            </a:pPr>
            <a:r>
              <a:rPr sz="950" b="1">
                <a:solidFill>
                  <a:srgbClr val="102A43"/>
                </a:solidFill>
                <a:latin typeface="Calibri"/>
              </a:rPr>
              <a:t>Cost-escalation model  ·  schedule-delay model  ·  composite project risk score</a:t>
            </a:r>
          </a:p>
          <a:p>
            <a:pPr algn="l">
              <a:lnSpc>
                <a:spcPct val="102000"/>
              </a:lnSpc>
              <a:spcAft>
                <a:spcPts val="0"/>
              </a:spcAft>
            </a:pPr>
            <a:r>
              <a:rPr sz="850" b="0">
                <a:solidFill>
                  <a:srgbClr val="1F2933"/>
                </a:solidFill>
                <a:latin typeface="Calibri"/>
              </a:rPr>
              <a:t>Horizon: the next monthly report (T+1). Output: a ranking with a risk band and the drivers behind it — never a bare number.</a:t>
            </a:r>
          </a:p>
        </p:txBody>
      </p:sp>
      <p:sp>
        <p:nvSpPr>
          <p:cNvPr id="17429" name="TextBox 17428"/>
          <p:cNvSpPr txBox="1"/>
          <p:nvPr/>
        </p:nvSpPr>
        <p:spPr>
          <a:xfrm>
            <a:off x="4160520" y="2578608"/>
            <a:ext cx="7571232" cy="182880"/>
          </a:xfrm>
          <a:prstGeom prst="rect">
            <a:avLst/>
          </a:prstGeom>
          <a:noFill/>
        </p:spPr>
        <p:txBody>
          <a:bodyPr wrap="square" lIns="0" rIns="0" tIns="0" bIns="0" anchor="t">
            <a:spAutoFit/>
          </a:bodyPr>
          <a:lstStyle/>
          <a:p>
            <a:pPr algn="l">
              <a:lnSpc>
                <a:spcPct val="105000"/>
              </a:lnSpc>
              <a:spcAft>
                <a:spcPts val="0"/>
              </a:spcAft>
            </a:pPr>
            <a:r>
              <a:rPr sz="950" b="1">
                <a:solidFill>
                  <a:srgbClr val="0070C0"/>
                </a:solidFill>
                <a:latin typeface="Calibri"/>
              </a:rPr>
              <a:t>(b)  DO AI / ML BEAT CONVENTIONAL STATISTICS?</a:t>
            </a:r>
          </a:p>
        </p:txBody>
      </p:sp>
      <p:sp>
        <p:nvSpPr>
          <p:cNvPr id="17430" name="Rectangle 17429"/>
          <p:cNvSpPr/>
          <p:nvPr/>
        </p:nvSpPr>
        <p:spPr>
          <a:xfrm>
            <a:off x="4160520" y="2766060"/>
            <a:ext cx="7571232" cy="20117"/>
          </a:xfrm>
          <a:prstGeom prst="rect">
            <a:avLst/>
          </a:prstGeom>
          <a:solidFill>
            <a:srgbClr val="C5DC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431" name="Rectangle 17430"/>
          <p:cNvSpPr/>
          <p:nvPr/>
        </p:nvSpPr>
        <p:spPr>
          <a:xfrm>
            <a:off x="4160520" y="2834640"/>
            <a:ext cx="1600200" cy="384048"/>
          </a:xfrm>
          <a:prstGeom prst="rect">
            <a:avLst/>
          </a:prstGeom>
          <a:solidFill>
            <a:srgbClr val="102A43"/>
          </a:solidFill>
          <a:ln w="6350">
            <a:solidFill>
              <a:srgbClr val="C5DCF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lnSpc>
                <a:spcPct val="100000"/>
              </a:lnSpc>
            </a:pPr>
            <a:r>
              <a:rPr sz="800" b="1">
                <a:solidFill>
                  <a:srgbClr val="FFFFFF"/>
                </a:solidFill>
                <a:latin typeface="Calibri"/>
              </a:rPr>
              <a:t>Outcome, next report</a:t>
            </a:r>
          </a:p>
        </p:txBody>
      </p:sp>
      <p:sp>
        <p:nvSpPr>
          <p:cNvPr id="17432" name="Rectangle 17431"/>
          <p:cNvSpPr/>
          <p:nvPr/>
        </p:nvSpPr>
        <p:spPr>
          <a:xfrm>
            <a:off x="5760720" y="2834640"/>
            <a:ext cx="640080" cy="384048"/>
          </a:xfrm>
          <a:prstGeom prst="rect">
            <a:avLst/>
          </a:prstGeom>
          <a:solidFill>
            <a:srgbClr val="102A43"/>
          </a:solidFill>
          <a:ln w="6350">
            <a:solidFill>
              <a:srgbClr val="C5DCF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lnSpc>
                <a:spcPct val="100000"/>
              </a:lnSpc>
            </a:pPr>
            <a:r>
              <a:rPr sz="800" b="1">
                <a:solidFill>
                  <a:srgbClr val="FFFFFF"/>
                </a:solidFill>
                <a:latin typeface="Calibri"/>
              </a:rPr>
              <a:t>Base rate</a:t>
            </a:r>
          </a:p>
        </p:txBody>
      </p:sp>
      <p:sp>
        <p:nvSpPr>
          <p:cNvPr id="17433" name="Rectangle 17432"/>
          <p:cNvSpPr/>
          <p:nvPr/>
        </p:nvSpPr>
        <p:spPr>
          <a:xfrm>
            <a:off x="6400800" y="2834640"/>
            <a:ext cx="2286000" cy="384048"/>
          </a:xfrm>
          <a:prstGeom prst="rect">
            <a:avLst/>
          </a:prstGeom>
          <a:solidFill>
            <a:srgbClr val="102A43"/>
          </a:solidFill>
          <a:ln w="6350">
            <a:solidFill>
              <a:srgbClr val="C5DCF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lnSpc>
                <a:spcPct val="100000"/>
              </a:lnSpc>
            </a:pPr>
            <a:r>
              <a:rPr sz="800" b="1">
                <a:solidFill>
                  <a:srgbClr val="FFFFFF"/>
                </a:solidFill>
                <a:latin typeface="Calibri"/>
              </a:rPr>
              <a:t>Conventional statistics</a:t>
            </a:r>
          </a:p>
        </p:txBody>
      </p:sp>
      <p:sp>
        <p:nvSpPr>
          <p:cNvPr id="17434" name="Rectangle 17433"/>
          <p:cNvSpPr/>
          <p:nvPr/>
        </p:nvSpPr>
        <p:spPr>
          <a:xfrm>
            <a:off x="8686800" y="2834640"/>
            <a:ext cx="1783080" cy="384048"/>
          </a:xfrm>
          <a:prstGeom prst="rect">
            <a:avLst/>
          </a:prstGeom>
          <a:solidFill>
            <a:srgbClr val="102A43"/>
          </a:solidFill>
          <a:ln w="6350">
            <a:solidFill>
              <a:srgbClr val="C5DCF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lnSpc>
                <a:spcPct val="100000"/>
              </a:lnSpc>
            </a:pPr>
            <a:r>
              <a:rPr sz="800" b="1">
                <a:solidFill>
                  <a:srgbClr val="FFFFFF"/>
                </a:solidFill>
                <a:latin typeface="Calibri"/>
              </a:rPr>
              <a:t>Machine learning</a:t>
            </a:r>
          </a:p>
        </p:txBody>
      </p:sp>
      <p:sp>
        <p:nvSpPr>
          <p:cNvPr id="17435" name="Rectangle 17434"/>
          <p:cNvSpPr/>
          <p:nvPr/>
        </p:nvSpPr>
        <p:spPr>
          <a:xfrm>
            <a:off x="10469880" y="2834640"/>
            <a:ext cx="1261872" cy="384048"/>
          </a:xfrm>
          <a:prstGeom prst="rect">
            <a:avLst/>
          </a:prstGeom>
          <a:solidFill>
            <a:srgbClr val="102A43"/>
          </a:solidFill>
          <a:ln w="6350">
            <a:solidFill>
              <a:srgbClr val="C5DCF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lnSpc>
                <a:spcPct val="100000"/>
              </a:lnSpc>
            </a:pPr>
            <a:r>
              <a:rPr sz="800" b="1">
                <a:solidFill>
                  <a:srgbClr val="FFFFFF"/>
                </a:solidFill>
                <a:latin typeface="Calibri"/>
              </a:rPr>
              <a:t>Shipped</a:t>
            </a:r>
          </a:p>
        </p:txBody>
      </p:sp>
      <p:sp>
        <p:nvSpPr>
          <p:cNvPr id="17436" name="Rectangle 17435"/>
          <p:cNvSpPr/>
          <p:nvPr/>
        </p:nvSpPr>
        <p:spPr>
          <a:xfrm>
            <a:off x="4160520" y="3218688"/>
            <a:ext cx="1600200" cy="329184"/>
          </a:xfrm>
          <a:prstGeom prst="rect">
            <a:avLst/>
          </a:prstGeom>
          <a:solidFill>
            <a:srgbClr val="F7FAFD"/>
          </a:solidFill>
          <a:ln w="6350">
            <a:solidFill>
              <a:srgbClr val="C5DCF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lnSpc>
                <a:spcPct val="100000"/>
              </a:lnSpc>
            </a:pPr>
            <a:r>
              <a:rPr sz="800" b="1">
                <a:solidFill>
                  <a:srgbClr val="1F2933"/>
                </a:solidFill>
                <a:latin typeface="Calibri"/>
              </a:rPr>
              <a:t>Cost revised upward</a:t>
            </a:r>
          </a:p>
        </p:txBody>
      </p:sp>
      <p:sp>
        <p:nvSpPr>
          <p:cNvPr id="17437" name="Rectangle 17436"/>
          <p:cNvSpPr/>
          <p:nvPr/>
        </p:nvSpPr>
        <p:spPr>
          <a:xfrm>
            <a:off x="5760720" y="3218688"/>
            <a:ext cx="640080" cy="329184"/>
          </a:xfrm>
          <a:prstGeom prst="rect">
            <a:avLst/>
          </a:prstGeom>
          <a:solidFill>
            <a:srgbClr val="F7FAFD"/>
          </a:solidFill>
          <a:ln w="6350">
            <a:solidFill>
              <a:srgbClr val="C5DCF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lnSpc>
                <a:spcPct val="100000"/>
              </a:lnSpc>
            </a:pPr>
            <a:r>
              <a:rPr sz="800" b="0">
                <a:solidFill>
                  <a:srgbClr val="1F2933"/>
                </a:solidFill>
                <a:latin typeface="Calibri"/>
              </a:rPr>
              <a:t>4.2%</a:t>
            </a:r>
          </a:p>
        </p:txBody>
      </p:sp>
      <p:sp>
        <p:nvSpPr>
          <p:cNvPr id="17438" name="Rectangle 17437"/>
          <p:cNvSpPr/>
          <p:nvPr/>
        </p:nvSpPr>
        <p:spPr>
          <a:xfrm>
            <a:off x="6400800" y="3218688"/>
            <a:ext cx="2286000" cy="329184"/>
          </a:xfrm>
          <a:prstGeom prst="rect">
            <a:avLst/>
          </a:prstGeom>
          <a:solidFill>
            <a:srgbClr val="F7FAFD"/>
          </a:solidFill>
          <a:ln w="6350">
            <a:solidFill>
              <a:srgbClr val="C5DCF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lnSpc>
                <a:spcPct val="100000"/>
              </a:lnSpc>
            </a:pPr>
            <a:r>
              <a:rPr sz="800" b="0">
                <a:solidFill>
                  <a:srgbClr val="1F2933"/>
                </a:solidFill>
                <a:latin typeface="Calibri"/>
              </a:rPr>
              <a:t>Logistic regression · ROC 0.67 · PR 0.13</a:t>
            </a:r>
          </a:p>
        </p:txBody>
      </p:sp>
      <p:sp>
        <p:nvSpPr>
          <p:cNvPr id="17439" name="Rectangle 17438"/>
          <p:cNvSpPr/>
          <p:nvPr/>
        </p:nvSpPr>
        <p:spPr>
          <a:xfrm>
            <a:off x="8686800" y="3218688"/>
            <a:ext cx="1783080" cy="329184"/>
          </a:xfrm>
          <a:prstGeom prst="rect">
            <a:avLst/>
          </a:prstGeom>
          <a:solidFill>
            <a:srgbClr val="F7FAFD"/>
          </a:solidFill>
          <a:ln w="6350">
            <a:solidFill>
              <a:srgbClr val="C5DCF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lnSpc>
                <a:spcPct val="100000"/>
              </a:lnSpc>
            </a:pPr>
            <a:r>
              <a:rPr sz="800" b="0">
                <a:solidFill>
                  <a:srgbClr val="1F2933"/>
                </a:solidFill>
                <a:latin typeface="Calibri"/>
              </a:rPr>
              <a:t>XGBoost · ROC 0.81 · PR 0.12</a:t>
            </a:r>
          </a:p>
        </p:txBody>
      </p:sp>
      <p:sp>
        <p:nvSpPr>
          <p:cNvPr id="17440" name="Rectangle 17439"/>
          <p:cNvSpPr/>
          <p:nvPr/>
        </p:nvSpPr>
        <p:spPr>
          <a:xfrm>
            <a:off x="10469880" y="3218688"/>
            <a:ext cx="1261872" cy="329184"/>
          </a:xfrm>
          <a:prstGeom prst="rect">
            <a:avLst/>
          </a:prstGeom>
          <a:solidFill>
            <a:srgbClr val="F7FAFD"/>
          </a:solidFill>
          <a:ln w="6350">
            <a:solidFill>
              <a:srgbClr val="C5DCF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lnSpc>
                <a:spcPct val="100000"/>
              </a:lnSpc>
            </a:pPr>
            <a:r>
              <a:rPr sz="800" b="0">
                <a:solidFill>
                  <a:srgbClr val="1F2933"/>
                </a:solidFill>
                <a:latin typeface="Calibri"/>
              </a:rPr>
              <a:t>Logistic regression</a:t>
            </a:r>
          </a:p>
        </p:txBody>
      </p:sp>
      <p:sp>
        <p:nvSpPr>
          <p:cNvPr id="17441" name="Rectangle 17440"/>
          <p:cNvSpPr/>
          <p:nvPr/>
        </p:nvSpPr>
        <p:spPr>
          <a:xfrm>
            <a:off x="4160520" y="3547872"/>
            <a:ext cx="1600200" cy="329184"/>
          </a:xfrm>
          <a:prstGeom prst="rect">
            <a:avLst/>
          </a:prstGeom>
          <a:solidFill>
            <a:srgbClr val="FFFFFF"/>
          </a:solidFill>
          <a:ln w="6350">
            <a:solidFill>
              <a:srgbClr val="C5DCF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lnSpc>
                <a:spcPct val="100000"/>
              </a:lnSpc>
            </a:pPr>
            <a:r>
              <a:rPr sz="800" b="1">
                <a:solidFill>
                  <a:srgbClr val="1F2933"/>
                </a:solidFill>
                <a:latin typeface="Calibri"/>
              </a:rPr>
              <a:t>Completion date moves</a:t>
            </a:r>
          </a:p>
        </p:txBody>
      </p:sp>
      <p:sp>
        <p:nvSpPr>
          <p:cNvPr id="17442" name="Rectangle 17441"/>
          <p:cNvSpPr/>
          <p:nvPr/>
        </p:nvSpPr>
        <p:spPr>
          <a:xfrm>
            <a:off x="5760720" y="3547872"/>
            <a:ext cx="640080" cy="329184"/>
          </a:xfrm>
          <a:prstGeom prst="rect">
            <a:avLst/>
          </a:prstGeom>
          <a:solidFill>
            <a:srgbClr val="FFFFFF"/>
          </a:solidFill>
          <a:ln w="6350">
            <a:solidFill>
              <a:srgbClr val="C5DCF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lnSpc>
                <a:spcPct val="100000"/>
              </a:lnSpc>
            </a:pPr>
            <a:r>
              <a:rPr sz="800" b="0">
                <a:solidFill>
                  <a:srgbClr val="1F2933"/>
                </a:solidFill>
                <a:latin typeface="Calibri"/>
              </a:rPr>
              <a:t>18.1%</a:t>
            </a:r>
          </a:p>
        </p:txBody>
      </p:sp>
      <p:sp>
        <p:nvSpPr>
          <p:cNvPr id="17443" name="Rectangle 17442"/>
          <p:cNvSpPr/>
          <p:nvPr/>
        </p:nvSpPr>
        <p:spPr>
          <a:xfrm>
            <a:off x="6400800" y="3547872"/>
            <a:ext cx="2286000" cy="329184"/>
          </a:xfrm>
          <a:prstGeom prst="rect">
            <a:avLst/>
          </a:prstGeom>
          <a:solidFill>
            <a:srgbClr val="FFFFFF"/>
          </a:solidFill>
          <a:ln w="6350">
            <a:solidFill>
              <a:srgbClr val="C5DCF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lnSpc>
                <a:spcPct val="100000"/>
              </a:lnSpc>
            </a:pPr>
            <a:r>
              <a:rPr sz="800" b="0">
                <a:solidFill>
                  <a:srgbClr val="1F2933"/>
                </a:solidFill>
                <a:latin typeface="Calibri"/>
              </a:rPr>
              <a:t>Rule-based score · ROC 0.57</a:t>
            </a:r>
          </a:p>
        </p:txBody>
      </p:sp>
      <p:sp>
        <p:nvSpPr>
          <p:cNvPr id="17444" name="Rectangle 17443"/>
          <p:cNvSpPr/>
          <p:nvPr/>
        </p:nvSpPr>
        <p:spPr>
          <a:xfrm>
            <a:off x="8686800" y="3547872"/>
            <a:ext cx="1783080" cy="329184"/>
          </a:xfrm>
          <a:prstGeom prst="rect">
            <a:avLst/>
          </a:prstGeom>
          <a:solidFill>
            <a:srgbClr val="FFFFFF"/>
          </a:solidFill>
          <a:ln w="6350">
            <a:solidFill>
              <a:srgbClr val="C5DCF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lnSpc>
                <a:spcPct val="100000"/>
              </a:lnSpc>
            </a:pPr>
            <a:r>
              <a:rPr sz="800" b="0">
                <a:solidFill>
                  <a:srgbClr val="1F2933"/>
                </a:solidFill>
                <a:latin typeface="Calibri"/>
              </a:rPr>
              <a:t>XGBoost · ROC 0.79 · PR 0.39</a:t>
            </a:r>
          </a:p>
        </p:txBody>
      </p:sp>
      <p:sp>
        <p:nvSpPr>
          <p:cNvPr id="17445" name="Rectangle 17444"/>
          <p:cNvSpPr/>
          <p:nvPr/>
        </p:nvSpPr>
        <p:spPr>
          <a:xfrm>
            <a:off x="10469880" y="3547872"/>
            <a:ext cx="1261872" cy="329184"/>
          </a:xfrm>
          <a:prstGeom prst="rect">
            <a:avLst/>
          </a:prstGeom>
          <a:solidFill>
            <a:srgbClr val="FFFFFF"/>
          </a:solidFill>
          <a:ln w="6350">
            <a:solidFill>
              <a:srgbClr val="C5DCF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lnSpc>
                <a:spcPct val="100000"/>
              </a:lnSpc>
            </a:pPr>
            <a:r>
              <a:rPr sz="800" b="0">
                <a:solidFill>
                  <a:srgbClr val="1F2933"/>
                </a:solidFill>
                <a:latin typeface="Calibri"/>
              </a:rPr>
              <a:t>XGBoost</a:t>
            </a:r>
          </a:p>
        </p:txBody>
      </p:sp>
      <p:sp>
        <p:nvSpPr>
          <p:cNvPr id="17446" name="TextBox 17445"/>
          <p:cNvSpPr txBox="1"/>
          <p:nvPr/>
        </p:nvSpPr>
        <p:spPr>
          <a:xfrm>
            <a:off x="4160520" y="3913632"/>
            <a:ext cx="7571232" cy="512064"/>
          </a:xfrm>
          <a:prstGeom prst="rect">
            <a:avLst/>
          </a:prstGeom>
          <a:noFill/>
        </p:spPr>
        <p:txBody>
          <a:bodyPr wrap="square" lIns="0" rIns="0" tIns="0" bIns="0" anchor="t">
            <a:spAutoFit/>
          </a:bodyPr>
          <a:lstStyle/>
          <a:p>
            <a:pPr algn="l">
              <a:lnSpc>
                <a:spcPct val="103000"/>
              </a:lnSpc>
              <a:spcAft>
                <a:spcPts val="400"/>
              </a:spcAft>
            </a:pPr>
            <a:r>
              <a:rPr sz="900" b="1">
                <a:solidFill>
                  <a:srgbClr val="0070C0"/>
                </a:solidFill>
                <a:latin typeface="Calibri"/>
              </a:rPr>
              <a:t>Verdict: </a:t>
            </a:r>
          </a:p>
          <a:p>
            <a:pPr algn="l">
              <a:lnSpc>
                <a:spcPct val="103000"/>
              </a:lnSpc>
              <a:spcAft>
                <a:spcPts val="400"/>
              </a:spcAft>
            </a:pPr>
            <a:r>
              <a:rPr sz="850" b="0">
                <a:solidFill>
                  <a:srgbClr val="1F2933"/>
                </a:solidFill>
                <a:latin typeface="Calibri"/>
              </a:rPr>
              <a:t>ML wins where events are frequent — completion dates moved in 18.1% of project-months and the ML ranking lifts precision 2.2× over the base rate. Where events are rare the simpler model generalises better, so on cost revisions we ship logistic regression. We ship what the strict holdout selects, not the fashionable choice.</a:t>
            </a:r>
          </a:p>
        </p:txBody>
      </p:sp>
      <p:sp>
        <p:nvSpPr>
          <p:cNvPr id="17447" name="TextBox 17446"/>
          <p:cNvSpPr txBox="1"/>
          <p:nvPr/>
        </p:nvSpPr>
        <p:spPr>
          <a:xfrm>
            <a:off x="4160520" y="4462272"/>
            <a:ext cx="7571232" cy="182880"/>
          </a:xfrm>
          <a:prstGeom prst="rect">
            <a:avLst/>
          </a:prstGeom>
          <a:noFill/>
        </p:spPr>
        <p:txBody>
          <a:bodyPr wrap="square" lIns="0" rIns="0" tIns="0" bIns="0" anchor="t">
            <a:spAutoFit/>
          </a:bodyPr>
          <a:lstStyle/>
          <a:p>
            <a:pPr algn="l">
              <a:lnSpc>
                <a:spcPct val="105000"/>
              </a:lnSpc>
              <a:spcAft>
                <a:spcPts val="0"/>
              </a:spcAft>
            </a:pPr>
            <a:r>
              <a:rPr sz="950" b="1">
                <a:solidFill>
                  <a:srgbClr val="0070C0"/>
                </a:solidFill>
                <a:latin typeface="Calibri"/>
              </a:rPr>
              <a:t>(c)  IS THE SIGNAL IN TODAY'S CUF FIELDS, OR IN FIELDS NOT YET CAPTURED?</a:t>
            </a:r>
          </a:p>
        </p:txBody>
      </p:sp>
      <p:sp>
        <p:nvSpPr>
          <p:cNvPr id="17448" name="Rectangle 17447"/>
          <p:cNvSpPr/>
          <p:nvPr/>
        </p:nvSpPr>
        <p:spPr>
          <a:xfrm>
            <a:off x="4160520" y="4649724"/>
            <a:ext cx="7571232" cy="20117"/>
          </a:xfrm>
          <a:prstGeom prst="rect">
            <a:avLst/>
          </a:prstGeom>
          <a:solidFill>
            <a:srgbClr val="C5DC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449" name="TextBox 17448"/>
          <p:cNvSpPr txBox="1"/>
          <p:nvPr/>
        </p:nvSpPr>
        <p:spPr>
          <a:xfrm>
            <a:off x="4160520" y="4718304"/>
            <a:ext cx="7571232" cy="1042416"/>
          </a:xfrm>
          <a:prstGeom prst="rect">
            <a:avLst/>
          </a:prstGeom>
          <a:noFill/>
        </p:spPr>
        <p:txBody>
          <a:bodyPr wrap="square" lIns="0" rIns="0" tIns="0" bIns="0" anchor="t">
            <a:spAutoFit/>
          </a:bodyPr>
          <a:lstStyle/>
          <a:p>
            <a:pPr algn="l">
              <a:lnSpc>
                <a:spcPct val="103000"/>
              </a:lnSpc>
              <a:spcAft>
                <a:spcPts val="400"/>
              </a:spcAft>
            </a:pPr>
            <a:r>
              <a:rPr sz="1050" b="0">
                <a:solidFill>
                  <a:srgbClr val="1F2933"/>
                </a:solidFill>
                <a:latin typeface="Calibri"/>
              </a:rPr>
              <a:t>Inside the CUF the strongest signals are already trajectories, not levels: timeline used so far 36%, the agency's own overrun record 23%, delay reported so far 10%, spend ahead of work 6% (mean |SHAP| share, schedule model) — so the current CUF genuinely carries early-warning signal.</a:t>
            </a:r>
          </a:p>
          <a:p>
            <a:pPr algn="l">
              <a:lnSpc>
                <a:spcPct val="103000"/>
              </a:lnSpc>
              <a:spcAft>
                <a:spcPts val="400"/>
              </a:spcAft>
            </a:pPr>
            <a:r>
              <a:rPr sz="1050" b="0">
                <a:solidFill>
                  <a:srgbClr val="1F2933"/>
                </a:solidFill>
                <a:latin typeface="Calibri"/>
              </a:rPr>
              <a:t>The planned ablation answers the second half: train CUF-only, then add non-CUF context one block at a time — land acquisition, monsoon and rainfall, commodity indices, DPR quality — and publish the marginal lift of each block. That tells MoSPI which new field is worth collecting, and what it buys.</a:t>
            </a:r>
          </a:p>
        </p:txBody>
      </p:sp>
      <p:sp>
        <p:nvSpPr>
          <p:cNvPr id="17450" name="Rounded Rectangle 17449"/>
          <p:cNvSpPr/>
          <p:nvPr/>
        </p:nvSpPr>
        <p:spPr>
          <a:xfrm>
            <a:off x="457200" y="5779008"/>
            <a:ext cx="11274552" cy="502920"/>
          </a:xfrm>
          <a:prstGeom prst="roundRect">
            <a:avLst>
              <a:gd name="adj" fmla="val 6000"/>
            </a:avLst>
          </a:prstGeom>
          <a:solidFill>
            <a:srgbClr val="F2F7FC"/>
          </a:solidFill>
          <a:ln w="9525">
            <a:solidFill>
              <a:srgbClr val="C5DC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451" name="TextBox 17450"/>
          <p:cNvSpPr txBox="1"/>
          <p:nvPr/>
        </p:nvSpPr>
        <p:spPr>
          <a:xfrm>
            <a:off x="603504" y="5852160"/>
            <a:ext cx="10972800" cy="384048"/>
          </a:xfrm>
          <a:prstGeom prst="rect">
            <a:avLst/>
          </a:prstGeom>
          <a:noFill/>
        </p:spPr>
        <p:txBody>
          <a:bodyPr wrap="square" lIns="0" rIns="0" tIns="0" bIns="0" anchor="t">
            <a:spAutoFit/>
          </a:bodyPr>
          <a:lstStyle/>
          <a:p>
            <a:pPr algn="l">
              <a:lnSpc>
                <a:spcPct val="103000"/>
              </a:lnSpc>
              <a:spcAft>
                <a:spcPts val="400"/>
              </a:spcAft>
            </a:pPr>
            <a:r>
              <a:rPr sz="900" b="1">
                <a:solidFill>
                  <a:srgbClr val="0070C0"/>
                </a:solidFill>
                <a:latin typeface="Calibri"/>
              </a:rPr>
              <a:t>EVIDENCE FROM THE SUBMITTED PROTOTYPE  </a:t>
            </a:r>
          </a:p>
          <a:p>
            <a:pPr algn="l">
              <a:lnSpc>
                <a:spcPct val="103000"/>
              </a:lnSpc>
              <a:spcAft>
                <a:spcPts val="400"/>
              </a:spcAft>
            </a:pPr>
            <a:r>
              <a:rPr sz="900" b="0">
                <a:solidFill>
                  <a:srgbClr val="1F2933"/>
                </a:solidFill>
                <a:latin typeface="Calibri"/>
              </a:rPr>
              <a:t>— 17 published monthly reports, 2,522 pages, 25,180 rows, 0 failed extractions, 915 rows held for review; models compared on ordered months with the conventional baseline on identical folds (Group-held-out, unseen projects: schedule XGBoost 0.86 ROC / 0.59 PR-AUC).</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0504D">
                  <a:lumMod val="75000"/>
                </a:srgbClr>
              </a:solidFill>
              <a:effectLst/>
              <a:uLnTx/>
              <a:uFillTx/>
              <a:latin typeface="Calibri"/>
              <a:ea typeface="ＭＳ Ｐゴシック" pitchFamily="1" charset="-128"/>
              <a:cs typeface="+mn-cs"/>
            </a:endParaRPr>
          </a:p>
        </p:txBody>
      </p:sp>
      <p:sp>
        <p:nvSpPr>
          <p:cNvPr id="17409" name="Title 1"/>
          <p:cNvSpPr>
            <a:spLocks noGrp="1"/>
          </p:cNvSpPr>
          <p:nvPr>
            <p:ph type="title"/>
          </p:nvPr>
        </p:nvSpPr>
        <p:spPr>
          <a:xfrm>
            <a:off x="1783080" y="128016"/>
            <a:ext cx="9509760" cy="658368"/>
          </a:xfrm>
        </p:spPr>
        <p:txBody>
          <a:bodyPr wrap="square" anchor="ctr"/>
          <a:lstStyle/>
          <a:p>
            <a:pPr eaLnBrk="1" hangingPunct="1" algn="l"/>
            <a:r>
              <a:rPr sz="3000" b="1">
                <a:solidFill>
                  <a:srgbClr val="102A43"/>
                </a:solidFill>
                <a:latin typeface="Times New Roman"/>
              </a:rPr>
              <a:t>FEASIBILITY AND VIABILITY</a:t>
            </a:r>
          </a:p>
        </p:txBody>
      </p:sp>
      <p:sp>
        <p:nvSpPr>
          <p:cNvPr id="6" name="Slide Number Placeholder 5"/>
          <p:cNvSpPr>
            <a:spLocks noGrp="1"/>
          </p:cNvSpPr>
          <p:nvPr>
            <p:ph type="sldNum" sz="quarter" idx="12"/>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677C3CE7-23F7-4828-823C-E0205DF2CF97}" type="slidenum">
              <a:rPr kumimoji="0" lang="en-US" sz="1200" b="1" i="0" u="none" strike="noStrike" kern="1200" cap="none" spc="0" normalizeH="0" baseline="0" noProof="0">
                <a:ln>
                  <a:noFill/>
                </a:ln>
                <a:solidFill>
                  <a:prstClr val="white"/>
                </a:solidFill>
                <a:effectLst/>
                <a:uLnTx/>
                <a:uFillTx/>
                <a:latin typeface="TradeGothic" pitchFamily="1"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4</a:t>
            </a:fld>
            <a:endParaRPr kumimoji="0" lang="en-US" sz="1200" b="1" i="0" u="none" strike="noStrike" kern="1200" cap="none" spc="0" normalizeH="0" baseline="0" noProof="0" dirty="0">
              <a:ln>
                <a:noFill/>
              </a:ln>
              <a:solidFill>
                <a:prstClr val="white"/>
              </a:solidFill>
              <a:effectLst/>
              <a:uLnTx/>
              <a:uFillTx/>
              <a:latin typeface="TradeGothic" pitchFamily="1" charset="0"/>
              <a:ea typeface="ＭＳ Ｐゴシック" pitchFamily="1" charset="-128"/>
              <a:cs typeface="+mn-cs"/>
            </a:endParaRPr>
          </a:p>
        </p:txBody>
      </p:sp>
      <p:sp>
        <p:nvSpPr>
          <p:cNvPr id="7" name="Footer Placeholder 6"/>
          <p:cNvSpPr>
            <a:spLocks noGrp="1"/>
          </p:cNvSpPr>
          <p:nvPr>
            <p:ph type="ftr" sz="quarter" idx="11"/>
          </p:nvPr>
        </p:nvSpPr>
        <p:spPr>
          <a:xfrm>
            <a:off x="4648200" y="6356353"/>
            <a:ext cx="3204000" cy="365125"/>
          </a:xfrm>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TradeGothic"/>
                <a:ea typeface="+mn-ea"/>
                <a:cs typeface="+mn-cs"/>
              </a:rPr>
              <a:t>@SIH Idea submission- Template</a:t>
            </a:r>
            <a:endParaRPr kumimoji="0" lang="en-US" sz="1200" b="0" i="0" u="none" strike="noStrike" kern="1200" cap="none" spc="0" normalizeH="0" baseline="0" noProof="0" dirty="0">
              <a:ln>
                <a:noFill/>
              </a:ln>
              <a:solidFill>
                <a:prstClr val="white"/>
              </a:solidFill>
              <a:effectLst/>
              <a:uLnTx/>
              <a:uFillTx/>
              <a:latin typeface="TradeGothic"/>
              <a:ea typeface="+mn-ea"/>
              <a:cs typeface="+mn-cs"/>
            </a:endParaRPr>
          </a:p>
        </p:txBody>
      </p:sp>
      <p:sp>
        <p:nvSpPr>
          <p:cNvPr id="12" name="Oval 11"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xmlns=""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sz="850" b="1">
                <a:solidFill>
                  <a:srgbClr val="102A43"/>
                </a:solidFill>
                <a:latin typeface="Calibri"/>
              </a:rPr>
              <a:t>[Team name as on portal]</a:t>
            </a:r>
            <a:endParaRPr lang="en-IN" dirty="0"/>
          </a:p>
        </p:txBody>
      </p:sp>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
        <p:nvSpPr>
          <p:cNvPr id="17410" name="TextBox 17409"/>
          <p:cNvSpPr txBox="1"/>
          <p:nvPr/>
        </p:nvSpPr>
        <p:spPr>
          <a:xfrm>
            <a:off x="1783080" y="786384"/>
            <a:ext cx="9509760" cy="237744"/>
          </a:xfrm>
          <a:prstGeom prst="rect">
            <a:avLst/>
          </a:prstGeom>
          <a:noFill/>
        </p:spPr>
        <p:txBody>
          <a:bodyPr wrap="square" lIns="0" rIns="0" tIns="0" bIns="0" anchor="t">
            <a:spAutoFit/>
          </a:bodyPr>
          <a:lstStyle/>
          <a:p>
            <a:pPr algn="l">
              <a:lnSpc>
                <a:spcPct val="105000"/>
              </a:lnSpc>
              <a:spcAft>
                <a:spcPts val="0"/>
              </a:spcAft>
            </a:pPr>
            <a:r>
              <a:rPr sz="1150" b="0">
                <a:solidFill>
                  <a:srgbClr val="5B6B7B"/>
                </a:solidFill>
                <a:latin typeface="Calibri"/>
              </a:rPr>
              <a:t>It already runs on the published reports — and it asks nothing new of any project administrator.</a:t>
            </a:r>
          </a:p>
        </p:txBody>
      </p:sp>
      <p:sp>
        <p:nvSpPr>
          <p:cNvPr id="17411" name="TextBox 17410"/>
          <p:cNvSpPr txBox="1"/>
          <p:nvPr/>
        </p:nvSpPr>
        <p:spPr>
          <a:xfrm>
            <a:off x="457200" y="1115568"/>
            <a:ext cx="5394960" cy="182880"/>
          </a:xfrm>
          <a:prstGeom prst="rect">
            <a:avLst/>
          </a:prstGeom>
          <a:noFill/>
        </p:spPr>
        <p:txBody>
          <a:bodyPr wrap="square" lIns="0" rIns="0" tIns="0" bIns="0" anchor="t">
            <a:spAutoFit/>
          </a:bodyPr>
          <a:lstStyle/>
          <a:p>
            <a:pPr algn="l">
              <a:lnSpc>
                <a:spcPct val="105000"/>
              </a:lnSpc>
              <a:spcAft>
                <a:spcPts val="0"/>
              </a:spcAft>
            </a:pPr>
            <a:r>
              <a:rPr sz="950" b="1">
                <a:solidFill>
                  <a:srgbClr val="0070C0"/>
                </a:solidFill>
                <a:latin typeface="Calibri"/>
              </a:rPr>
              <a:t>ANALYSIS OF THE FEASIBILITY OF THE IDEA</a:t>
            </a:r>
          </a:p>
        </p:txBody>
      </p:sp>
      <p:sp>
        <p:nvSpPr>
          <p:cNvPr id="17412" name="Rectangle 17411"/>
          <p:cNvSpPr/>
          <p:nvPr/>
        </p:nvSpPr>
        <p:spPr>
          <a:xfrm>
            <a:off x="457200" y="1303020"/>
            <a:ext cx="5394960" cy="20117"/>
          </a:xfrm>
          <a:prstGeom prst="rect">
            <a:avLst/>
          </a:prstGeom>
          <a:solidFill>
            <a:srgbClr val="C5DC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413" name="Rounded Rectangle 17412"/>
          <p:cNvSpPr/>
          <p:nvPr/>
        </p:nvSpPr>
        <p:spPr>
          <a:xfrm>
            <a:off x="457200" y="1408176"/>
            <a:ext cx="5394960" cy="768096"/>
          </a:xfrm>
          <a:prstGeom prst="roundRect">
            <a:avLst>
              <a:gd name="adj" fmla="val 6000"/>
            </a:avLst>
          </a:prstGeom>
          <a:solidFill>
            <a:srgbClr val="FBFDFF"/>
          </a:solidFill>
          <a:ln w="9525">
            <a:solidFill>
              <a:srgbClr val="C5DC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414" name="Rectangle 17413"/>
          <p:cNvSpPr/>
          <p:nvPr/>
        </p:nvSpPr>
        <p:spPr>
          <a:xfrm>
            <a:off x="457200" y="1408176"/>
            <a:ext cx="41148" cy="768096"/>
          </a:xfrm>
          <a:prstGeom prst="rect">
            <a:avLst/>
          </a:prstGeom>
          <a:solidFill>
            <a:srgbClr val="1B6E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415" name="TextBox 17414"/>
          <p:cNvSpPr txBox="1"/>
          <p:nvPr/>
        </p:nvSpPr>
        <p:spPr>
          <a:xfrm>
            <a:off x="603504" y="1472184"/>
            <a:ext cx="5120640" cy="658368"/>
          </a:xfrm>
          <a:prstGeom prst="rect">
            <a:avLst/>
          </a:prstGeom>
          <a:noFill/>
        </p:spPr>
        <p:txBody>
          <a:bodyPr wrap="square" lIns="0" rIns="0" tIns="0" bIns="0" anchor="t">
            <a:spAutoFit/>
          </a:bodyPr>
          <a:lstStyle/>
          <a:p>
            <a:pPr algn="l">
              <a:lnSpc>
                <a:spcPct val="103000"/>
              </a:lnSpc>
              <a:spcAft>
                <a:spcPts val="100"/>
              </a:spcAft>
            </a:pPr>
            <a:r>
              <a:rPr sz="900" b="1">
                <a:solidFill>
                  <a:srgbClr val="1B6E45"/>
                </a:solidFill>
                <a:latin typeface="Calibri"/>
              </a:rPr>
              <a:t>TECHNICAL</a:t>
            </a:r>
          </a:p>
          <a:p>
            <a:pPr algn="l">
              <a:lnSpc>
                <a:spcPct val="103000"/>
              </a:lnSpc>
              <a:spcAft>
                <a:spcPts val="0"/>
              </a:spcAft>
            </a:pPr>
            <a:r>
              <a:rPr sz="900" b="0">
                <a:solidFill>
                  <a:srgbClr val="1F2933"/>
                </a:solidFill>
                <a:latin typeface="Calibri"/>
              </a:rPr>
              <a:t>Open-source stack, CPU-only, one batch run per month. The ingestion path is already exercised on 17 published reports (2,522 pages) with 0 failed extractions.</a:t>
            </a:r>
          </a:p>
        </p:txBody>
      </p:sp>
      <p:sp>
        <p:nvSpPr>
          <p:cNvPr id="17416" name="Rounded Rectangle 17415"/>
          <p:cNvSpPr/>
          <p:nvPr/>
        </p:nvSpPr>
        <p:spPr>
          <a:xfrm>
            <a:off x="457200" y="2249424"/>
            <a:ext cx="5394960" cy="768096"/>
          </a:xfrm>
          <a:prstGeom prst="roundRect">
            <a:avLst>
              <a:gd name="adj" fmla="val 6000"/>
            </a:avLst>
          </a:prstGeom>
          <a:solidFill>
            <a:srgbClr val="FBFDFF"/>
          </a:solidFill>
          <a:ln w="9525">
            <a:solidFill>
              <a:srgbClr val="C5DC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417" name="Rectangle 17416"/>
          <p:cNvSpPr/>
          <p:nvPr/>
        </p:nvSpPr>
        <p:spPr>
          <a:xfrm>
            <a:off x="457200" y="2249424"/>
            <a:ext cx="41148" cy="768096"/>
          </a:xfrm>
          <a:prstGeom prst="rect">
            <a:avLst/>
          </a:prstGeom>
          <a:solidFill>
            <a:srgbClr val="1B6E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418" name="TextBox 17417"/>
          <p:cNvSpPr txBox="1"/>
          <p:nvPr/>
        </p:nvSpPr>
        <p:spPr>
          <a:xfrm>
            <a:off x="603504" y="2313432"/>
            <a:ext cx="5120640" cy="658368"/>
          </a:xfrm>
          <a:prstGeom prst="rect">
            <a:avLst/>
          </a:prstGeom>
          <a:noFill/>
        </p:spPr>
        <p:txBody>
          <a:bodyPr wrap="square" lIns="0" rIns="0" tIns="0" bIns="0" anchor="t">
            <a:spAutoFit/>
          </a:bodyPr>
          <a:lstStyle/>
          <a:p>
            <a:pPr algn="l">
              <a:lnSpc>
                <a:spcPct val="103000"/>
              </a:lnSpc>
              <a:spcAft>
                <a:spcPts val="100"/>
              </a:spcAft>
            </a:pPr>
            <a:r>
              <a:rPr sz="900" b="1">
                <a:solidFill>
                  <a:srgbClr val="1B6E45"/>
                </a:solidFill>
                <a:latin typeface="Calibri"/>
              </a:rPr>
              <a:t>ECONOMIC</a:t>
            </a:r>
          </a:p>
          <a:p>
            <a:pPr algn="l">
              <a:lnSpc>
                <a:spcPct val="103000"/>
              </a:lnSpc>
              <a:spcAft>
                <a:spcPts val="0"/>
              </a:spcAft>
            </a:pPr>
            <a:r>
              <a:rPr sz="900" b="0">
                <a:solidFill>
                  <a:srgbClr val="1F2933"/>
                </a:solidFill>
                <a:latin typeface="Calibri"/>
              </a:rPr>
              <a:t>No licence fee, no paid model API, no GPU. The marginal cost of one more month is a single batch job on one internal server.</a:t>
            </a:r>
          </a:p>
        </p:txBody>
      </p:sp>
      <p:sp>
        <p:nvSpPr>
          <p:cNvPr id="17419" name="Rounded Rectangle 17418"/>
          <p:cNvSpPr/>
          <p:nvPr/>
        </p:nvSpPr>
        <p:spPr>
          <a:xfrm>
            <a:off x="457200" y="3090672"/>
            <a:ext cx="5394960" cy="768096"/>
          </a:xfrm>
          <a:prstGeom prst="roundRect">
            <a:avLst>
              <a:gd name="adj" fmla="val 6000"/>
            </a:avLst>
          </a:prstGeom>
          <a:solidFill>
            <a:srgbClr val="FBFDFF"/>
          </a:solidFill>
          <a:ln w="9525">
            <a:solidFill>
              <a:srgbClr val="C5DC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420" name="Rectangle 17419"/>
          <p:cNvSpPr/>
          <p:nvPr/>
        </p:nvSpPr>
        <p:spPr>
          <a:xfrm>
            <a:off x="457200" y="3090672"/>
            <a:ext cx="41148" cy="768096"/>
          </a:xfrm>
          <a:prstGeom prst="rect">
            <a:avLst/>
          </a:prstGeom>
          <a:solidFill>
            <a:srgbClr val="1B6E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421" name="TextBox 17420"/>
          <p:cNvSpPr txBox="1"/>
          <p:nvPr/>
        </p:nvSpPr>
        <p:spPr>
          <a:xfrm>
            <a:off x="603504" y="3154680"/>
            <a:ext cx="5120640" cy="658368"/>
          </a:xfrm>
          <a:prstGeom prst="rect">
            <a:avLst/>
          </a:prstGeom>
          <a:noFill/>
        </p:spPr>
        <p:txBody>
          <a:bodyPr wrap="square" lIns="0" rIns="0" tIns="0" bIns="0" anchor="t">
            <a:spAutoFit/>
          </a:bodyPr>
          <a:lstStyle/>
          <a:p>
            <a:pPr algn="l">
              <a:lnSpc>
                <a:spcPct val="103000"/>
              </a:lnSpc>
              <a:spcAft>
                <a:spcPts val="100"/>
              </a:spcAft>
            </a:pPr>
            <a:r>
              <a:rPr sz="900" b="1">
                <a:solidFill>
                  <a:srgbClr val="1B6E45"/>
                </a:solidFill>
                <a:latin typeface="Calibri"/>
              </a:rPr>
              <a:t>OPERATIONAL</a:t>
            </a:r>
          </a:p>
          <a:p>
            <a:pPr algn="l">
              <a:lnSpc>
                <a:spcPct val="103000"/>
              </a:lnSpc>
              <a:spcAft>
                <a:spcPts val="0"/>
              </a:spcAft>
            </a:pPr>
            <a:r>
              <a:rPr sz="900" b="0">
                <a:solidFill>
                  <a:srgbClr val="1F2933"/>
                </a:solidFill>
                <a:latin typeface="Calibri"/>
              </a:rPr>
              <a:t>It rides the monthly rhythm MoSPI already runs: ministries file the CUF, PAIMANA updates through role-based access and APIs, PARAKH consumes the update and the queue is ready for the review cycle. Analysts keep PAIMANA.</a:t>
            </a:r>
          </a:p>
        </p:txBody>
      </p:sp>
      <p:sp>
        <p:nvSpPr>
          <p:cNvPr id="17422" name="Rounded Rectangle 17421"/>
          <p:cNvSpPr/>
          <p:nvPr/>
        </p:nvSpPr>
        <p:spPr>
          <a:xfrm>
            <a:off x="457200" y="3931920"/>
            <a:ext cx="5394960" cy="768096"/>
          </a:xfrm>
          <a:prstGeom prst="roundRect">
            <a:avLst>
              <a:gd name="adj" fmla="val 6000"/>
            </a:avLst>
          </a:prstGeom>
          <a:solidFill>
            <a:srgbClr val="FBFDFF"/>
          </a:solidFill>
          <a:ln w="9525">
            <a:solidFill>
              <a:srgbClr val="C5DC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423" name="Rectangle 17422"/>
          <p:cNvSpPr/>
          <p:nvPr/>
        </p:nvSpPr>
        <p:spPr>
          <a:xfrm>
            <a:off x="457200" y="3931920"/>
            <a:ext cx="41148" cy="768096"/>
          </a:xfrm>
          <a:prstGeom prst="rect">
            <a:avLst/>
          </a:prstGeom>
          <a:solidFill>
            <a:srgbClr val="1B6E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424" name="TextBox 17423"/>
          <p:cNvSpPr txBox="1"/>
          <p:nvPr/>
        </p:nvSpPr>
        <p:spPr>
          <a:xfrm>
            <a:off x="603504" y="3995928"/>
            <a:ext cx="5120640" cy="658368"/>
          </a:xfrm>
          <a:prstGeom prst="rect">
            <a:avLst/>
          </a:prstGeom>
          <a:noFill/>
        </p:spPr>
        <p:txBody>
          <a:bodyPr wrap="square" lIns="0" rIns="0" tIns="0" bIns="0" anchor="t">
            <a:spAutoFit/>
          </a:bodyPr>
          <a:lstStyle/>
          <a:p>
            <a:pPr algn="l">
              <a:lnSpc>
                <a:spcPct val="103000"/>
              </a:lnSpc>
              <a:spcAft>
                <a:spcPts val="100"/>
              </a:spcAft>
            </a:pPr>
            <a:r>
              <a:rPr sz="900" b="1">
                <a:solidFill>
                  <a:srgbClr val="1B6E45"/>
                </a:solidFill>
                <a:latin typeface="Calibri"/>
              </a:rPr>
              <a:t>DATA AND GOVERNANCE</a:t>
            </a:r>
          </a:p>
          <a:p>
            <a:pPr algn="l">
              <a:lnSpc>
                <a:spcPct val="103000"/>
              </a:lnSpc>
              <a:spcAft>
                <a:spcPts val="0"/>
              </a:spcAft>
            </a:pPr>
            <a:r>
              <a:rPr sz="900" b="0">
                <a:solidFill>
                  <a:srgbClr val="1F2933"/>
                </a:solidFill>
                <a:latin typeface="Calibri"/>
              </a:rPr>
              <a:t>Built on current CUF fields. Reconciliation is real: 11 of the 13 current-format reports match their own printed totals exactly — project count and all three financial totals — and legacy gaps are disclosed, not hidden.</a:t>
            </a:r>
          </a:p>
        </p:txBody>
      </p:sp>
      <p:sp>
        <p:nvSpPr>
          <p:cNvPr id="17425" name="TextBox 17424"/>
          <p:cNvSpPr txBox="1"/>
          <p:nvPr/>
        </p:nvSpPr>
        <p:spPr>
          <a:xfrm>
            <a:off x="457200" y="4809744"/>
            <a:ext cx="5394960" cy="914400"/>
          </a:xfrm>
          <a:prstGeom prst="rect">
            <a:avLst/>
          </a:prstGeom>
          <a:noFill/>
        </p:spPr>
        <p:txBody>
          <a:bodyPr wrap="square" lIns="0" rIns="0" tIns="0" bIns="0" anchor="t">
            <a:spAutoFit/>
          </a:bodyPr>
          <a:lstStyle/>
          <a:p>
            <a:pPr algn="l">
              <a:lnSpc>
                <a:spcPct val="104000"/>
              </a:lnSpc>
              <a:spcAft>
                <a:spcPts val="400"/>
              </a:spcAft>
            </a:pPr>
            <a:r>
              <a:rPr sz="900" b="1">
                <a:solidFill>
                  <a:srgbClr val="0070C0"/>
                </a:solidFill>
                <a:latin typeface="Calibri"/>
              </a:rPr>
              <a:t>PILOT PATH — WITH MoSPI, ON PUBLISHED DATA, NO NEW COLLECTION</a:t>
            </a:r>
          </a:p>
          <a:p>
            <a:pPr algn="l">
              <a:lnSpc>
                <a:spcPct val="104000"/>
              </a:lnSpc>
              <a:spcAft>
                <a:spcPts val="400"/>
              </a:spcAft>
            </a:pPr>
            <a:r>
              <a:rPr sz="900" b="0">
                <a:solidFill>
                  <a:srgbClr val="1F2933"/>
                </a:solidFill>
                <a:latin typeface="Calibri"/>
              </a:rPr>
              <a:t>Month 1: run the queue on published reports; measure precision@K against what reviewers actually open.</a:t>
            </a:r>
          </a:p>
          <a:p>
            <a:pPr algn="l">
              <a:lnSpc>
                <a:spcPct val="104000"/>
              </a:lnSpc>
              <a:spcAft>
                <a:spcPts val="400"/>
              </a:spcAft>
            </a:pPr>
            <a:r>
              <a:rPr sz="900" b="0">
                <a:solidFill>
                  <a:srgbClr val="1F2933"/>
                </a:solidFill>
                <a:latin typeface="Calibri"/>
              </a:rPr>
              <a:t>Month 2: calibrate scores, add non-CUF context, measure warning lead time.</a:t>
            </a:r>
          </a:p>
          <a:p>
            <a:pPr algn="l">
              <a:lnSpc>
                <a:spcPct val="104000"/>
              </a:lnSpc>
              <a:spcAft>
                <a:spcPts val="400"/>
              </a:spcAft>
            </a:pPr>
            <a:r>
              <a:rPr sz="900" b="0">
                <a:solidFill>
                  <a:srgbClr val="1F2933"/>
                </a:solidFill>
                <a:latin typeface="Calibri"/>
              </a:rPr>
              <a:t>Month 3+: extend into the OCMS archive, then hand over a documented deployment.</a:t>
            </a:r>
          </a:p>
        </p:txBody>
      </p:sp>
      <p:sp>
        <p:nvSpPr>
          <p:cNvPr id="17426" name="TextBox 17425"/>
          <p:cNvSpPr txBox="1"/>
          <p:nvPr/>
        </p:nvSpPr>
        <p:spPr>
          <a:xfrm>
            <a:off x="6035040" y="1115568"/>
            <a:ext cx="5696712" cy="182880"/>
          </a:xfrm>
          <a:prstGeom prst="rect">
            <a:avLst/>
          </a:prstGeom>
          <a:noFill/>
        </p:spPr>
        <p:txBody>
          <a:bodyPr wrap="square" lIns="0" rIns="0" tIns="0" bIns="0" anchor="t">
            <a:spAutoFit/>
          </a:bodyPr>
          <a:lstStyle/>
          <a:p>
            <a:pPr algn="l">
              <a:lnSpc>
                <a:spcPct val="105000"/>
              </a:lnSpc>
              <a:spcAft>
                <a:spcPts val="0"/>
              </a:spcAft>
            </a:pPr>
            <a:r>
              <a:rPr sz="950" b="1">
                <a:solidFill>
                  <a:srgbClr val="0070C0"/>
                </a:solidFill>
                <a:latin typeface="Calibri"/>
              </a:rPr>
              <a:t>POTENTIAL CHALLENGES AND RISKS  ·  STRATEGIES FOR OVERCOMING THEM</a:t>
            </a:r>
          </a:p>
        </p:txBody>
      </p:sp>
      <p:sp>
        <p:nvSpPr>
          <p:cNvPr id="17427" name="Rectangle 17426"/>
          <p:cNvSpPr/>
          <p:nvPr/>
        </p:nvSpPr>
        <p:spPr>
          <a:xfrm>
            <a:off x="6035040" y="1303020"/>
            <a:ext cx="5696712" cy="20117"/>
          </a:xfrm>
          <a:prstGeom prst="rect">
            <a:avLst/>
          </a:prstGeom>
          <a:solidFill>
            <a:srgbClr val="C5DC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428" name="Rectangle 17427"/>
          <p:cNvSpPr/>
          <p:nvPr/>
        </p:nvSpPr>
        <p:spPr>
          <a:xfrm>
            <a:off x="6035040" y="1426464"/>
            <a:ext cx="2286000" cy="548640"/>
          </a:xfrm>
          <a:prstGeom prst="rect">
            <a:avLst/>
          </a:prstGeom>
          <a:solidFill>
            <a:srgbClr val="102A43"/>
          </a:solidFill>
          <a:ln w="6350">
            <a:solidFill>
              <a:srgbClr val="C5DCF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lnSpc>
                <a:spcPct val="100000"/>
              </a:lnSpc>
            </a:pPr>
            <a:r>
              <a:rPr sz="850" b="1">
                <a:solidFill>
                  <a:srgbClr val="FFFFFF"/>
                </a:solidFill>
                <a:latin typeface="Calibri"/>
              </a:rPr>
              <a:t>Risk</a:t>
            </a:r>
          </a:p>
        </p:txBody>
      </p:sp>
      <p:sp>
        <p:nvSpPr>
          <p:cNvPr id="17429" name="Rectangle 17428"/>
          <p:cNvSpPr/>
          <p:nvPr/>
        </p:nvSpPr>
        <p:spPr>
          <a:xfrm>
            <a:off x="8321040" y="1426464"/>
            <a:ext cx="3410712" cy="548640"/>
          </a:xfrm>
          <a:prstGeom prst="rect">
            <a:avLst/>
          </a:prstGeom>
          <a:solidFill>
            <a:srgbClr val="102A43"/>
          </a:solidFill>
          <a:ln w="6350">
            <a:solidFill>
              <a:srgbClr val="C5DCF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lnSpc>
                <a:spcPct val="100000"/>
              </a:lnSpc>
            </a:pPr>
            <a:r>
              <a:rPr sz="850" b="1">
                <a:solidFill>
                  <a:srgbClr val="FFFFFF"/>
                </a:solidFill>
                <a:latin typeface="Calibri"/>
              </a:rPr>
              <a:t>Strategy</a:t>
            </a:r>
          </a:p>
        </p:txBody>
      </p:sp>
      <p:sp>
        <p:nvSpPr>
          <p:cNvPr id="17430" name="Rectangle 17429"/>
          <p:cNvSpPr/>
          <p:nvPr/>
        </p:nvSpPr>
        <p:spPr>
          <a:xfrm>
            <a:off x="6035040" y="1975104"/>
            <a:ext cx="2286000" cy="512064"/>
          </a:xfrm>
          <a:prstGeom prst="rect">
            <a:avLst/>
          </a:prstGeom>
          <a:solidFill>
            <a:srgbClr val="F7FAFD"/>
          </a:solidFill>
          <a:ln w="6350">
            <a:solidFill>
              <a:srgbClr val="C5DCF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lnSpc>
                <a:spcPct val="100000"/>
              </a:lnSpc>
            </a:pPr>
            <a:r>
              <a:rPr sz="850" b="1">
                <a:solidFill>
                  <a:srgbClr val="1F2933"/>
                </a:solidFill>
                <a:latin typeface="Calibri"/>
              </a:rPr>
              <a:t>Report layouts drift between months</a:t>
            </a:r>
          </a:p>
        </p:txBody>
      </p:sp>
      <p:sp>
        <p:nvSpPr>
          <p:cNvPr id="17431" name="Rectangle 17430"/>
          <p:cNvSpPr/>
          <p:nvPr/>
        </p:nvSpPr>
        <p:spPr>
          <a:xfrm>
            <a:off x="8321040" y="1975104"/>
            <a:ext cx="3410712" cy="512064"/>
          </a:xfrm>
          <a:prstGeom prst="rect">
            <a:avLst/>
          </a:prstGeom>
          <a:solidFill>
            <a:srgbClr val="F7FAFD"/>
          </a:solidFill>
          <a:ln w="6350">
            <a:solidFill>
              <a:srgbClr val="C5DCF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lnSpc>
                <a:spcPct val="100000"/>
              </a:lnSpc>
            </a:pPr>
            <a:r>
              <a:rPr sz="850" b="0">
                <a:solidFill>
                  <a:srgbClr val="1F2933"/>
                </a:solidFill>
                <a:latin typeface="Calibri"/>
              </a:rPr>
              <a:t>Schema, range and totals checks on every report; hard-stop and flag on mismatch</a:t>
            </a:r>
          </a:p>
        </p:txBody>
      </p:sp>
      <p:sp>
        <p:nvSpPr>
          <p:cNvPr id="17432" name="Rectangle 17431"/>
          <p:cNvSpPr/>
          <p:nvPr/>
        </p:nvSpPr>
        <p:spPr>
          <a:xfrm>
            <a:off x="6035040" y="2487168"/>
            <a:ext cx="2286000" cy="512064"/>
          </a:xfrm>
          <a:prstGeom prst="rect">
            <a:avLst/>
          </a:prstGeom>
          <a:solidFill>
            <a:srgbClr val="FFFFFF"/>
          </a:solidFill>
          <a:ln w="6350">
            <a:solidFill>
              <a:srgbClr val="C5DCF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lnSpc>
                <a:spcPct val="100000"/>
              </a:lnSpc>
            </a:pPr>
            <a:r>
              <a:rPr sz="850" b="1">
                <a:solidFill>
                  <a:srgbClr val="1F2933"/>
                </a:solidFill>
                <a:latin typeface="Calibri"/>
              </a:rPr>
              <a:t>Cost revisions are rare (4.2% of project-months)</a:t>
            </a:r>
          </a:p>
        </p:txBody>
      </p:sp>
      <p:sp>
        <p:nvSpPr>
          <p:cNvPr id="17433" name="Rectangle 17432"/>
          <p:cNvSpPr/>
          <p:nvPr/>
        </p:nvSpPr>
        <p:spPr>
          <a:xfrm>
            <a:off x="8321040" y="2487168"/>
            <a:ext cx="3410712" cy="512064"/>
          </a:xfrm>
          <a:prstGeom prst="rect">
            <a:avLst/>
          </a:prstGeom>
          <a:solidFill>
            <a:srgbClr val="FFFFFF"/>
          </a:solidFill>
          <a:ln w="6350">
            <a:solidFill>
              <a:srgbClr val="C5DCF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lnSpc>
                <a:spcPct val="100000"/>
              </a:lnSpc>
            </a:pPr>
            <a:r>
              <a:rPr sz="850" b="0">
                <a:solidFill>
                  <a:srgbClr val="1F2933"/>
                </a:solidFill>
                <a:latin typeface="Calibri"/>
              </a:rPr>
              <a:t>Publish PR-AUC beside the base rate; keep the interpretable baseline; choose models on the strict holdout</a:t>
            </a:r>
          </a:p>
        </p:txBody>
      </p:sp>
      <p:sp>
        <p:nvSpPr>
          <p:cNvPr id="17434" name="Rectangle 17433"/>
          <p:cNvSpPr/>
          <p:nvPr/>
        </p:nvSpPr>
        <p:spPr>
          <a:xfrm>
            <a:off x="6035040" y="2999232"/>
            <a:ext cx="2286000" cy="512064"/>
          </a:xfrm>
          <a:prstGeom prst="rect">
            <a:avLst/>
          </a:prstGeom>
          <a:solidFill>
            <a:srgbClr val="F7FAFD"/>
          </a:solidFill>
          <a:ln w="6350">
            <a:solidFill>
              <a:srgbClr val="C5DCF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lnSpc>
                <a:spcPct val="100000"/>
              </a:lnSpc>
            </a:pPr>
            <a:r>
              <a:rPr sz="850" b="1">
                <a:solidFill>
                  <a:srgbClr val="1F2933"/>
                </a:solidFill>
                <a:latin typeface="Calibri"/>
              </a:rPr>
              <a:t>An unverified field reaching training</a:t>
            </a:r>
          </a:p>
        </p:txBody>
      </p:sp>
      <p:sp>
        <p:nvSpPr>
          <p:cNvPr id="17435" name="Rectangle 17434"/>
          <p:cNvSpPr/>
          <p:nvPr/>
        </p:nvSpPr>
        <p:spPr>
          <a:xfrm>
            <a:off x="8321040" y="2999232"/>
            <a:ext cx="3410712" cy="512064"/>
          </a:xfrm>
          <a:prstGeom prst="rect">
            <a:avLst/>
          </a:prstGeom>
          <a:solidFill>
            <a:srgbClr val="F7FAFD"/>
          </a:solidFill>
          <a:ln w="6350">
            <a:solidFill>
              <a:srgbClr val="C5DCF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lnSpc>
                <a:spcPct val="100000"/>
              </a:lnSpc>
            </a:pPr>
            <a:r>
              <a:rPr sz="850" b="0">
                <a:solidFill>
                  <a:srgbClr val="1F2933"/>
                </a:solidFill>
                <a:latin typeface="Calibri"/>
              </a:rPr>
              <a:t>Only reconciled records train; source page retained on every row; warnings shown, never hidden</a:t>
            </a:r>
          </a:p>
        </p:txBody>
      </p:sp>
      <p:sp>
        <p:nvSpPr>
          <p:cNvPr id="17436" name="Rectangle 17435"/>
          <p:cNvSpPr/>
          <p:nvPr/>
        </p:nvSpPr>
        <p:spPr>
          <a:xfrm>
            <a:off x="6035040" y="3511296"/>
            <a:ext cx="2286000" cy="512064"/>
          </a:xfrm>
          <a:prstGeom prst="rect">
            <a:avLst/>
          </a:prstGeom>
          <a:solidFill>
            <a:srgbClr val="FFFFFF"/>
          </a:solidFill>
          <a:ln w="6350">
            <a:solidFill>
              <a:srgbClr val="C5DCF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lnSpc>
                <a:spcPct val="100000"/>
              </a:lnSpc>
            </a:pPr>
            <a:r>
              <a:rPr sz="850" b="1">
                <a:solidFill>
                  <a:srgbClr val="1F2933"/>
                </a:solidFill>
                <a:latin typeface="Calibri"/>
              </a:rPr>
              <a:t>A ranking read as a decision</a:t>
            </a:r>
          </a:p>
        </p:txBody>
      </p:sp>
      <p:sp>
        <p:nvSpPr>
          <p:cNvPr id="17437" name="Rectangle 17436"/>
          <p:cNvSpPr/>
          <p:nvPr/>
        </p:nvSpPr>
        <p:spPr>
          <a:xfrm>
            <a:off x="8321040" y="3511296"/>
            <a:ext cx="3410712" cy="512064"/>
          </a:xfrm>
          <a:prstGeom prst="rect">
            <a:avLst/>
          </a:prstGeom>
          <a:solidFill>
            <a:srgbClr val="FFFFFF"/>
          </a:solidFill>
          <a:ln w="6350">
            <a:solidFill>
              <a:srgbClr val="C5DCF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lnSpc>
                <a:spcPct val="100000"/>
              </a:lnSpc>
            </a:pPr>
            <a:r>
              <a:rPr sz="850" b="0">
                <a:solidFill>
                  <a:srgbClr val="1F2933"/>
                </a:solidFill>
                <a:latin typeface="Calibri"/>
              </a:rPr>
              <a:t>Outputs labelled as rankings, not probabilities; driver and uncertainty always shown; a human decides and the disposition is logged</a:t>
            </a:r>
          </a:p>
        </p:txBody>
      </p:sp>
      <p:sp>
        <p:nvSpPr>
          <p:cNvPr id="17438" name="Rectangle 17437"/>
          <p:cNvSpPr/>
          <p:nvPr/>
        </p:nvSpPr>
        <p:spPr>
          <a:xfrm>
            <a:off x="6035040" y="4023360"/>
            <a:ext cx="2286000" cy="512064"/>
          </a:xfrm>
          <a:prstGeom prst="rect">
            <a:avLst/>
          </a:prstGeom>
          <a:solidFill>
            <a:srgbClr val="F7FAFD"/>
          </a:solidFill>
          <a:ln w="6350">
            <a:solidFill>
              <a:srgbClr val="C5DCF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lnSpc>
                <a:spcPct val="100000"/>
              </a:lnSpc>
            </a:pPr>
            <a:r>
              <a:rPr sz="850" b="1">
                <a:solidFill>
                  <a:srgbClr val="1F2933"/>
                </a:solidFill>
                <a:latin typeface="Calibri"/>
              </a:rPr>
              <a:t>Alert fatigue in a monitoring cell</a:t>
            </a:r>
          </a:p>
        </p:txBody>
      </p:sp>
      <p:sp>
        <p:nvSpPr>
          <p:cNvPr id="17439" name="Rectangle 17438"/>
          <p:cNvSpPr/>
          <p:nvPr/>
        </p:nvSpPr>
        <p:spPr>
          <a:xfrm>
            <a:off x="8321040" y="4023360"/>
            <a:ext cx="3410712" cy="512064"/>
          </a:xfrm>
          <a:prstGeom prst="rect">
            <a:avLst/>
          </a:prstGeom>
          <a:solidFill>
            <a:srgbClr val="F7FAFD"/>
          </a:solidFill>
          <a:ln w="6350">
            <a:solidFill>
              <a:srgbClr val="C5DCF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lnSpc>
                <a:spcPct val="100000"/>
              </a:lnSpc>
            </a:pPr>
            <a:r>
              <a:rPr sz="850" b="0">
                <a:solidFill>
                  <a:srgbClr val="1F2933"/>
                </a:solidFill>
                <a:latin typeface="Calibri"/>
              </a:rPr>
              <a:t>Queue length is set to reviewer capacity (top-K), never to a fixed threshold</a:t>
            </a:r>
          </a:p>
        </p:txBody>
      </p:sp>
      <p:sp>
        <p:nvSpPr>
          <p:cNvPr id="17440" name="Rectangle 17439"/>
          <p:cNvSpPr/>
          <p:nvPr/>
        </p:nvSpPr>
        <p:spPr>
          <a:xfrm>
            <a:off x="6035040" y="4535424"/>
            <a:ext cx="2286000" cy="512064"/>
          </a:xfrm>
          <a:prstGeom prst="rect">
            <a:avLst/>
          </a:prstGeom>
          <a:solidFill>
            <a:srgbClr val="FFFFFF"/>
          </a:solidFill>
          <a:ln w="6350">
            <a:solidFill>
              <a:srgbClr val="C5DCF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lnSpc>
                <a:spcPct val="100000"/>
              </a:lnSpc>
            </a:pPr>
            <a:r>
              <a:rPr sz="850" b="1">
                <a:solidFill>
                  <a:srgbClr val="1F2933"/>
                </a:solidFill>
                <a:latin typeface="Calibri"/>
              </a:rPr>
              <a:t>History depth: OCMS 2006 to PAIMANA today</a:t>
            </a:r>
          </a:p>
        </p:txBody>
      </p:sp>
      <p:sp>
        <p:nvSpPr>
          <p:cNvPr id="17441" name="Rectangle 17440"/>
          <p:cNvSpPr/>
          <p:nvPr/>
        </p:nvSpPr>
        <p:spPr>
          <a:xfrm>
            <a:off x="8321040" y="4535424"/>
            <a:ext cx="3410712" cy="512064"/>
          </a:xfrm>
          <a:prstGeom prst="rect">
            <a:avLst/>
          </a:prstGeom>
          <a:solidFill>
            <a:srgbClr val="FFFFFF"/>
          </a:solidFill>
          <a:ln w="6350">
            <a:solidFill>
              <a:srgbClr val="C5DCF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lnSpc>
                <a:spcPct val="100000"/>
              </a:lnSpc>
            </a:pPr>
            <a:r>
              <a:rPr sz="850" b="0">
                <a:solidFill>
                  <a:srgbClr val="1F2933"/>
                </a:solidFill>
                <a:latin typeface="Calibri"/>
              </a:rPr>
              <a:t>Start on the published months; extend into the OCMS archive under the same checks before wider claims</a:t>
            </a:r>
          </a:p>
        </p:txBody>
      </p:sp>
      <p:sp>
        <p:nvSpPr>
          <p:cNvPr id="17442" name="TextBox 17441"/>
          <p:cNvSpPr txBox="1"/>
          <p:nvPr/>
        </p:nvSpPr>
        <p:spPr>
          <a:xfrm>
            <a:off x="6035040" y="5120640"/>
            <a:ext cx="5696712" cy="548640"/>
          </a:xfrm>
          <a:prstGeom prst="rect">
            <a:avLst/>
          </a:prstGeom>
          <a:noFill/>
        </p:spPr>
        <p:txBody>
          <a:bodyPr wrap="square" lIns="0" rIns="0" tIns="0" bIns="0" anchor="t">
            <a:spAutoFit/>
          </a:bodyPr>
          <a:lstStyle/>
          <a:p>
            <a:pPr algn="l">
              <a:lnSpc>
                <a:spcPct val="103000"/>
              </a:lnSpc>
              <a:spcAft>
                <a:spcPts val="400"/>
              </a:spcAft>
            </a:pPr>
            <a:r>
              <a:rPr sz="900" b="1">
                <a:solidFill>
                  <a:srgbClr val="0070C0"/>
                </a:solidFill>
                <a:latin typeface="Calibri"/>
              </a:rPr>
              <a:t>IF SELECTED FOR THE FINALE — 30 DAYS:  </a:t>
            </a:r>
          </a:p>
          <a:p>
            <a:pPr algn="l">
              <a:lnSpc>
                <a:spcPct val="103000"/>
              </a:lnSpc>
              <a:spcAft>
                <a:spcPts val="400"/>
              </a:spcAft>
            </a:pPr>
            <a:r>
              <a:rPr sz="900" b="0">
                <a:solidFill>
                  <a:srgbClr val="1F2933"/>
                </a:solidFill>
                <a:latin typeface="Calibri"/>
              </a:rPr>
              <a:t>wire the evidence gate into the review queue · re-run ordered and project-disjoint benchmarks for CUF-only versus CUF plus context · calibrate the scores and publish precision@K · replay one held-out month end to end with MoSPI watching.</a:t>
            </a:r>
          </a:p>
        </p:txBody>
      </p:sp>
      <p:sp>
        <p:nvSpPr>
          <p:cNvPr id="17443" name="Rounded Rectangle 17442"/>
          <p:cNvSpPr/>
          <p:nvPr/>
        </p:nvSpPr>
        <p:spPr>
          <a:xfrm>
            <a:off x="457200" y="5779008"/>
            <a:ext cx="11274552" cy="502920"/>
          </a:xfrm>
          <a:prstGeom prst="roundRect">
            <a:avLst>
              <a:gd name="adj" fmla="val 6000"/>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444" name="TextBox 17443"/>
          <p:cNvSpPr txBox="1"/>
          <p:nvPr/>
        </p:nvSpPr>
        <p:spPr>
          <a:xfrm>
            <a:off x="640080" y="5852160"/>
            <a:ext cx="10972800" cy="384048"/>
          </a:xfrm>
          <a:prstGeom prst="rect">
            <a:avLst/>
          </a:prstGeom>
          <a:noFill/>
        </p:spPr>
        <p:txBody>
          <a:bodyPr wrap="square" lIns="0" rIns="0" tIns="0" bIns="0" anchor="t">
            <a:spAutoFit/>
          </a:bodyPr>
          <a:lstStyle/>
          <a:p>
            <a:pPr algn="l">
              <a:lnSpc>
                <a:spcPct val="103000"/>
              </a:lnSpc>
              <a:spcAft>
                <a:spcPts val="400"/>
              </a:spcAft>
            </a:pPr>
            <a:r>
              <a:rPr sz="900" b="1">
                <a:solidFill>
                  <a:srgbClr val="FFFFFF"/>
                </a:solidFill>
                <a:latin typeface="Calibri"/>
              </a:rPr>
              <a:t>WHAT WE DO NOT CLAIM  </a:t>
            </a:r>
          </a:p>
          <a:p>
            <a:pPr algn="l">
              <a:lnSpc>
                <a:spcPct val="103000"/>
              </a:lnSpc>
              <a:spcAft>
                <a:spcPts val="400"/>
              </a:spcAft>
            </a:pPr>
            <a:r>
              <a:rPr sz="900" b="0">
                <a:solidFill>
                  <a:srgbClr val="D8E6F2"/>
                </a:solidFill>
                <a:latin typeface="Calibri"/>
              </a:rPr>
              <a:t>— no live MoSPI integration, no automatic alerts or dispatch, no measured savings, no calibrated probabilities, no causal claims from attribution. Every score is a ranking for human review.</a:t>
            </a:r>
          </a:p>
        </p:txBody>
      </p:sp>
    </p:spTree>
    <p:extLst>
      <p:ext uri="{BB962C8B-B14F-4D97-AF65-F5344CB8AC3E}">
        <p14:creationId xmlns:p14="http://schemas.microsoft.com/office/powerpoint/2010/main" val="37533879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0504D">
                  <a:lumMod val="75000"/>
                </a:srgbClr>
              </a:solidFill>
              <a:effectLst/>
              <a:uLnTx/>
              <a:uFillTx/>
              <a:latin typeface="Calibri"/>
              <a:ea typeface="ＭＳ Ｐゴシック" pitchFamily="1" charset="-128"/>
              <a:cs typeface="+mn-cs"/>
            </a:endParaRPr>
          </a:p>
        </p:txBody>
      </p:sp>
      <p:sp>
        <p:nvSpPr>
          <p:cNvPr id="17409" name="Title 1"/>
          <p:cNvSpPr>
            <a:spLocks noGrp="1"/>
          </p:cNvSpPr>
          <p:nvPr>
            <p:ph type="title"/>
          </p:nvPr>
        </p:nvSpPr>
        <p:spPr>
          <a:xfrm>
            <a:off x="1783080" y="128016"/>
            <a:ext cx="9509760" cy="658368"/>
          </a:xfrm>
        </p:spPr>
        <p:txBody>
          <a:bodyPr wrap="square" anchor="ctr"/>
          <a:lstStyle/>
          <a:p>
            <a:pPr eaLnBrk="1" hangingPunct="1" algn="l"/>
            <a:r>
              <a:rPr sz="3000" b="1">
                <a:solidFill>
                  <a:srgbClr val="102A43"/>
                </a:solidFill>
                <a:latin typeface="Times New Roman"/>
              </a:rPr>
              <a:t>IMPACT AND BENEFITS</a:t>
            </a:r>
          </a:p>
        </p:txBody>
      </p:sp>
      <p:sp>
        <p:nvSpPr>
          <p:cNvPr id="6" name="Slide Number Placeholder 5"/>
          <p:cNvSpPr>
            <a:spLocks noGrp="1"/>
          </p:cNvSpPr>
          <p:nvPr>
            <p:ph type="sldNum" sz="quarter" idx="12"/>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677C3CE7-23F7-4828-823C-E0205DF2CF97}" type="slidenum">
              <a:rPr kumimoji="0" lang="en-US" sz="1200" b="1" i="0" u="none" strike="noStrike" kern="1200" cap="none" spc="0" normalizeH="0" baseline="0" noProof="0">
                <a:ln>
                  <a:noFill/>
                </a:ln>
                <a:solidFill>
                  <a:prstClr val="white"/>
                </a:solidFill>
                <a:effectLst/>
                <a:uLnTx/>
                <a:uFillTx/>
                <a:latin typeface="TradeGothic" pitchFamily="1"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5</a:t>
            </a:fld>
            <a:endParaRPr kumimoji="0" lang="en-US" sz="1200" b="1" i="0" u="none" strike="noStrike" kern="1200" cap="none" spc="0" normalizeH="0" baseline="0" noProof="0" dirty="0">
              <a:ln>
                <a:noFill/>
              </a:ln>
              <a:solidFill>
                <a:prstClr val="white"/>
              </a:solidFill>
              <a:effectLst/>
              <a:uLnTx/>
              <a:uFillTx/>
              <a:latin typeface="TradeGothic" pitchFamily="1" charset="0"/>
              <a:ea typeface="ＭＳ Ｐゴシック" pitchFamily="1" charset="-128"/>
              <a:cs typeface="+mn-cs"/>
            </a:endParaRPr>
          </a:p>
        </p:txBody>
      </p:sp>
      <p:sp>
        <p:nvSpPr>
          <p:cNvPr id="7" name="Footer Placeholder 6"/>
          <p:cNvSpPr>
            <a:spLocks noGrp="1"/>
          </p:cNvSpPr>
          <p:nvPr>
            <p:ph type="ftr" sz="quarter" idx="11"/>
          </p:nvPr>
        </p:nvSpPr>
        <p:spPr>
          <a:xfrm>
            <a:off x="4648200" y="6356353"/>
            <a:ext cx="3204000" cy="365125"/>
          </a:xfrm>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TradeGothic"/>
                <a:ea typeface="+mn-ea"/>
                <a:cs typeface="+mn-cs"/>
              </a:rPr>
              <a:t>@SIH Idea submission- Template</a:t>
            </a:r>
            <a:endParaRPr kumimoji="0" lang="en-US" sz="1200" b="0" i="0" u="none" strike="noStrike" kern="1200" cap="none" spc="0" normalizeH="0" baseline="0" noProof="0" dirty="0">
              <a:ln>
                <a:noFill/>
              </a:ln>
              <a:solidFill>
                <a:prstClr val="white"/>
              </a:solidFill>
              <a:effectLst/>
              <a:uLnTx/>
              <a:uFillTx/>
              <a:latin typeface="TradeGothic"/>
              <a:ea typeface="+mn-ea"/>
              <a:cs typeface="+mn-cs"/>
            </a:endParaRPr>
          </a:p>
        </p:txBody>
      </p:sp>
      <p:sp>
        <p:nvSpPr>
          <p:cNvPr id="12" name="Oval 11"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xmlns=""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sz="850" b="1">
                <a:solidFill>
                  <a:srgbClr val="102A43"/>
                </a:solidFill>
                <a:latin typeface="Calibri"/>
              </a:rPr>
              <a:t>[Team name as on portal]</a:t>
            </a:r>
            <a:endParaRPr lang="en-IN" dirty="0"/>
          </a:p>
        </p:txBody>
      </p:sp>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
        <p:nvSpPr>
          <p:cNvPr id="17410" name="TextBox 17409"/>
          <p:cNvSpPr txBox="1"/>
          <p:nvPr/>
        </p:nvSpPr>
        <p:spPr>
          <a:xfrm>
            <a:off x="1783080" y="786384"/>
            <a:ext cx="9509760" cy="237744"/>
          </a:xfrm>
          <a:prstGeom prst="rect">
            <a:avLst/>
          </a:prstGeom>
          <a:noFill/>
        </p:spPr>
        <p:txBody>
          <a:bodyPr wrap="square" lIns="0" rIns="0" tIns="0" bIns="0" anchor="t">
            <a:spAutoFit/>
          </a:bodyPr>
          <a:lstStyle/>
          <a:p>
            <a:pPr algn="l">
              <a:lnSpc>
                <a:spcPct val="105000"/>
              </a:lnSpc>
              <a:spcAft>
                <a:spcPts val="0"/>
              </a:spcAft>
            </a:pPr>
            <a:r>
              <a:rPr sz="1150" b="0">
                <a:solidFill>
                  <a:srgbClr val="5B6B7B"/>
                </a:solidFill>
                <a:latin typeface="Calibri"/>
              </a:rPr>
              <a:t>Every expected outcome in the brief, mapped to a module — on a ₹42.78 lakh crore portfolio, with impact measured rather than asserted.</a:t>
            </a:r>
          </a:p>
        </p:txBody>
      </p:sp>
      <p:sp>
        <p:nvSpPr>
          <p:cNvPr id="17411" name="TextBox 17410"/>
          <p:cNvSpPr txBox="1"/>
          <p:nvPr/>
        </p:nvSpPr>
        <p:spPr>
          <a:xfrm>
            <a:off x="457200" y="1115568"/>
            <a:ext cx="5742432" cy="182880"/>
          </a:xfrm>
          <a:prstGeom prst="rect">
            <a:avLst/>
          </a:prstGeom>
          <a:noFill/>
        </p:spPr>
        <p:txBody>
          <a:bodyPr wrap="square" lIns="0" rIns="0" tIns="0" bIns="0" anchor="t">
            <a:spAutoFit/>
          </a:bodyPr>
          <a:lstStyle/>
          <a:p>
            <a:pPr algn="l">
              <a:lnSpc>
                <a:spcPct val="105000"/>
              </a:lnSpc>
              <a:spcAft>
                <a:spcPts val="0"/>
              </a:spcAft>
            </a:pPr>
            <a:r>
              <a:rPr sz="950" b="1">
                <a:solidFill>
                  <a:srgbClr val="0070C0"/>
                </a:solidFill>
                <a:latin typeface="Calibri"/>
              </a:rPr>
              <a:t>THE BRIEF'S NINE EXPECTED OUTCOMES, MAPPED</a:t>
            </a:r>
          </a:p>
        </p:txBody>
      </p:sp>
      <p:sp>
        <p:nvSpPr>
          <p:cNvPr id="17412" name="Rectangle 17411"/>
          <p:cNvSpPr/>
          <p:nvPr/>
        </p:nvSpPr>
        <p:spPr>
          <a:xfrm>
            <a:off x="457200" y="1303020"/>
            <a:ext cx="5742432" cy="20117"/>
          </a:xfrm>
          <a:prstGeom prst="rect">
            <a:avLst/>
          </a:prstGeom>
          <a:solidFill>
            <a:srgbClr val="C5DC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413" name="TextBox 17412"/>
          <p:cNvSpPr txBox="1"/>
          <p:nvPr/>
        </p:nvSpPr>
        <p:spPr>
          <a:xfrm>
            <a:off x="457200" y="1316736"/>
            <a:ext cx="5742432" cy="182880"/>
          </a:xfrm>
          <a:prstGeom prst="rect">
            <a:avLst/>
          </a:prstGeom>
          <a:noFill/>
        </p:spPr>
        <p:txBody>
          <a:bodyPr wrap="square" lIns="0" rIns="0" tIns="0" bIns="0" anchor="t">
            <a:spAutoFit/>
          </a:bodyPr>
          <a:lstStyle/>
          <a:p>
            <a:pPr algn="l">
              <a:lnSpc>
                <a:spcPct val="105000"/>
              </a:lnSpc>
              <a:spcAft>
                <a:spcPts val="0"/>
              </a:spcAft>
            </a:pPr>
            <a:r>
              <a:rPr sz="800" b="0">
                <a:solidFill>
                  <a:srgbClr val="5B6B7B"/>
                </a:solidFill>
                <a:latin typeface="Calibri"/>
              </a:rPr>
              <a:t>● working today      ◐ in build for the finale      ○ finale roadmap</a:t>
            </a:r>
          </a:p>
        </p:txBody>
      </p:sp>
      <p:sp>
        <p:nvSpPr>
          <p:cNvPr id="17414" name="Rectangle 17413"/>
          <p:cNvSpPr/>
          <p:nvPr/>
        </p:nvSpPr>
        <p:spPr>
          <a:xfrm>
            <a:off x="457200" y="1554480"/>
            <a:ext cx="4370832" cy="283464"/>
          </a:xfrm>
          <a:prstGeom prst="rect">
            <a:avLst/>
          </a:prstGeom>
          <a:solidFill>
            <a:srgbClr val="102A43"/>
          </a:solidFill>
          <a:ln w="6350">
            <a:solidFill>
              <a:srgbClr val="C5DCF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lnSpc>
                <a:spcPct val="100000"/>
              </a:lnSpc>
            </a:pPr>
            <a:r>
              <a:rPr sz="900" b="1">
                <a:solidFill>
                  <a:srgbClr val="FFFFFF"/>
                </a:solidFill>
                <a:latin typeface="Calibri"/>
              </a:rPr>
              <a:t>Expected outcome (problem statement 26103)</a:t>
            </a:r>
          </a:p>
        </p:txBody>
      </p:sp>
      <p:sp>
        <p:nvSpPr>
          <p:cNvPr id="17415" name="Rectangle 17414"/>
          <p:cNvSpPr/>
          <p:nvPr/>
        </p:nvSpPr>
        <p:spPr>
          <a:xfrm>
            <a:off x="4828032" y="1554480"/>
            <a:ext cx="1298448" cy="283464"/>
          </a:xfrm>
          <a:prstGeom prst="rect">
            <a:avLst/>
          </a:prstGeom>
          <a:solidFill>
            <a:srgbClr val="102A43"/>
          </a:solidFill>
          <a:ln w="6350">
            <a:solidFill>
              <a:srgbClr val="C5DCF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lnSpc>
                <a:spcPct val="100000"/>
              </a:lnSpc>
            </a:pPr>
            <a:r>
              <a:rPr sz="900" b="1">
                <a:solidFill>
                  <a:srgbClr val="FFFFFF"/>
                </a:solidFill>
                <a:latin typeface="Calibri"/>
              </a:rPr>
              <a:t>Status</a:t>
            </a:r>
          </a:p>
        </p:txBody>
      </p:sp>
      <p:sp>
        <p:nvSpPr>
          <p:cNvPr id="17416" name="Rectangle 17415"/>
          <p:cNvSpPr/>
          <p:nvPr/>
        </p:nvSpPr>
        <p:spPr>
          <a:xfrm>
            <a:off x="457200" y="1837944"/>
            <a:ext cx="4370832" cy="246888"/>
          </a:xfrm>
          <a:prstGeom prst="rect">
            <a:avLst/>
          </a:prstGeom>
          <a:solidFill>
            <a:srgbClr val="F7FAFD"/>
          </a:solidFill>
          <a:ln w="6350">
            <a:solidFill>
              <a:srgbClr val="C5DCF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lnSpc>
                <a:spcPct val="100000"/>
              </a:lnSpc>
            </a:pPr>
            <a:r>
              <a:rPr sz="900" b="1">
                <a:solidFill>
                  <a:srgbClr val="1F2933"/>
                </a:solidFill>
                <a:latin typeface="Calibri"/>
              </a:rPr>
              <a:t>a.  Cost overrun prediction model</a:t>
            </a:r>
          </a:p>
        </p:txBody>
      </p:sp>
      <p:sp>
        <p:nvSpPr>
          <p:cNvPr id="17417" name="Rectangle 17416"/>
          <p:cNvSpPr/>
          <p:nvPr/>
        </p:nvSpPr>
        <p:spPr>
          <a:xfrm>
            <a:off x="4828032" y="1837944"/>
            <a:ext cx="1298448" cy="246888"/>
          </a:xfrm>
          <a:prstGeom prst="rect">
            <a:avLst/>
          </a:prstGeom>
          <a:solidFill>
            <a:srgbClr val="F7FAFD"/>
          </a:solidFill>
          <a:ln w="6350">
            <a:solidFill>
              <a:srgbClr val="C5DCF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lnSpc>
                <a:spcPct val="100000"/>
              </a:lnSpc>
            </a:pPr>
            <a:r>
              <a:rPr sz="900" b="0">
                <a:solidFill>
                  <a:srgbClr val="1F2933"/>
                </a:solidFill>
                <a:latin typeface="Calibri"/>
              </a:rPr>
              <a:t>● working</a:t>
            </a:r>
          </a:p>
        </p:txBody>
      </p:sp>
      <p:sp>
        <p:nvSpPr>
          <p:cNvPr id="17418" name="Rectangle 17417"/>
          <p:cNvSpPr/>
          <p:nvPr/>
        </p:nvSpPr>
        <p:spPr>
          <a:xfrm>
            <a:off x="457200" y="2084832"/>
            <a:ext cx="4370832" cy="246888"/>
          </a:xfrm>
          <a:prstGeom prst="rect">
            <a:avLst/>
          </a:prstGeom>
          <a:solidFill>
            <a:srgbClr val="FFFFFF"/>
          </a:solidFill>
          <a:ln w="6350">
            <a:solidFill>
              <a:srgbClr val="C5DCF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lnSpc>
                <a:spcPct val="100000"/>
              </a:lnSpc>
            </a:pPr>
            <a:r>
              <a:rPr sz="900" b="1">
                <a:solidFill>
                  <a:srgbClr val="1F2933"/>
                </a:solidFill>
                <a:latin typeface="Calibri"/>
              </a:rPr>
              <a:t>b.  Time overrun prediction model</a:t>
            </a:r>
          </a:p>
        </p:txBody>
      </p:sp>
      <p:sp>
        <p:nvSpPr>
          <p:cNvPr id="17419" name="Rectangle 17418"/>
          <p:cNvSpPr/>
          <p:nvPr/>
        </p:nvSpPr>
        <p:spPr>
          <a:xfrm>
            <a:off x="4828032" y="2084832"/>
            <a:ext cx="1298448" cy="246888"/>
          </a:xfrm>
          <a:prstGeom prst="rect">
            <a:avLst/>
          </a:prstGeom>
          <a:solidFill>
            <a:srgbClr val="FFFFFF"/>
          </a:solidFill>
          <a:ln w="6350">
            <a:solidFill>
              <a:srgbClr val="C5DCF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lnSpc>
                <a:spcPct val="100000"/>
              </a:lnSpc>
            </a:pPr>
            <a:r>
              <a:rPr sz="900" b="0">
                <a:solidFill>
                  <a:srgbClr val="1F2933"/>
                </a:solidFill>
                <a:latin typeface="Calibri"/>
              </a:rPr>
              <a:t>● working</a:t>
            </a:r>
          </a:p>
        </p:txBody>
      </p:sp>
      <p:sp>
        <p:nvSpPr>
          <p:cNvPr id="17420" name="Rectangle 17419"/>
          <p:cNvSpPr/>
          <p:nvPr/>
        </p:nvSpPr>
        <p:spPr>
          <a:xfrm>
            <a:off x="457200" y="2331720"/>
            <a:ext cx="4370832" cy="246888"/>
          </a:xfrm>
          <a:prstGeom prst="rect">
            <a:avLst/>
          </a:prstGeom>
          <a:solidFill>
            <a:srgbClr val="F7FAFD"/>
          </a:solidFill>
          <a:ln w="6350">
            <a:solidFill>
              <a:srgbClr val="C5DCF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lnSpc>
                <a:spcPct val="100000"/>
              </a:lnSpc>
            </a:pPr>
            <a:r>
              <a:rPr sz="900" b="1">
                <a:solidFill>
                  <a:srgbClr val="1F2933"/>
                </a:solidFill>
                <a:latin typeface="Calibri"/>
              </a:rPr>
              <a:t>c.  Project risk scoring framework</a:t>
            </a:r>
          </a:p>
        </p:txBody>
      </p:sp>
      <p:sp>
        <p:nvSpPr>
          <p:cNvPr id="17421" name="Rectangle 17420"/>
          <p:cNvSpPr/>
          <p:nvPr/>
        </p:nvSpPr>
        <p:spPr>
          <a:xfrm>
            <a:off x="4828032" y="2331720"/>
            <a:ext cx="1298448" cy="246888"/>
          </a:xfrm>
          <a:prstGeom prst="rect">
            <a:avLst/>
          </a:prstGeom>
          <a:solidFill>
            <a:srgbClr val="F7FAFD"/>
          </a:solidFill>
          <a:ln w="6350">
            <a:solidFill>
              <a:srgbClr val="C5DCF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lnSpc>
                <a:spcPct val="100000"/>
              </a:lnSpc>
            </a:pPr>
            <a:r>
              <a:rPr sz="900" b="0">
                <a:solidFill>
                  <a:srgbClr val="1F2933"/>
                </a:solidFill>
                <a:latin typeface="Calibri"/>
              </a:rPr>
              <a:t>● working</a:t>
            </a:r>
          </a:p>
        </p:txBody>
      </p:sp>
      <p:sp>
        <p:nvSpPr>
          <p:cNvPr id="17422" name="Rectangle 17421"/>
          <p:cNvSpPr/>
          <p:nvPr/>
        </p:nvSpPr>
        <p:spPr>
          <a:xfrm>
            <a:off x="457200" y="2578608"/>
            <a:ext cx="4370832" cy="246888"/>
          </a:xfrm>
          <a:prstGeom prst="rect">
            <a:avLst/>
          </a:prstGeom>
          <a:solidFill>
            <a:srgbClr val="FFFFFF"/>
          </a:solidFill>
          <a:ln w="6350">
            <a:solidFill>
              <a:srgbClr val="C5DCF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lnSpc>
                <a:spcPct val="100000"/>
              </a:lnSpc>
            </a:pPr>
            <a:r>
              <a:rPr sz="900" b="1">
                <a:solidFill>
                  <a:srgbClr val="1F2933"/>
                </a:solidFill>
                <a:latin typeface="Calibri"/>
              </a:rPr>
              <a:t>d.  Early warning alert system</a:t>
            </a:r>
          </a:p>
        </p:txBody>
      </p:sp>
      <p:sp>
        <p:nvSpPr>
          <p:cNvPr id="17423" name="Rectangle 17422"/>
          <p:cNvSpPr/>
          <p:nvPr/>
        </p:nvSpPr>
        <p:spPr>
          <a:xfrm>
            <a:off x="4828032" y="2578608"/>
            <a:ext cx="1298448" cy="246888"/>
          </a:xfrm>
          <a:prstGeom prst="rect">
            <a:avLst/>
          </a:prstGeom>
          <a:solidFill>
            <a:srgbClr val="FFFFFF"/>
          </a:solidFill>
          <a:ln w="6350">
            <a:solidFill>
              <a:srgbClr val="C5DCF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lnSpc>
                <a:spcPct val="100000"/>
              </a:lnSpc>
            </a:pPr>
            <a:r>
              <a:rPr sz="900" b="0">
                <a:solidFill>
                  <a:srgbClr val="1F2933"/>
                </a:solidFill>
                <a:latin typeface="Calibri"/>
              </a:rPr>
              <a:t>◐ in build</a:t>
            </a:r>
          </a:p>
        </p:txBody>
      </p:sp>
      <p:sp>
        <p:nvSpPr>
          <p:cNvPr id="17424" name="Rectangle 17423"/>
          <p:cNvSpPr/>
          <p:nvPr/>
        </p:nvSpPr>
        <p:spPr>
          <a:xfrm>
            <a:off x="457200" y="2825496"/>
            <a:ext cx="4370832" cy="246888"/>
          </a:xfrm>
          <a:prstGeom prst="rect">
            <a:avLst/>
          </a:prstGeom>
          <a:solidFill>
            <a:srgbClr val="F7FAFD"/>
          </a:solidFill>
          <a:ln w="6350">
            <a:solidFill>
              <a:srgbClr val="C5DCF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lnSpc>
                <a:spcPct val="100000"/>
              </a:lnSpc>
            </a:pPr>
            <a:r>
              <a:rPr sz="900" b="1">
                <a:solidFill>
                  <a:srgbClr val="1F2933"/>
                </a:solidFill>
                <a:latin typeface="Calibri"/>
              </a:rPr>
              <a:t>e.  Benchmarking and comparative analytics</a:t>
            </a:r>
          </a:p>
        </p:txBody>
      </p:sp>
      <p:sp>
        <p:nvSpPr>
          <p:cNvPr id="17425" name="Rectangle 17424"/>
          <p:cNvSpPr/>
          <p:nvPr/>
        </p:nvSpPr>
        <p:spPr>
          <a:xfrm>
            <a:off x="4828032" y="2825496"/>
            <a:ext cx="1298448" cy="246888"/>
          </a:xfrm>
          <a:prstGeom prst="rect">
            <a:avLst/>
          </a:prstGeom>
          <a:solidFill>
            <a:srgbClr val="F7FAFD"/>
          </a:solidFill>
          <a:ln w="6350">
            <a:solidFill>
              <a:srgbClr val="C5DCF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lnSpc>
                <a:spcPct val="100000"/>
              </a:lnSpc>
            </a:pPr>
            <a:r>
              <a:rPr sz="900" b="0">
                <a:solidFill>
                  <a:srgbClr val="1F2933"/>
                </a:solidFill>
                <a:latin typeface="Calibri"/>
              </a:rPr>
              <a:t>◐ in build</a:t>
            </a:r>
          </a:p>
        </p:txBody>
      </p:sp>
      <p:sp>
        <p:nvSpPr>
          <p:cNvPr id="17426" name="Rectangle 17425"/>
          <p:cNvSpPr/>
          <p:nvPr/>
        </p:nvSpPr>
        <p:spPr>
          <a:xfrm>
            <a:off x="457200" y="3072384"/>
            <a:ext cx="4370832" cy="246888"/>
          </a:xfrm>
          <a:prstGeom prst="rect">
            <a:avLst/>
          </a:prstGeom>
          <a:solidFill>
            <a:srgbClr val="FFFFFF"/>
          </a:solidFill>
          <a:ln w="6350">
            <a:solidFill>
              <a:srgbClr val="C5DCF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lnSpc>
                <a:spcPct val="100000"/>
              </a:lnSpc>
            </a:pPr>
            <a:r>
              <a:rPr sz="900" b="1">
                <a:solidFill>
                  <a:srgbClr val="1F2933"/>
                </a:solidFill>
                <a:latin typeface="Calibri"/>
              </a:rPr>
              <a:t>f.  Cost escalation driver analysis</a:t>
            </a:r>
          </a:p>
        </p:txBody>
      </p:sp>
      <p:sp>
        <p:nvSpPr>
          <p:cNvPr id="17427" name="Rectangle 17426"/>
          <p:cNvSpPr/>
          <p:nvPr/>
        </p:nvSpPr>
        <p:spPr>
          <a:xfrm>
            <a:off x="4828032" y="3072384"/>
            <a:ext cx="1298448" cy="246888"/>
          </a:xfrm>
          <a:prstGeom prst="rect">
            <a:avLst/>
          </a:prstGeom>
          <a:solidFill>
            <a:srgbClr val="FFFFFF"/>
          </a:solidFill>
          <a:ln w="6350">
            <a:solidFill>
              <a:srgbClr val="C5DCF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lnSpc>
                <a:spcPct val="100000"/>
              </a:lnSpc>
            </a:pPr>
            <a:r>
              <a:rPr sz="900" b="0">
                <a:solidFill>
                  <a:srgbClr val="1F2933"/>
                </a:solidFill>
                <a:latin typeface="Calibri"/>
              </a:rPr>
              <a:t>● working</a:t>
            </a:r>
          </a:p>
        </p:txBody>
      </p:sp>
      <p:sp>
        <p:nvSpPr>
          <p:cNvPr id="17428" name="Rectangle 17427"/>
          <p:cNvSpPr/>
          <p:nvPr/>
        </p:nvSpPr>
        <p:spPr>
          <a:xfrm>
            <a:off x="457200" y="3319272"/>
            <a:ext cx="4370832" cy="246888"/>
          </a:xfrm>
          <a:prstGeom prst="rect">
            <a:avLst/>
          </a:prstGeom>
          <a:solidFill>
            <a:srgbClr val="F7FAFD"/>
          </a:solidFill>
          <a:ln w="6350">
            <a:solidFill>
              <a:srgbClr val="C5DCF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lnSpc>
                <a:spcPct val="100000"/>
              </a:lnSpc>
            </a:pPr>
            <a:r>
              <a:rPr sz="900" b="1">
                <a:solidFill>
                  <a:srgbClr val="1F2933"/>
                </a:solidFill>
                <a:latin typeface="Calibri"/>
              </a:rPr>
              <a:t>g.  AI-powered monitoring dashboard</a:t>
            </a:r>
          </a:p>
        </p:txBody>
      </p:sp>
      <p:sp>
        <p:nvSpPr>
          <p:cNvPr id="17429" name="Rectangle 17428"/>
          <p:cNvSpPr/>
          <p:nvPr/>
        </p:nvSpPr>
        <p:spPr>
          <a:xfrm>
            <a:off x="4828032" y="3319272"/>
            <a:ext cx="1298448" cy="246888"/>
          </a:xfrm>
          <a:prstGeom prst="rect">
            <a:avLst/>
          </a:prstGeom>
          <a:solidFill>
            <a:srgbClr val="F7FAFD"/>
          </a:solidFill>
          <a:ln w="6350">
            <a:solidFill>
              <a:srgbClr val="C5DCF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lnSpc>
                <a:spcPct val="100000"/>
              </a:lnSpc>
            </a:pPr>
            <a:r>
              <a:rPr sz="900" b="0">
                <a:solidFill>
                  <a:srgbClr val="1F2933"/>
                </a:solidFill>
                <a:latin typeface="Calibri"/>
              </a:rPr>
              <a:t>● working</a:t>
            </a:r>
          </a:p>
        </p:txBody>
      </p:sp>
      <p:sp>
        <p:nvSpPr>
          <p:cNvPr id="17430" name="Rectangle 17429"/>
          <p:cNvSpPr/>
          <p:nvPr/>
        </p:nvSpPr>
        <p:spPr>
          <a:xfrm>
            <a:off x="457200" y="3566160"/>
            <a:ext cx="4370832" cy="246888"/>
          </a:xfrm>
          <a:prstGeom prst="rect">
            <a:avLst/>
          </a:prstGeom>
          <a:solidFill>
            <a:srgbClr val="FFFFFF"/>
          </a:solidFill>
          <a:ln w="6350">
            <a:solidFill>
              <a:srgbClr val="C5DCF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lnSpc>
                <a:spcPct val="100000"/>
              </a:lnSpc>
            </a:pPr>
            <a:r>
              <a:rPr sz="900" b="1">
                <a:solidFill>
                  <a:srgbClr val="1F2933"/>
                </a:solidFill>
                <a:latin typeface="Calibri"/>
              </a:rPr>
              <a:t>h.  LLM project intelligence assistant</a:t>
            </a:r>
          </a:p>
        </p:txBody>
      </p:sp>
      <p:sp>
        <p:nvSpPr>
          <p:cNvPr id="17431" name="Rectangle 17430"/>
          <p:cNvSpPr/>
          <p:nvPr/>
        </p:nvSpPr>
        <p:spPr>
          <a:xfrm>
            <a:off x="4828032" y="3566160"/>
            <a:ext cx="1298448" cy="246888"/>
          </a:xfrm>
          <a:prstGeom prst="rect">
            <a:avLst/>
          </a:prstGeom>
          <a:solidFill>
            <a:srgbClr val="FFFFFF"/>
          </a:solidFill>
          <a:ln w="6350">
            <a:solidFill>
              <a:srgbClr val="C5DCF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lnSpc>
                <a:spcPct val="100000"/>
              </a:lnSpc>
            </a:pPr>
            <a:r>
              <a:rPr sz="900" b="0">
                <a:solidFill>
                  <a:srgbClr val="1F2933"/>
                </a:solidFill>
                <a:latin typeface="Calibri"/>
              </a:rPr>
              <a:t>◐ in build</a:t>
            </a:r>
          </a:p>
        </p:txBody>
      </p:sp>
      <p:sp>
        <p:nvSpPr>
          <p:cNvPr id="17432" name="Rectangle 17431"/>
          <p:cNvSpPr/>
          <p:nvPr/>
        </p:nvSpPr>
        <p:spPr>
          <a:xfrm>
            <a:off x="457200" y="3813048"/>
            <a:ext cx="4370832" cy="246888"/>
          </a:xfrm>
          <a:prstGeom prst="rect">
            <a:avLst/>
          </a:prstGeom>
          <a:solidFill>
            <a:srgbClr val="F7FAFD"/>
          </a:solidFill>
          <a:ln w="6350">
            <a:solidFill>
              <a:srgbClr val="C5DCF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lnSpc>
                <a:spcPct val="100000"/>
              </a:lnSpc>
            </a:pPr>
            <a:r>
              <a:rPr sz="900" b="1">
                <a:solidFill>
                  <a:srgbClr val="1F2933"/>
                </a:solidFill>
                <a:latin typeface="Calibri"/>
              </a:rPr>
              <a:t>i.  Documentation and deployment framework</a:t>
            </a:r>
          </a:p>
        </p:txBody>
      </p:sp>
      <p:sp>
        <p:nvSpPr>
          <p:cNvPr id="17433" name="Rectangle 17432"/>
          <p:cNvSpPr/>
          <p:nvPr/>
        </p:nvSpPr>
        <p:spPr>
          <a:xfrm>
            <a:off x="4828032" y="3813048"/>
            <a:ext cx="1298448" cy="246888"/>
          </a:xfrm>
          <a:prstGeom prst="rect">
            <a:avLst/>
          </a:prstGeom>
          <a:solidFill>
            <a:srgbClr val="F7FAFD"/>
          </a:solidFill>
          <a:ln w="6350">
            <a:solidFill>
              <a:srgbClr val="C5DCF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lnSpc>
                <a:spcPct val="100000"/>
              </a:lnSpc>
            </a:pPr>
            <a:r>
              <a:rPr sz="900" b="0">
                <a:solidFill>
                  <a:srgbClr val="1F2933"/>
                </a:solidFill>
                <a:latin typeface="Calibri"/>
              </a:rPr>
              <a:t>○ finale</a:t>
            </a:r>
          </a:p>
        </p:txBody>
      </p:sp>
      <p:sp>
        <p:nvSpPr>
          <p:cNvPr id="17434" name="TextBox 17433"/>
          <p:cNvSpPr txBox="1"/>
          <p:nvPr/>
        </p:nvSpPr>
        <p:spPr>
          <a:xfrm>
            <a:off x="457200" y="4187952"/>
            <a:ext cx="5742432" cy="1371600"/>
          </a:xfrm>
          <a:prstGeom prst="rect">
            <a:avLst/>
          </a:prstGeom>
          <a:noFill/>
        </p:spPr>
        <p:txBody>
          <a:bodyPr wrap="square" lIns="0" rIns="0" tIns="0" bIns="0" anchor="t">
            <a:spAutoFit/>
          </a:bodyPr>
          <a:lstStyle/>
          <a:p>
            <a:pPr algn="l">
              <a:lnSpc>
                <a:spcPct val="104000"/>
              </a:lnSpc>
              <a:spcAft>
                <a:spcPts val="400"/>
              </a:spcAft>
            </a:pPr>
            <a:r>
              <a:rPr sz="900" b="1">
                <a:solidFill>
                  <a:srgbClr val="0070C0"/>
                </a:solidFill>
                <a:latin typeface="Calibri"/>
              </a:rPr>
              <a:t>WHAT ALREADY WORKS (SUBMITTED PROTOTYPE)</a:t>
            </a:r>
          </a:p>
          <a:p>
            <a:pPr algn="l">
              <a:lnSpc>
                <a:spcPct val="104000"/>
              </a:lnSpc>
              <a:spcAft>
                <a:spcPts val="400"/>
              </a:spcAft>
            </a:pPr>
            <a:r>
              <a:rPr sz="1050" b="0">
                <a:solidFill>
                  <a:srgbClr val="1F2933"/>
                </a:solidFill>
                <a:latin typeface="Calibri"/>
              </a:rPr>
              <a:t>17 published monthly reports ingested end to end (Mar 2025 → Jul 2026), 25,180 rows, 3,950 project histories, and a model comparison on ordered months. On the latest snapshot of 1,775 projects, 193 (10.9%) fall in the High or Critical band — a queue a monitoring cell can actually work through, with the driver named for each one.</a:t>
            </a:r>
          </a:p>
          <a:p>
            <a:pPr algn="l">
              <a:lnSpc>
                <a:spcPct val="104000"/>
              </a:lnSpc>
              <a:spcAft>
                <a:spcPts val="400"/>
              </a:spcAft>
            </a:pPr>
            <a:r>
              <a:rPr sz="900" b="0">
                <a:solidFill>
                  <a:srgbClr val="5B6B7B"/>
                </a:solidFill>
                <a:latin typeface="Calibri"/>
              </a:rPr>
              <a:t>Audiences: policymakers and monitoring agencies prioritise interventions; project administrators see drift while it is still cheap to correct; sector reviewers get peer benchmarks; oversight gets one traceable evidence chain.</a:t>
            </a:r>
          </a:p>
        </p:txBody>
      </p:sp>
      <p:sp>
        <p:nvSpPr>
          <p:cNvPr id="17435" name="TextBox 17434"/>
          <p:cNvSpPr txBox="1"/>
          <p:nvPr/>
        </p:nvSpPr>
        <p:spPr>
          <a:xfrm>
            <a:off x="6400800" y="1115568"/>
            <a:ext cx="5330952" cy="182880"/>
          </a:xfrm>
          <a:prstGeom prst="rect">
            <a:avLst/>
          </a:prstGeom>
          <a:noFill/>
        </p:spPr>
        <p:txBody>
          <a:bodyPr wrap="square" lIns="0" rIns="0" tIns="0" bIns="0" anchor="t">
            <a:spAutoFit/>
          </a:bodyPr>
          <a:lstStyle/>
          <a:p>
            <a:pPr algn="l">
              <a:lnSpc>
                <a:spcPct val="105000"/>
              </a:lnSpc>
              <a:spcAft>
                <a:spcPts val="0"/>
              </a:spcAft>
            </a:pPr>
            <a:r>
              <a:rPr sz="950" b="1">
                <a:solidFill>
                  <a:srgbClr val="0070C0"/>
                </a:solidFill>
                <a:latin typeface="Calibri"/>
              </a:rPr>
              <a:t>BENEFITS OF THE SOLUTION  (SOCIAL · ECONOMIC · ENVIRONMENTAL)</a:t>
            </a:r>
          </a:p>
        </p:txBody>
      </p:sp>
      <p:sp>
        <p:nvSpPr>
          <p:cNvPr id="17436" name="Rectangle 17435"/>
          <p:cNvSpPr/>
          <p:nvPr/>
        </p:nvSpPr>
        <p:spPr>
          <a:xfrm>
            <a:off x="6400800" y="1303020"/>
            <a:ext cx="5330952" cy="20117"/>
          </a:xfrm>
          <a:prstGeom prst="rect">
            <a:avLst/>
          </a:prstGeom>
          <a:solidFill>
            <a:srgbClr val="C5DC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437" name="TextBox 17436"/>
          <p:cNvSpPr txBox="1"/>
          <p:nvPr/>
        </p:nvSpPr>
        <p:spPr>
          <a:xfrm>
            <a:off x="6400800" y="1408176"/>
            <a:ext cx="5330952" cy="1938528"/>
          </a:xfrm>
          <a:prstGeom prst="rect">
            <a:avLst/>
          </a:prstGeom>
          <a:noFill/>
        </p:spPr>
        <p:txBody>
          <a:bodyPr wrap="square" lIns="0" rIns="0" tIns="0" bIns="0" anchor="t">
            <a:spAutoFit/>
          </a:bodyPr>
          <a:lstStyle/>
          <a:p>
            <a:pPr algn="l">
              <a:lnSpc>
                <a:spcPct val="104000"/>
              </a:lnSpc>
              <a:spcAft>
                <a:spcPts val="400"/>
              </a:spcAft>
            </a:pPr>
            <a:r>
              <a:rPr sz="1050" b="1">
                <a:solidFill>
                  <a:srgbClr val="1F2933"/>
                </a:solidFill>
                <a:latin typeface="Calibri"/>
              </a:rPr>
              <a:t>ECONOMIC</a:t>
            </a:r>
            <a:r>
              <a:rPr sz="1050" b="0">
                <a:solidFill>
                  <a:srgbClr val="1F2933"/>
                </a:solidFill>
                <a:latin typeface="Calibri"/>
              </a:rPr>
              <a:t> — bringing one cost or time revision one monthly cycle earlier on a ₹42.78 lakh crore portfolio is material, and needs no new data-collection budget.</a:t>
            </a:r>
          </a:p>
          <a:p>
            <a:pPr algn="l">
              <a:lnSpc>
                <a:spcPct val="104000"/>
              </a:lnSpc>
              <a:spcAft>
                <a:spcPts val="400"/>
              </a:spcAft>
            </a:pPr>
            <a:r>
              <a:rPr sz="1050" b="1">
                <a:solidFill>
                  <a:srgbClr val="1F2933"/>
                </a:solidFill>
                <a:latin typeface="Calibri"/>
              </a:rPr>
              <a:t>ADMINISTRATIVE</a:t>
            </a:r>
            <a:r>
              <a:rPr sz="1050" b="0">
                <a:solidFill>
                  <a:srgbClr val="1F2933"/>
                </a:solidFill>
                <a:latin typeface="Calibri"/>
              </a:rPr>
              <a:t> — review effort becomes proportionate to risk across 1,981 ongoing projects instead of uniform across all of them.</a:t>
            </a:r>
          </a:p>
          <a:p>
            <a:pPr algn="l">
              <a:lnSpc>
                <a:spcPct val="104000"/>
              </a:lnSpc>
              <a:spcAft>
                <a:spcPts val="400"/>
              </a:spcAft>
            </a:pPr>
            <a:r>
              <a:rPr sz="1050" b="1">
                <a:solidFill>
                  <a:srgbClr val="1F2933"/>
                </a:solidFill>
                <a:latin typeface="Calibri"/>
              </a:rPr>
              <a:t>ACCOUNTABILITY</a:t>
            </a:r>
            <a:r>
              <a:rPr sz="1050" b="0">
                <a:solidFill>
                  <a:srgbClr val="1F2933"/>
                </a:solidFill>
                <a:latin typeface="Calibri"/>
              </a:rPr>
              <a:t> — “Why was this flagged?” is answered from a source-linked trail in seconds: report, page, changed field, drivers.</a:t>
            </a:r>
          </a:p>
          <a:p>
            <a:pPr algn="l">
              <a:lnSpc>
                <a:spcPct val="104000"/>
              </a:lnSpc>
              <a:spcAft>
                <a:spcPts val="400"/>
              </a:spcAft>
            </a:pPr>
            <a:r>
              <a:rPr sz="1050" b="1">
                <a:solidFill>
                  <a:srgbClr val="1F2933"/>
                </a:solidFill>
                <a:latin typeface="Calibri"/>
              </a:rPr>
              <a:t>ENVIRONMENTAL</a:t>
            </a:r>
            <a:r>
              <a:rPr sz="1050" b="0">
                <a:solidFill>
                  <a:srgbClr val="1F2933"/>
                </a:solidFill>
                <a:latin typeface="Calibri"/>
              </a:rPr>
              <a:t> — earlier action on stalled civil works cuts re-mobilisation, idle machinery and rework, where a delayed project's emissions sit.</a:t>
            </a:r>
          </a:p>
          <a:p>
            <a:pPr algn="l">
              <a:lnSpc>
                <a:spcPct val="104000"/>
              </a:lnSpc>
              <a:spcAft>
                <a:spcPts val="400"/>
              </a:spcAft>
            </a:pPr>
            <a:r>
              <a:rPr sz="1050" b="1">
                <a:solidFill>
                  <a:srgbClr val="1F2933"/>
                </a:solidFill>
                <a:latin typeface="Calibri"/>
              </a:rPr>
              <a:t>REUSABLE</a:t>
            </a:r>
            <a:r>
              <a:rPr sz="1050" b="0">
                <a:solidFill>
                  <a:srgbClr val="1F2933"/>
                </a:solidFill>
                <a:latin typeface="Calibri"/>
              </a:rPr>
              <a:t> — document-driven by design, so the same engine serves the 22 sectors here and any state portfolio that publishes monthly reports.</a:t>
            </a:r>
          </a:p>
        </p:txBody>
      </p:sp>
      <p:sp>
        <p:nvSpPr>
          <p:cNvPr id="17438" name="Rounded Rectangle 17437"/>
          <p:cNvSpPr/>
          <p:nvPr/>
        </p:nvSpPr>
        <p:spPr>
          <a:xfrm>
            <a:off x="6400800" y="3401568"/>
            <a:ext cx="5330952" cy="1170432"/>
          </a:xfrm>
          <a:prstGeom prst="roundRect">
            <a:avLst>
              <a:gd name="adj" fmla="val 6000"/>
            </a:avLst>
          </a:prstGeom>
          <a:solidFill>
            <a:srgbClr val="F2F7FC"/>
          </a:solidFill>
          <a:ln w="9525">
            <a:solidFill>
              <a:srgbClr val="C5DC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439" name="TextBox 17438"/>
          <p:cNvSpPr txBox="1"/>
          <p:nvPr/>
        </p:nvSpPr>
        <p:spPr>
          <a:xfrm>
            <a:off x="6528816" y="3493008"/>
            <a:ext cx="5074920" cy="1024128"/>
          </a:xfrm>
          <a:prstGeom prst="rect">
            <a:avLst/>
          </a:prstGeom>
          <a:noFill/>
        </p:spPr>
        <p:txBody>
          <a:bodyPr wrap="square" lIns="0" rIns="0" tIns="0" bIns="0" anchor="t">
            <a:spAutoFit/>
          </a:bodyPr>
          <a:lstStyle/>
          <a:p>
            <a:pPr algn="l">
              <a:lnSpc>
                <a:spcPct val="103000"/>
              </a:lnSpc>
              <a:spcAft>
                <a:spcPts val="400"/>
              </a:spcAft>
            </a:pPr>
            <a:r>
              <a:rPr sz="900" b="1">
                <a:solidFill>
                  <a:srgbClr val="0070C0"/>
                </a:solidFill>
                <a:latin typeface="Calibri"/>
              </a:rPr>
              <a:t>PILOT SCORECARD — TO BE MEASURED WITH MoSPI</a:t>
            </a:r>
          </a:p>
          <a:p>
            <a:pPr algn="l">
              <a:lnSpc>
                <a:spcPct val="103000"/>
              </a:lnSpc>
              <a:spcAft>
                <a:spcPts val="400"/>
              </a:spcAft>
            </a:pPr>
            <a:r>
              <a:rPr sz="1050" b="0">
                <a:solidFill>
                  <a:srgbClr val="1F2933"/>
                </a:solidFill>
                <a:latin typeface="Calibri"/>
              </a:rPr>
              <a:t>precision@K within staff capacity  ·  warning lead time before the reported change  ·  reviewer effort and dispositions per case. No saving and no delay reduction is claimed until it has been measured on real review cycles.</a:t>
            </a:r>
          </a:p>
          <a:p>
            <a:pPr algn="l">
              <a:lnSpc>
                <a:spcPct val="103000"/>
              </a:lnSpc>
              <a:spcAft>
                <a:spcPts val="400"/>
              </a:spcAft>
            </a:pPr>
            <a:r>
              <a:rPr sz="900" b="1">
                <a:solidFill>
                  <a:srgbClr val="102A43"/>
                </a:solidFill>
                <a:latin typeface="Calibri"/>
              </a:rPr>
              <a:t>WHO DECIDES: authorized officials. PARAKH ranks and explains; it never acts.</a:t>
            </a:r>
          </a:p>
        </p:txBody>
      </p:sp>
      <p:sp>
        <p:nvSpPr>
          <p:cNvPr id="17440" name="Rounded Rectangle 17439"/>
          <p:cNvSpPr/>
          <p:nvPr/>
        </p:nvSpPr>
        <p:spPr>
          <a:xfrm>
            <a:off x="6400800" y="4681728"/>
            <a:ext cx="5330952" cy="877824"/>
          </a:xfrm>
          <a:prstGeom prst="roundRect">
            <a:avLst>
              <a:gd name="adj" fmla="val 6000"/>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441" name="TextBox 17440"/>
          <p:cNvSpPr txBox="1"/>
          <p:nvPr/>
        </p:nvSpPr>
        <p:spPr>
          <a:xfrm>
            <a:off x="6547104" y="4809744"/>
            <a:ext cx="5038344" cy="658368"/>
          </a:xfrm>
          <a:prstGeom prst="rect">
            <a:avLst/>
          </a:prstGeom>
          <a:noFill/>
        </p:spPr>
        <p:txBody>
          <a:bodyPr wrap="square" lIns="0" rIns="0" tIns="0" bIns="0" anchor="t">
            <a:spAutoFit/>
          </a:bodyPr>
          <a:lstStyle/>
          <a:p>
            <a:pPr algn="l">
              <a:lnSpc>
                <a:spcPct val="103000"/>
              </a:lnSpc>
              <a:spcAft>
                <a:spcPts val="100"/>
              </a:spcAft>
            </a:pPr>
            <a:r>
              <a:rPr sz="900" b="1">
                <a:solidFill>
                  <a:srgbClr val="FFFFFF"/>
                </a:solidFill>
                <a:latin typeface="Calibri"/>
              </a:rPr>
              <a:t>SUCCESS, IN ONE SENTENCE  </a:t>
            </a:r>
          </a:p>
          <a:p>
            <a:pPr algn="l">
              <a:lnSpc>
                <a:spcPct val="103000"/>
              </a:lnSpc>
              <a:spcAft>
                <a:spcPts val="0"/>
              </a:spcAft>
            </a:pPr>
            <a:r>
              <a:rPr sz="900" b="0">
                <a:solidFill>
                  <a:srgbClr val="D8E6F2"/>
                </a:solidFill>
                <a:latin typeface="Calibri"/>
              </a:rPr>
              <a:t>The measure of this system is that a monitoring cell's first hour goes to the 193 riskiest projects instead of page one of a 400-page report — and nothing on that screen is a number it cannot trace.</a:t>
            </a:r>
          </a:p>
        </p:txBody>
      </p:sp>
    </p:spTree>
    <p:extLst>
      <p:ext uri="{BB962C8B-B14F-4D97-AF65-F5344CB8AC3E}">
        <p14:creationId xmlns:p14="http://schemas.microsoft.com/office/powerpoint/2010/main" val="29971441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0504D">
                  <a:lumMod val="75000"/>
                </a:srgbClr>
              </a:solidFill>
              <a:effectLst/>
              <a:uLnTx/>
              <a:uFillTx/>
              <a:latin typeface="Calibri"/>
              <a:ea typeface="ＭＳ Ｐゴシック" pitchFamily="1" charset="-128"/>
              <a:cs typeface="+mn-cs"/>
            </a:endParaRPr>
          </a:p>
        </p:txBody>
      </p:sp>
      <p:sp>
        <p:nvSpPr>
          <p:cNvPr id="17409" name="Title 1"/>
          <p:cNvSpPr>
            <a:spLocks noGrp="1"/>
          </p:cNvSpPr>
          <p:nvPr>
            <p:ph type="title"/>
          </p:nvPr>
        </p:nvSpPr>
        <p:spPr>
          <a:xfrm>
            <a:off x="1783080" y="128016"/>
            <a:ext cx="9509760" cy="658368"/>
          </a:xfrm>
        </p:spPr>
        <p:txBody>
          <a:bodyPr wrap="square" anchor="ctr"/>
          <a:lstStyle/>
          <a:p>
            <a:pPr eaLnBrk="1" hangingPunct="1" algn="l"/>
            <a:r>
              <a:rPr sz="3000" b="1">
                <a:solidFill>
                  <a:srgbClr val="102A43"/>
                </a:solidFill>
                <a:latin typeface="Times New Roman"/>
              </a:rPr>
              <a:t>RESEARCH AND REFERENCES</a:t>
            </a:r>
          </a:p>
        </p:txBody>
      </p:sp>
      <p:sp>
        <p:nvSpPr>
          <p:cNvPr id="6" name="Slide Number Placeholder 5"/>
          <p:cNvSpPr>
            <a:spLocks noGrp="1"/>
          </p:cNvSpPr>
          <p:nvPr>
            <p:ph type="sldNum" sz="quarter" idx="12"/>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677C3CE7-23F7-4828-823C-E0205DF2CF97}" type="slidenum">
              <a:rPr kumimoji="0" lang="en-US" sz="1200" b="1" i="0" u="none" strike="noStrike" kern="1200" cap="none" spc="0" normalizeH="0" baseline="0" noProof="0">
                <a:ln>
                  <a:noFill/>
                </a:ln>
                <a:solidFill>
                  <a:prstClr val="white"/>
                </a:solidFill>
                <a:effectLst/>
                <a:uLnTx/>
                <a:uFillTx/>
                <a:latin typeface="TradeGothic" pitchFamily="1"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6</a:t>
            </a:fld>
            <a:endParaRPr kumimoji="0" lang="en-US" sz="1200" b="1" i="0" u="none" strike="noStrike" kern="1200" cap="none" spc="0" normalizeH="0" baseline="0" noProof="0" dirty="0">
              <a:ln>
                <a:noFill/>
              </a:ln>
              <a:solidFill>
                <a:prstClr val="white"/>
              </a:solidFill>
              <a:effectLst/>
              <a:uLnTx/>
              <a:uFillTx/>
              <a:latin typeface="TradeGothic" pitchFamily="1" charset="0"/>
              <a:ea typeface="ＭＳ Ｐゴシック" pitchFamily="1" charset="-128"/>
              <a:cs typeface="+mn-cs"/>
            </a:endParaRPr>
          </a:p>
        </p:txBody>
      </p:sp>
      <p:sp>
        <p:nvSpPr>
          <p:cNvPr id="7" name="Footer Placeholder 6"/>
          <p:cNvSpPr>
            <a:spLocks noGrp="1"/>
          </p:cNvSpPr>
          <p:nvPr>
            <p:ph type="ftr" sz="quarter" idx="11"/>
          </p:nvPr>
        </p:nvSpPr>
        <p:spPr>
          <a:xfrm>
            <a:off x="4648200" y="6356353"/>
            <a:ext cx="3204000" cy="365125"/>
          </a:xfrm>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TradeGothic"/>
                <a:ea typeface="+mn-ea"/>
                <a:cs typeface="+mn-cs"/>
              </a:rPr>
              <a:t>@SIH Idea submission- Template</a:t>
            </a:r>
            <a:endParaRPr kumimoji="0" lang="en-US" sz="1200" b="0" i="0" u="none" strike="noStrike" kern="1200" cap="none" spc="0" normalizeH="0" baseline="0" noProof="0" dirty="0">
              <a:ln>
                <a:noFill/>
              </a:ln>
              <a:solidFill>
                <a:prstClr val="white"/>
              </a:solidFill>
              <a:effectLst/>
              <a:uLnTx/>
              <a:uFillTx/>
              <a:latin typeface="TradeGothic"/>
              <a:ea typeface="+mn-ea"/>
              <a:cs typeface="+mn-cs"/>
            </a:endParaRPr>
          </a:p>
        </p:txBody>
      </p:sp>
      <p:sp>
        <p:nvSpPr>
          <p:cNvPr id="9" name="Oval 8"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xmlns=""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sz="850" b="1">
                <a:solidFill>
                  <a:srgbClr val="102A43"/>
                </a:solidFill>
                <a:latin typeface="Calibri"/>
              </a:rPr>
              <a:t>[Team name as on portal]</a:t>
            </a:r>
            <a:endParaRPr lang="en-IN" dirty="0"/>
          </a:p>
        </p:txBody>
      </p:sp>
      <p:pic>
        <p:nvPicPr>
          <p:cNvPr id="12" name="Picture 1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
        <p:nvSpPr>
          <p:cNvPr id="17410" name="TextBox 17409"/>
          <p:cNvSpPr txBox="1"/>
          <p:nvPr/>
        </p:nvSpPr>
        <p:spPr>
          <a:xfrm>
            <a:off x="1783080" y="786384"/>
            <a:ext cx="9509760" cy="237744"/>
          </a:xfrm>
          <a:prstGeom prst="rect">
            <a:avLst/>
          </a:prstGeom>
          <a:noFill/>
        </p:spPr>
        <p:txBody>
          <a:bodyPr wrap="square" lIns="0" rIns="0" tIns="0" bIns="0" anchor="t">
            <a:spAutoFit/>
          </a:bodyPr>
          <a:lstStyle/>
          <a:p>
            <a:pPr algn="l">
              <a:lnSpc>
                <a:spcPct val="105000"/>
              </a:lnSpc>
              <a:spcAft>
                <a:spcPts val="0"/>
              </a:spcAft>
            </a:pPr>
            <a:r>
              <a:rPr sz="1150" b="0">
                <a:solidFill>
                  <a:srgbClr val="5B6B7B"/>
                </a:solidFill>
                <a:latin typeface="Calibri"/>
              </a:rPr>
              <a:t>Every number in this deck traces to a public report or to a checked-in artifact of the submitted prototype.</a:t>
            </a:r>
          </a:p>
        </p:txBody>
      </p:sp>
      <p:sp>
        <p:nvSpPr>
          <p:cNvPr id="17411" name="TextBox 17410"/>
          <p:cNvSpPr txBox="1"/>
          <p:nvPr/>
        </p:nvSpPr>
        <p:spPr>
          <a:xfrm>
            <a:off x="457200" y="1115568"/>
            <a:ext cx="3703320" cy="182880"/>
          </a:xfrm>
          <a:prstGeom prst="rect">
            <a:avLst/>
          </a:prstGeom>
          <a:noFill/>
        </p:spPr>
        <p:txBody>
          <a:bodyPr wrap="square" lIns="0" rIns="0" tIns="0" bIns="0" anchor="t">
            <a:spAutoFit/>
          </a:bodyPr>
          <a:lstStyle/>
          <a:p>
            <a:pPr algn="l">
              <a:lnSpc>
                <a:spcPct val="105000"/>
              </a:lnSpc>
              <a:spcAft>
                <a:spcPts val="0"/>
              </a:spcAft>
            </a:pPr>
            <a:r>
              <a:rPr sz="950" b="1">
                <a:solidFill>
                  <a:srgbClr val="0070C0"/>
                </a:solidFill>
                <a:latin typeface="Calibri"/>
              </a:rPr>
              <a:t>DATA AND PROBLEM STATEMENT</a:t>
            </a:r>
          </a:p>
        </p:txBody>
      </p:sp>
      <p:sp>
        <p:nvSpPr>
          <p:cNvPr id="17412" name="Rectangle 17411"/>
          <p:cNvSpPr/>
          <p:nvPr/>
        </p:nvSpPr>
        <p:spPr>
          <a:xfrm>
            <a:off x="457200" y="1303020"/>
            <a:ext cx="3703320" cy="20117"/>
          </a:xfrm>
          <a:prstGeom prst="rect">
            <a:avLst/>
          </a:prstGeom>
          <a:solidFill>
            <a:srgbClr val="C5DC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413" name="TextBox 17412"/>
          <p:cNvSpPr txBox="1"/>
          <p:nvPr/>
        </p:nvSpPr>
        <p:spPr>
          <a:xfrm>
            <a:off x="457200" y="1408176"/>
            <a:ext cx="3703320" cy="3474720"/>
          </a:xfrm>
          <a:prstGeom prst="rect">
            <a:avLst/>
          </a:prstGeom>
          <a:noFill/>
        </p:spPr>
        <p:txBody>
          <a:bodyPr wrap="square" lIns="0" rIns="0" tIns="0" bIns="0" anchor="t">
            <a:spAutoFit/>
          </a:bodyPr>
          <a:lstStyle/>
          <a:p>
            <a:pPr algn="l">
              <a:lnSpc>
                <a:spcPct val="104000"/>
              </a:lnSpc>
              <a:spcAft>
                <a:spcPts val="400"/>
              </a:spcAft>
            </a:pPr>
            <a:r>
              <a:rPr sz="1050" b="1">
                <a:solidFill>
                  <a:srgbClr val="102A43"/>
                </a:solidFill>
                <a:latin typeface="Calibri"/>
              </a:rPr>
              <a:t>MoSPI — PAIMANA Flash Report, April 2026</a:t>
            </a:r>
          </a:p>
          <a:p>
            <a:pPr algn="l">
              <a:lnSpc>
                <a:spcPct val="104000"/>
              </a:lnSpc>
              <a:spcAft>
                <a:spcPts val="400"/>
              </a:spcAft>
            </a:pPr>
            <a:r>
              <a:rPr sz="1050" b="0">
                <a:solidFill>
                  <a:srgbClr val="1F2933"/>
                </a:solidFill>
                <a:latin typeface="Calibri"/>
              </a:rPr>
              <a:t>1,981 ongoing projects · 17 Central Ministries/Departments · 22 infrastructure sectors · ₹37.13 lakh crore original cost · ₹42.78 lakh crore revised cost · ₹20.36 lakh crore cumulative expenditure. Projects of ₹150 crore and above.</a:t>
            </a:r>
          </a:p>
          <a:p>
            <a:pPr algn="l">
              <a:lnSpc>
                <a:spcPct val="104000"/>
              </a:lnSpc>
              <a:spcAft>
                <a:spcPts val="400"/>
              </a:spcAft>
            </a:pPr>
            <a:r>
              <a:rPr sz="1050" b="0">
                <a:solidFill>
                  <a:srgbClr val="1F2933"/>
                </a:solidFill>
                <a:latin typeface="Calibri"/>
              </a:rPr>
              <a:t>https://paimana-proj.mospi.gov.in/ReportPage</a:t>
            </a:r>
          </a:p>
          <a:p>
            <a:pPr algn="l">
              <a:lnSpc>
                <a:spcPct val="104000"/>
              </a:lnSpc>
              <a:spcAft>
                <a:spcPts val="400"/>
              </a:spcAft>
            </a:pPr>
            <a:r>
              <a:rPr sz="1050" b="1">
                <a:solidFill>
                  <a:srgbClr val="102A43"/>
                </a:solidFill>
                <a:latin typeface="Calibri"/>
              </a:rPr>
              <a:t>OCMS (2006) → PAIMANA — two decades of project-level history</a:t>
            </a:r>
          </a:p>
          <a:p>
            <a:pPr algn="l">
              <a:lnSpc>
                <a:spcPct val="104000"/>
              </a:lnSpc>
              <a:spcAft>
                <a:spcPts val="400"/>
              </a:spcAft>
            </a:pPr>
            <a:r>
              <a:rPr sz="1050" b="0">
                <a:solidFill>
                  <a:srgbClr val="1F2933"/>
                </a:solidFill>
                <a:latin typeface="Calibri"/>
              </a:rPr>
              <a:t>Cost, expenditure, timelines, physical progress, milestones, implementing agencies and status, updated monthly through role-based access and APIs — the training ground and the operating surface for the models.</a:t>
            </a:r>
          </a:p>
          <a:p>
            <a:pPr algn="l">
              <a:lnSpc>
                <a:spcPct val="104000"/>
              </a:lnSpc>
              <a:spcAft>
                <a:spcPts val="400"/>
              </a:spcAft>
            </a:pPr>
            <a:r>
              <a:rPr sz="1050" b="1">
                <a:solidFill>
                  <a:srgbClr val="102A43"/>
                </a:solidFill>
                <a:latin typeface="Calibri"/>
              </a:rPr>
              <a:t>SIH 2026 — Problem Statement 26103</a:t>
            </a:r>
          </a:p>
          <a:p>
            <a:pPr algn="l">
              <a:lnSpc>
                <a:spcPct val="104000"/>
              </a:lnSpc>
              <a:spcAft>
                <a:spcPts val="400"/>
              </a:spcAft>
            </a:pPr>
            <a:r>
              <a:rPr sz="1050" b="0">
                <a:solidFill>
                  <a:srgbClr val="1F2933"/>
                </a:solidFill>
                <a:latin typeface="Calibri"/>
              </a:rPr>
              <a:t>MoSPI · Data Informatics &amp; Innovation Division (DIID). PAIMANA operations: Infrastructure &amp; Project Monitoring Division (IPMD). Scope: predictive and prescriptive monitoring, comparison with conventional methods, and models built on the existing CUF fields.</a:t>
            </a:r>
          </a:p>
        </p:txBody>
      </p:sp>
      <p:sp>
        <p:nvSpPr>
          <p:cNvPr id="17414" name="TextBox 17413"/>
          <p:cNvSpPr txBox="1"/>
          <p:nvPr/>
        </p:nvSpPr>
        <p:spPr>
          <a:xfrm>
            <a:off x="4343400" y="1115568"/>
            <a:ext cx="3703320" cy="182880"/>
          </a:xfrm>
          <a:prstGeom prst="rect">
            <a:avLst/>
          </a:prstGeom>
          <a:noFill/>
        </p:spPr>
        <p:txBody>
          <a:bodyPr wrap="square" lIns="0" rIns="0" tIns="0" bIns="0" anchor="t">
            <a:spAutoFit/>
          </a:bodyPr>
          <a:lstStyle/>
          <a:p>
            <a:pPr algn="l">
              <a:lnSpc>
                <a:spcPct val="105000"/>
              </a:lnSpc>
              <a:spcAft>
                <a:spcPts val="0"/>
              </a:spcAft>
            </a:pPr>
            <a:r>
              <a:rPr sz="950" b="1">
                <a:solidFill>
                  <a:srgbClr val="0070C0"/>
                </a:solidFill>
                <a:latin typeface="Calibri"/>
              </a:rPr>
              <a:t>METHOD FOUNDATIONS</a:t>
            </a:r>
          </a:p>
        </p:txBody>
      </p:sp>
      <p:sp>
        <p:nvSpPr>
          <p:cNvPr id="17415" name="Rectangle 17414"/>
          <p:cNvSpPr/>
          <p:nvPr/>
        </p:nvSpPr>
        <p:spPr>
          <a:xfrm>
            <a:off x="4343400" y="1303020"/>
            <a:ext cx="3703320" cy="20117"/>
          </a:xfrm>
          <a:prstGeom prst="rect">
            <a:avLst/>
          </a:prstGeom>
          <a:solidFill>
            <a:srgbClr val="C5DC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416" name="TextBox 17415"/>
          <p:cNvSpPr txBox="1"/>
          <p:nvPr/>
        </p:nvSpPr>
        <p:spPr>
          <a:xfrm>
            <a:off x="4343400" y="1408176"/>
            <a:ext cx="3703320" cy="3474720"/>
          </a:xfrm>
          <a:prstGeom prst="rect">
            <a:avLst/>
          </a:prstGeom>
          <a:noFill/>
        </p:spPr>
        <p:txBody>
          <a:bodyPr wrap="square" lIns="0" rIns="0" tIns="0" bIns="0" anchor="t">
            <a:spAutoFit/>
          </a:bodyPr>
          <a:lstStyle/>
          <a:p>
            <a:pPr algn="l">
              <a:lnSpc>
                <a:spcPct val="104000"/>
              </a:lnSpc>
              <a:spcAft>
                <a:spcPts val="400"/>
              </a:spcAft>
            </a:pPr>
            <a:r>
              <a:rPr sz="1050" b="1">
                <a:solidFill>
                  <a:srgbClr val="102A43"/>
                </a:solidFill>
                <a:latin typeface="Calibri"/>
              </a:rPr>
              <a:t>Chen &amp; Guestrin (2016).</a:t>
            </a:r>
          </a:p>
          <a:p>
            <a:pPr algn="l">
              <a:lnSpc>
                <a:spcPct val="104000"/>
              </a:lnSpc>
              <a:spcAft>
                <a:spcPts val="400"/>
              </a:spcAft>
            </a:pPr>
            <a:r>
              <a:rPr sz="1050" b="0">
                <a:solidFill>
                  <a:srgbClr val="1F2933"/>
                </a:solidFill>
                <a:latin typeface="Calibri"/>
              </a:rPr>
              <a:t>XGBoost: A Scalable Tree Boosting System. KDD.</a:t>
            </a:r>
          </a:p>
          <a:p>
            <a:pPr algn="l">
              <a:lnSpc>
                <a:spcPct val="104000"/>
              </a:lnSpc>
              <a:spcAft>
                <a:spcPts val="400"/>
              </a:spcAft>
            </a:pPr>
            <a:r>
              <a:rPr sz="1050" b="1">
                <a:solidFill>
                  <a:srgbClr val="102A43"/>
                </a:solidFill>
                <a:latin typeface="Calibri"/>
              </a:rPr>
              <a:t>Lundberg &amp; Lee (2017).</a:t>
            </a:r>
          </a:p>
          <a:p>
            <a:pPr algn="l">
              <a:lnSpc>
                <a:spcPct val="104000"/>
              </a:lnSpc>
              <a:spcAft>
                <a:spcPts val="400"/>
              </a:spcAft>
            </a:pPr>
            <a:r>
              <a:rPr sz="1050" b="0">
                <a:solidFill>
                  <a:srgbClr val="1F2933"/>
                </a:solidFill>
                <a:latin typeface="Calibri"/>
              </a:rPr>
              <a:t>A Unified Approach to Interpreting Model Predictions. NeurIPS — TreeSHAP gives an exact additive attribution, not an approximation.</a:t>
            </a:r>
          </a:p>
          <a:p>
            <a:pPr algn="l">
              <a:lnSpc>
                <a:spcPct val="104000"/>
              </a:lnSpc>
              <a:spcAft>
                <a:spcPts val="400"/>
              </a:spcAft>
            </a:pPr>
            <a:r>
              <a:rPr sz="1050" b="1">
                <a:solidFill>
                  <a:srgbClr val="102A43"/>
                </a:solidFill>
                <a:latin typeface="Calibri"/>
              </a:rPr>
              <a:t>Saito &amp; Rehmsmeier (2015).</a:t>
            </a:r>
          </a:p>
          <a:p>
            <a:pPr algn="l">
              <a:lnSpc>
                <a:spcPct val="104000"/>
              </a:lnSpc>
              <a:spcAft>
                <a:spcPts val="400"/>
              </a:spcAft>
            </a:pPr>
            <a:r>
              <a:rPr sz="1050" b="0">
                <a:solidFill>
                  <a:srgbClr val="1F2933"/>
                </a:solidFill>
                <a:latin typeface="Calibri"/>
              </a:rPr>
              <a:t>The Precision–Recall Plot Is More Informative than the ROC Plot for Imbalanced Data. PLoS ONE — why rare outcomes are reported with PR-AUC beside the base rate.</a:t>
            </a:r>
          </a:p>
          <a:p>
            <a:pPr algn="l">
              <a:lnSpc>
                <a:spcPct val="104000"/>
              </a:lnSpc>
              <a:spcAft>
                <a:spcPts val="400"/>
              </a:spcAft>
            </a:pPr>
            <a:r>
              <a:rPr sz="1050" b="1">
                <a:solidFill>
                  <a:srgbClr val="102A43"/>
                </a:solidFill>
                <a:latin typeface="Calibri"/>
              </a:rPr>
              <a:t>Flyvbjerg, Bruzelius &amp; Rothengatter (2003).</a:t>
            </a:r>
          </a:p>
          <a:p>
            <a:pPr algn="l">
              <a:lnSpc>
                <a:spcPct val="104000"/>
              </a:lnSpc>
              <a:spcAft>
                <a:spcPts val="400"/>
              </a:spcAft>
            </a:pPr>
            <a:r>
              <a:rPr sz="1050" b="0">
                <a:solidFill>
                  <a:srgbClr val="1F2933"/>
                </a:solidFill>
                <a:latin typeface="Calibri"/>
              </a:rPr>
              <a:t>Megaprojects and Risk. Cambridge University Press — the reference frame for cost overrun and optimism bias in large public projects.</a:t>
            </a:r>
          </a:p>
          <a:p>
            <a:pPr algn="l">
              <a:lnSpc>
                <a:spcPct val="104000"/>
              </a:lnSpc>
              <a:spcAft>
                <a:spcPts val="400"/>
              </a:spcAft>
            </a:pPr>
            <a:r>
              <a:rPr sz="1050" b="1">
                <a:solidFill>
                  <a:srgbClr val="102A43"/>
                </a:solidFill>
                <a:latin typeface="Calibri"/>
              </a:rPr>
              <a:t>Hyndman &amp; Athanasopoulos.</a:t>
            </a:r>
          </a:p>
          <a:p>
            <a:pPr algn="l">
              <a:lnSpc>
                <a:spcPct val="104000"/>
              </a:lnSpc>
              <a:spcAft>
                <a:spcPts val="400"/>
              </a:spcAft>
            </a:pPr>
            <a:r>
              <a:rPr sz="1050" b="0">
                <a:solidFill>
                  <a:srgbClr val="1F2933"/>
                </a:solidFill>
                <a:latin typeface="Calibri"/>
              </a:rPr>
              <a:t>Forecasting: Principles and Practice. OTexts — the ordered holdout discipline used for every number quoted here.</a:t>
            </a:r>
          </a:p>
        </p:txBody>
      </p:sp>
      <p:sp>
        <p:nvSpPr>
          <p:cNvPr id="17417" name="TextBox 17416"/>
          <p:cNvSpPr txBox="1"/>
          <p:nvPr/>
        </p:nvSpPr>
        <p:spPr>
          <a:xfrm>
            <a:off x="8229600" y="1115568"/>
            <a:ext cx="3502152" cy="182880"/>
          </a:xfrm>
          <a:prstGeom prst="rect">
            <a:avLst/>
          </a:prstGeom>
          <a:noFill/>
        </p:spPr>
        <p:txBody>
          <a:bodyPr wrap="square" lIns="0" rIns="0" tIns="0" bIns="0" anchor="t">
            <a:spAutoFit/>
          </a:bodyPr>
          <a:lstStyle/>
          <a:p>
            <a:pPr algn="l">
              <a:lnSpc>
                <a:spcPct val="105000"/>
              </a:lnSpc>
              <a:spcAft>
                <a:spcPts val="0"/>
              </a:spcAft>
            </a:pPr>
            <a:r>
              <a:rPr sz="950" b="1">
                <a:solidFill>
                  <a:srgbClr val="0070C0"/>
                </a:solidFill>
                <a:latin typeface="Calibri"/>
              </a:rPr>
              <a:t>EVIDENCE, CODE AND DEPLOYMENT</a:t>
            </a:r>
          </a:p>
        </p:txBody>
      </p:sp>
      <p:sp>
        <p:nvSpPr>
          <p:cNvPr id="17418" name="Rectangle 17417"/>
          <p:cNvSpPr/>
          <p:nvPr/>
        </p:nvSpPr>
        <p:spPr>
          <a:xfrm>
            <a:off x="8229600" y="1303020"/>
            <a:ext cx="3502152" cy="20117"/>
          </a:xfrm>
          <a:prstGeom prst="rect">
            <a:avLst/>
          </a:prstGeom>
          <a:solidFill>
            <a:srgbClr val="C5DC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419" name="TextBox 17418"/>
          <p:cNvSpPr txBox="1"/>
          <p:nvPr/>
        </p:nvSpPr>
        <p:spPr>
          <a:xfrm>
            <a:off x="8229600" y="1408176"/>
            <a:ext cx="3502152" cy="3474720"/>
          </a:xfrm>
          <a:prstGeom prst="rect">
            <a:avLst/>
          </a:prstGeom>
          <a:noFill/>
        </p:spPr>
        <p:txBody>
          <a:bodyPr wrap="square" lIns="0" rIns="0" tIns="0" bIns="0" anchor="t">
            <a:spAutoFit/>
          </a:bodyPr>
          <a:lstStyle/>
          <a:p>
            <a:pPr algn="l">
              <a:lnSpc>
                <a:spcPct val="104000"/>
              </a:lnSpc>
              <a:spcAft>
                <a:spcPts val="400"/>
              </a:spcAft>
            </a:pPr>
            <a:r>
              <a:rPr sz="1050" b="1">
                <a:solidFill>
                  <a:srgbClr val="102A43"/>
                </a:solidFill>
                <a:latin typeface="Calibri"/>
              </a:rPr>
              <a:t>17 published monthly reports, Mar 2025 → Jul 2026</a:t>
            </a:r>
          </a:p>
          <a:p>
            <a:pPr algn="l">
              <a:lnSpc>
                <a:spcPct val="104000"/>
              </a:lnSpc>
              <a:spcAft>
                <a:spcPts val="400"/>
              </a:spcAft>
            </a:pPr>
            <a:r>
              <a:rPr sz="1050" b="0">
                <a:solidFill>
                  <a:srgbClr val="1F2933"/>
                </a:solidFill>
                <a:latin typeface="Calibri"/>
              </a:rPr>
              <a:t>Both OCMS and PAIMANA layouts. 2,522 pages, 25,180 rows, 0 failed extractions, 915 rows held for review, 7 reports clean end to end.</a:t>
            </a:r>
          </a:p>
          <a:p>
            <a:pPr algn="l">
              <a:lnSpc>
                <a:spcPct val="104000"/>
              </a:lnSpc>
              <a:spcAft>
                <a:spcPts val="400"/>
              </a:spcAft>
            </a:pPr>
            <a:r>
              <a:rPr sz="1050" b="1">
                <a:solidFill>
                  <a:srgbClr val="102A43"/>
                </a:solidFill>
                <a:latin typeface="Calibri"/>
              </a:rPr>
              <a:t>Reconciliation to the department's own figures</a:t>
            </a:r>
          </a:p>
          <a:p>
            <a:pPr algn="l">
              <a:lnSpc>
                <a:spcPct val="104000"/>
              </a:lnSpc>
              <a:spcAft>
                <a:spcPts val="400"/>
              </a:spcAft>
            </a:pPr>
            <a:r>
              <a:rPr sz="1050" b="0">
                <a:solidFill>
                  <a:srgbClr val="1F2933"/>
                </a:solidFill>
                <a:latin typeface="Calibri"/>
              </a:rPr>
              <a:t>11 of the 13 current-format reports match their own printed totals exactly — project count and all three financial totals. The earliest legacy-layout reports keep a disclosed gap rather than a silent fix.</a:t>
            </a:r>
          </a:p>
          <a:p>
            <a:pPr algn="l">
              <a:lnSpc>
                <a:spcPct val="104000"/>
              </a:lnSpc>
              <a:spcAft>
                <a:spcPts val="400"/>
              </a:spcAft>
            </a:pPr>
            <a:r>
              <a:rPr sz="1050" b="1">
                <a:solidFill>
                  <a:srgbClr val="102A43"/>
                </a:solidFill>
                <a:latin typeface="Calibri"/>
              </a:rPr>
              <a:t>Reference implementation</a:t>
            </a:r>
          </a:p>
          <a:p>
            <a:pPr algn="l">
              <a:lnSpc>
                <a:spcPct val="104000"/>
              </a:lnSpc>
              <a:spcAft>
                <a:spcPts val="400"/>
              </a:spcAft>
            </a:pPr>
            <a:r>
              <a:rPr sz="1050" b="0">
                <a:solidFill>
                  <a:srgbClr val="1F2933"/>
                </a:solidFill>
                <a:latin typeface="Calibri"/>
              </a:rPr>
              <a:t>Python ingestion and quality checker · scikit-learn / XGBoost models with SHAP explanations · Next.js dashboard and API · Docker deployment. Open-source tools only.</a:t>
            </a:r>
          </a:p>
          <a:p>
            <a:pPr algn="l">
              <a:lnSpc>
                <a:spcPct val="104000"/>
              </a:lnSpc>
              <a:spcAft>
                <a:spcPts val="400"/>
              </a:spcAft>
            </a:pPr>
            <a:r>
              <a:rPr sz="1050" b="1">
                <a:solidFill>
                  <a:srgbClr val="102A43"/>
                </a:solidFill>
                <a:latin typeface="Calibri"/>
              </a:rPr>
              <a:t>Repository, demo and walkthrough</a:t>
            </a:r>
          </a:p>
          <a:p>
            <a:pPr algn="l">
              <a:lnSpc>
                <a:spcPct val="104000"/>
              </a:lnSpc>
              <a:spcAft>
                <a:spcPts val="400"/>
              </a:spcAft>
            </a:pPr>
            <a:r>
              <a:rPr sz="1050" b="0">
                <a:solidFill>
                  <a:srgbClr val="1F2933"/>
                </a:solidFill>
                <a:latin typeface="Calibri"/>
              </a:rPr>
              <a:t>[repository / demo link]  ·  [demo video link]</a:t>
            </a:r>
          </a:p>
        </p:txBody>
      </p:sp>
      <p:sp>
        <p:nvSpPr>
          <p:cNvPr id="17420" name="Rounded Rectangle 17419"/>
          <p:cNvSpPr/>
          <p:nvPr/>
        </p:nvSpPr>
        <p:spPr>
          <a:xfrm>
            <a:off x="457200" y="4956048"/>
            <a:ext cx="11274552" cy="804672"/>
          </a:xfrm>
          <a:prstGeom prst="roundRect">
            <a:avLst>
              <a:gd name="adj" fmla="val 6000"/>
            </a:avLst>
          </a:prstGeom>
          <a:solidFill>
            <a:srgbClr val="FBFDFF"/>
          </a:solidFill>
          <a:ln w="9525">
            <a:solidFill>
              <a:srgbClr val="C5DC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421" name="TextBox 17420"/>
          <p:cNvSpPr txBox="1"/>
          <p:nvPr/>
        </p:nvSpPr>
        <p:spPr>
          <a:xfrm>
            <a:off x="621792" y="5029200"/>
            <a:ext cx="10972800" cy="694944"/>
          </a:xfrm>
          <a:prstGeom prst="rect">
            <a:avLst/>
          </a:prstGeom>
          <a:noFill/>
        </p:spPr>
        <p:txBody>
          <a:bodyPr wrap="square" lIns="0" rIns="0" tIns="0" bIns="0" anchor="t">
            <a:spAutoFit/>
          </a:bodyPr>
          <a:lstStyle/>
          <a:p>
            <a:pPr algn="l">
              <a:lnSpc>
                <a:spcPct val="102000"/>
              </a:lnSpc>
              <a:spcAft>
                <a:spcPts val="400"/>
              </a:spcAft>
            </a:pPr>
            <a:r>
              <a:rPr sz="900" b="1">
                <a:solidFill>
                  <a:srgbClr val="0070C0"/>
                </a:solidFill>
                <a:latin typeface="Calibri"/>
              </a:rPr>
              <a:t>OPEN-SOURCE AND DEPLOYMENT STANDARDS</a:t>
            </a:r>
          </a:p>
          <a:p>
            <a:pPr algn="l">
              <a:lnSpc>
                <a:spcPct val="102000"/>
              </a:lnSpc>
              <a:spcAft>
                <a:spcPts val="400"/>
              </a:spcAft>
            </a:pPr>
            <a:r>
              <a:rPr sz="900" b="1">
                <a:solidFill>
                  <a:srgbClr val="1F2933"/>
                </a:solidFill>
                <a:latin typeface="Calibri"/>
              </a:rPr>
              <a:t>Tools</a:t>
            </a:r>
            <a:r>
              <a:rPr sz="900" b="0">
                <a:solidFill>
                  <a:srgbClr val="1F2933"/>
                </a:solidFill>
                <a:latin typeface="Calibri"/>
              </a:rPr>
              <a:t> — Python · scikit-learn · XGBoost · SHAP · Next.js · Docker: open source end to end, as the brief prefers.</a:t>
            </a:r>
          </a:p>
          <a:p>
            <a:pPr algn="l">
              <a:lnSpc>
                <a:spcPct val="102000"/>
              </a:lnSpc>
              <a:spcAft>
                <a:spcPts val="400"/>
              </a:spcAft>
            </a:pPr>
            <a:r>
              <a:rPr sz="900" b="1">
                <a:solidFill>
                  <a:srgbClr val="1F2933"/>
                </a:solidFill>
                <a:latin typeface="Calibri"/>
              </a:rPr>
              <a:t>Data and governance</a:t>
            </a:r>
            <a:r>
              <a:rPr sz="900" b="0">
                <a:solidFill>
                  <a:srgbClr val="1F2933"/>
                </a:solidFill>
                <a:latin typeface="Calibri"/>
              </a:rPr>
              <a:t> — published monthly reports only; no personal data, no live MoSPI access needed to pilot, and no write-back into PAIMANA.</a:t>
            </a:r>
          </a:p>
          <a:p>
            <a:pPr algn="l">
              <a:lnSpc>
                <a:spcPct val="102000"/>
              </a:lnSpc>
              <a:spcAft>
                <a:spcPts val="400"/>
              </a:spcAft>
            </a:pPr>
            <a:r>
              <a:rPr sz="900" b="1">
                <a:solidFill>
                  <a:srgbClr val="1F2933"/>
                </a:solidFill>
                <a:latin typeface="Calibri"/>
              </a:rPr>
              <a:t>Reproducibility</a:t>
            </a:r>
            <a:r>
              <a:rPr sz="900" b="0">
                <a:solidFill>
                  <a:srgbClr val="1F2933"/>
                </a:solidFill>
                <a:latin typeface="Calibri"/>
              </a:rPr>
              <a:t> — one command regenerates every number in this deck; runs are deterministic and version-pinned.</a:t>
            </a:r>
          </a:p>
        </p:txBody>
      </p:sp>
      <p:sp>
        <p:nvSpPr>
          <p:cNvPr id="17422" name="Rounded Rectangle 17421"/>
          <p:cNvSpPr/>
          <p:nvPr/>
        </p:nvSpPr>
        <p:spPr>
          <a:xfrm>
            <a:off x="457200" y="5833872"/>
            <a:ext cx="11274552" cy="502920"/>
          </a:xfrm>
          <a:prstGeom prst="roundRect">
            <a:avLst>
              <a:gd name="adj" fmla="val 6000"/>
            </a:avLst>
          </a:prstGeom>
          <a:solidFill>
            <a:srgbClr val="F2F7FC"/>
          </a:solidFill>
          <a:ln w="9525">
            <a:solidFill>
              <a:srgbClr val="C5DC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423" name="TextBox 17422"/>
          <p:cNvSpPr txBox="1"/>
          <p:nvPr/>
        </p:nvSpPr>
        <p:spPr>
          <a:xfrm>
            <a:off x="640080" y="5916168"/>
            <a:ext cx="10972800" cy="347472"/>
          </a:xfrm>
          <a:prstGeom prst="rect">
            <a:avLst/>
          </a:prstGeom>
          <a:noFill/>
        </p:spPr>
        <p:txBody>
          <a:bodyPr wrap="square" lIns="0" rIns="0" tIns="0" bIns="0" anchor="t">
            <a:spAutoFit/>
          </a:bodyPr>
          <a:lstStyle/>
          <a:p>
            <a:pPr algn="l">
              <a:lnSpc>
                <a:spcPct val="103000"/>
              </a:lnSpc>
              <a:spcAft>
                <a:spcPts val="400"/>
              </a:spcAft>
            </a:pPr>
            <a:r>
              <a:rPr sz="900" b="1">
                <a:solidFill>
                  <a:srgbClr val="0070C0"/>
                </a:solidFill>
                <a:latin typeface="Calibri"/>
              </a:rPr>
              <a:t>THE MEASURE OF SUCCESS  </a:t>
            </a:r>
          </a:p>
          <a:p>
            <a:pPr algn="l">
              <a:lnSpc>
                <a:spcPct val="103000"/>
              </a:lnSpc>
              <a:spcAft>
                <a:spcPts val="400"/>
              </a:spcAft>
            </a:pPr>
            <a:r>
              <a:rPr sz="900" b="0">
                <a:solidFill>
                  <a:srgbClr val="1F2933"/>
                </a:solidFill>
                <a:latin typeface="Calibri"/>
              </a:rPr>
              <a:t>— a monitoring cell opens the top of the queue first, every figure it sees names its source page, and the prediction is judged by the next monthly report rather than by a claim.</a:t>
            </a:r>
          </a:p>
        </p:txBody>
      </p:sp>
    </p:spTree>
    <p:extLst>
      <p:ext uri="{BB962C8B-B14F-4D97-AF65-F5344CB8AC3E}">
        <p14:creationId xmlns:p14="http://schemas.microsoft.com/office/powerpoint/2010/main" val="391678861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0504D">
                  <a:lumMod val="75000"/>
                </a:srgbClr>
              </a:solidFill>
              <a:effectLst/>
              <a:uLnTx/>
              <a:uFillTx/>
              <a:latin typeface="Calibri"/>
              <a:ea typeface="ＭＳ Ｐゴシック" pitchFamily="1" charset="-128"/>
              <a:cs typeface="+mn-cs"/>
            </a:endParaRPr>
          </a:p>
        </p:txBody>
      </p:sp>
      <p:sp>
        <p:nvSpPr>
          <p:cNvPr id="6" name="Slide Number Placeholder 5"/>
          <p:cNvSpPr>
            <a:spLocks noGrp="1"/>
          </p:cNvSpPr>
          <p:nvPr>
            <p:ph type="sldNum" sz="quarter" idx="12"/>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677C3CE7-23F7-4828-823C-E0205DF2CF97}" type="slidenum">
              <a:rPr kumimoji="0" lang="en-US" sz="1200" b="1" i="0" u="none" strike="noStrike" kern="1200" cap="none" spc="0" normalizeH="0" baseline="0" noProof="0">
                <a:ln>
                  <a:noFill/>
                </a:ln>
                <a:solidFill>
                  <a:prstClr val="white"/>
                </a:solidFill>
                <a:effectLst/>
                <a:uLnTx/>
                <a:uFillTx/>
                <a:latin typeface="TradeGothic" pitchFamily="1"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7</a:t>
            </a:fld>
            <a:endParaRPr kumimoji="0" lang="en-US" sz="1200" b="1" i="0" u="none" strike="noStrike" kern="1200" cap="none" spc="0" normalizeH="0" baseline="0" noProof="0" dirty="0">
              <a:ln>
                <a:noFill/>
              </a:ln>
              <a:solidFill>
                <a:prstClr val="white"/>
              </a:solidFill>
              <a:effectLst/>
              <a:uLnTx/>
              <a:uFillTx/>
              <a:latin typeface="TradeGothic" pitchFamily="1" charset="0"/>
              <a:ea typeface="ＭＳ Ｐゴシック" pitchFamily="1" charset="-128"/>
              <a:cs typeface="+mn-cs"/>
            </a:endParaRPr>
          </a:p>
        </p:txBody>
      </p:sp>
      <p:sp>
        <p:nvSpPr>
          <p:cNvPr id="7" name="Footer Placeholder 6"/>
          <p:cNvSpPr>
            <a:spLocks noGrp="1"/>
          </p:cNvSpPr>
          <p:nvPr>
            <p:ph type="ftr" sz="quarter" idx="11"/>
          </p:nvPr>
        </p:nvSpPr>
        <p:spPr>
          <a:xfrm>
            <a:off x="4648200" y="6356353"/>
            <a:ext cx="3204000" cy="365125"/>
          </a:xfrm>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TradeGothic"/>
                <a:ea typeface="+mn-ea"/>
                <a:cs typeface="+mn-cs"/>
              </a:rPr>
              <a:t>@SIH Idea submission- Template</a:t>
            </a:r>
            <a:endParaRPr kumimoji="0" lang="en-US" sz="1200" b="0" i="0" u="none" strike="noStrike" kern="1200" cap="none" spc="0" normalizeH="0" baseline="0" noProof="0" dirty="0">
              <a:ln>
                <a:noFill/>
              </a:ln>
              <a:solidFill>
                <a:prstClr val="white"/>
              </a:solidFill>
              <a:effectLst/>
              <a:uLnTx/>
              <a:uFillTx/>
              <a:latin typeface="TradeGothic"/>
              <a:ea typeface="+mn-ea"/>
              <a:cs typeface="+mn-cs"/>
            </a:endParaRPr>
          </a:p>
        </p:txBody>
      </p:sp>
      <p:sp>
        <p:nvSpPr>
          <p:cNvPr id="3" name="Round Diagonal Corner Rectangle 2"/>
          <p:cNvSpPr/>
          <p:nvPr/>
        </p:nvSpPr>
        <p:spPr>
          <a:xfrm>
            <a:off x="0" y="1791032"/>
            <a:ext cx="12192000" cy="4319200"/>
          </a:xfrm>
          <a:prstGeom prst="round2DiagRect">
            <a:avLst/>
          </a:prstGeom>
          <a:solidFill>
            <a:schemeClr val="accent1">
              <a:lumMod val="20000"/>
              <a:lumOff val="80000"/>
            </a:schemeClr>
          </a:solidFill>
          <a:ln w="38100"/>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12" name="Google Shape;100;p3"/>
          <p:cNvSpPr txBox="1"/>
          <p:nvPr/>
        </p:nvSpPr>
        <p:spPr>
          <a:xfrm>
            <a:off x="367832" y="1915454"/>
            <a:ext cx="11764736" cy="4070356"/>
          </a:xfrm>
          <a:prstGeom prst="rect">
            <a:avLst/>
          </a:prstGeom>
          <a:noFill/>
          <a:ln>
            <a:noFill/>
          </a:ln>
        </p:spPr>
        <p:txBody>
          <a:bodyPr spcFirstLastPara="1" wrap="square" lIns="91425" tIns="45700" rIns="91425" bIns="45700" anchor="t" anchorCtr="0">
            <a:noAutofit/>
          </a:bodyPr>
          <a:lstStyle/>
          <a:p>
            <a:pPr marL="514350" marR="0" lvl="0" indent="-514350" algn="just" rtl="0">
              <a:lnSpc>
                <a:spcPct val="90000"/>
              </a:lnSpc>
              <a:spcBef>
                <a:spcPts val="0"/>
              </a:spcBef>
              <a:spcAft>
                <a:spcPts val="0"/>
              </a:spcAft>
              <a:buClr>
                <a:schemeClr val="dk1"/>
              </a:buClr>
              <a:buSzPct val="100000"/>
              <a:buFont typeface="Calibri"/>
              <a:buAutoNum type="arabicPeriod"/>
            </a:pPr>
            <a:r>
              <a:rPr lang="en-US" b="1" i="0" u="none" strike="noStrike" cap="none" dirty="0">
                <a:solidFill>
                  <a:schemeClr val="dk1"/>
                </a:solidFill>
                <a:latin typeface="Arial" panose="020B0604020202020204" pitchFamily="34" charset="0"/>
                <a:ea typeface="Calibri"/>
                <a:cs typeface="Arial" panose="020B0604020202020204" pitchFamily="34" charset="0"/>
                <a:sym typeface="Calibri"/>
              </a:rPr>
              <a:t>Kindly keep the maximum slides limit up to six </a:t>
            </a:r>
            <a:r>
              <a:rPr lang="en-US" b="1" i="0" u="none" strike="noStrike" cap="none" dirty="0">
                <a:solidFill>
                  <a:srgbClr val="C00000"/>
                </a:solidFill>
                <a:latin typeface="Arial" panose="020B0604020202020204" pitchFamily="34" charset="0"/>
                <a:ea typeface="Calibri"/>
                <a:cs typeface="Arial" panose="020B0604020202020204" pitchFamily="34" charset="0"/>
                <a:sym typeface="Calibri"/>
              </a:rPr>
              <a:t>(6). </a:t>
            </a:r>
            <a:r>
              <a:rPr lang="en-US" b="1" i="0" u="none" strike="noStrike" cap="none" dirty="0">
                <a:solidFill>
                  <a:schemeClr val="dk1"/>
                </a:solidFill>
                <a:latin typeface="Arial" panose="020B0604020202020204" pitchFamily="34" charset="0"/>
                <a:ea typeface="Calibri"/>
                <a:cs typeface="Arial" panose="020B0604020202020204" pitchFamily="34" charset="0"/>
                <a:sym typeface="Calibri"/>
              </a:rPr>
              <a:t>( Including the </a:t>
            </a:r>
            <a:r>
              <a:rPr lang="en-US" b="1" i="0" u="none" strike="noStrike" cap="none">
                <a:solidFill>
                  <a:schemeClr val="dk1"/>
                </a:solidFill>
                <a:latin typeface="Arial" panose="020B0604020202020204" pitchFamily="34" charset="0"/>
                <a:ea typeface="Calibri"/>
                <a:cs typeface="Arial" panose="020B0604020202020204" pitchFamily="34" charset="0"/>
                <a:sym typeface="Calibri"/>
              </a:rPr>
              <a:t>title slide) </a:t>
            </a:r>
            <a:endParaRPr b="1" dirty="0">
              <a:latin typeface="Arial" panose="020B0604020202020204" pitchFamily="34" charset="0"/>
              <a:cs typeface="Arial" panose="020B0604020202020204" pitchFamily="34" charset="0"/>
            </a:endParaRPr>
          </a:p>
          <a:p>
            <a:pPr marL="514350" marR="0" lvl="0" indent="-514350" algn="just" rtl="0">
              <a:lnSpc>
                <a:spcPct val="90000"/>
              </a:lnSpc>
              <a:spcBef>
                <a:spcPts val="1000"/>
              </a:spcBef>
              <a:spcAft>
                <a:spcPts val="0"/>
              </a:spcAft>
              <a:buClr>
                <a:schemeClr val="dk1"/>
              </a:buClr>
              <a:buSzPct val="100000"/>
              <a:buFont typeface="Calibri"/>
              <a:buAutoNum type="arabicPeriod"/>
            </a:pPr>
            <a:r>
              <a:rPr lang="en-US" b="1" i="0" u="none" strike="noStrike" cap="none" dirty="0">
                <a:solidFill>
                  <a:schemeClr val="dk1"/>
                </a:solidFill>
                <a:latin typeface="Arial" panose="020B0604020202020204" pitchFamily="34" charset="0"/>
                <a:ea typeface="Calibri"/>
                <a:cs typeface="Arial" panose="020B0604020202020204" pitchFamily="34" charset="0"/>
                <a:sym typeface="Calibri"/>
              </a:rPr>
              <a:t>Try to avoid paragraphs and post your idea in points /diagrams / Infographics /pictures </a:t>
            </a:r>
            <a:endParaRPr b="1" dirty="0">
              <a:latin typeface="Arial" panose="020B0604020202020204" pitchFamily="34" charset="0"/>
              <a:cs typeface="Arial" panose="020B0604020202020204" pitchFamily="34" charset="0"/>
            </a:endParaRPr>
          </a:p>
          <a:p>
            <a:pPr marL="514350" marR="0" lvl="0" indent="-514350" algn="just" rtl="0">
              <a:lnSpc>
                <a:spcPct val="90000"/>
              </a:lnSpc>
              <a:spcBef>
                <a:spcPts val="1000"/>
              </a:spcBef>
              <a:spcAft>
                <a:spcPts val="0"/>
              </a:spcAft>
              <a:buClr>
                <a:schemeClr val="dk1"/>
              </a:buClr>
              <a:buSzPct val="100000"/>
              <a:buFont typeface="Calibri"/>
              <a:buAutoNum type="arabicPeriod"/>
            </a:pPr>
            <a:r>
              <a:rPr lang="en-US" b="1" i="0" u="none" strike="noStrike" cap="none" dirty="0">
                <a:solidFill>
                  <a:schemeClr val="dk1"/>
                </a:solidFill>
                <a:latin typeface="Arial" panose="020B0604020202020204" pitchFamily="34" charset="0"/>
                <a:ea typeface="Calibri"/>
                <a:cs typeface="Arial" panose="020B0604020202020204" pitchFamily="34" charset="0"/>
                <a:sym typeface="Calibri"/>
              </a:rPr>
              <a:t>Keep your explanation precise and easy to understand</a:t>
            </a:r>
            <a:endParaRPr b="1" dirty="0">
              <a:latin typeface="Arial" panose="020B0604020202020204" pitchFamily="34" charset="0"/>
              <a:cs typeface="Arial" panose="020B0604020202020204" pitchFamily="34" charset="0"/>
            </a:endParaRPr>
          </a:p>
          <a:p>
            <a:pPr marL="514350" marR="0" lvl="0" indent="-514350" algn="just" rtl="0">
              <a:lnSpc>
                <a:spcPct val="90000"/>
              </a:lnSpc>
              <a:spcBef>
                <a:spcPts val="1000"/>
              </a:spcBef>
              <a:spcAft>
                <a:spcPts val="0"/>
              </a:spcAft>
              <a:buClr>
                <a:schemeClr val="dk1"/>
              </a:buClr>
              <a:buSzPct val="100000"/>
              <a:buFont typeface="Calibri"/>
              <a:buAutoNum type="arabicPeriod"/>
            </a:pPr>
            <a:r>
              <a:rPr lang="en-US" b="1" i="0" u="none" strike="noStrike" cap="none" dirty="0">
                <a:solidFill>
                  <a:schemeClr val="dk1"/>
                </a:solidFill>
                <a:latin typeface="Arial" panose="020B0604020202020204" pitchFamily="34" charset="0"/>
                <a:ea typeface="Calibri"/>
                <a:cs typeface="Arial" panose="020B0604020202020204" pitchFamily="34" charset="0"/>
                <a:sym typeface="Calibri"/>
              </a:rPr>
              <a:t>Idea should be unique and novel. </a:t>
            </a:r>
            <a:endParaRPr b="1" dirty="0">
              <a:latin typeface="Arial" panose="020B0604020202020204" pitchFamily="34" charset="0"/>
              <a:cs typeface="Arial" panose="020B0604020202020204" pitchFamily="34" charset="0"/>
            </a:endParaRPr>
          </a:p>
          <a:p>
            <a:pPr marL="514350" marR="0" lvl="0" indent="-514350" algn="just" rtl="0">
              <a:lnSpc>
                <a:spcPct val="90000"/>
              </a:lnSpc>
              <a:spcBef>
                <a:spcPts val="1000"/>
              </a:spcBef>
              <a:spcAft>
                <a:spcPts val="0"/>
              </a:spcAft>
              <a:buClr>
                <a:schemeClr val="dk1"/>
              </a:buClr>
              <a:buSzPct val="100000"/>
              <a:buFont typeface="Calibri"/>
              <a:buAutoNum type="arabicPeriod"/>
            </a:pPr>
            <a:r>
              <a:rPr lang="en-US" b="1" i="0" u="none" strike="noStrike" cap="none" dirty="0">
                <a:solidFill>
                  <a:schemeClr val="dk1"/>
                </a:solidFill>
                <a:latin typeface="Arial" panose="020B0604020202020204" pitchFamily="34" charset="0"/>
                <a:ea typeface="Calibri"/>
                <a:cs typeface="Arial" panose="020B0604020202020204" pitchFamily="34" charset="0"/>
                <a:sym typeface="Calibri"/>
              </a:rPr>
              <a:t>You can only use provided </a:t>
            </a:r>
            <a:r>
              <a:rPr lang="en-US" b="1" dirty="0">
                <a:solidFill>
                  <a:schemeClr val="dk1"/>
                </a:solidFill>
                <a:latin typeface="Arial" panose="020B0604020202020204" pitchFamily="34" charset="0"/>
                <a:ea typeface="Calibri"/>
                <a:cs typeface="Arial" panose="020B0604020202020204" pitchFamily="34" charset="0"/>
                <a:sym typeface="Calibri"/>
              </a:rPr>
              <a:t>template</a:t>
            </a:r>
            <a:r>
              <a:rPr lang="en-US" b="1" i="0" u="none" strike="noStrike" cap="none" dirty="0">
                <a:solidFill>
                  <a:schemeClr val="dk1"/>
                </a:solidFill>
                <a:latin typeface="Arial" panose="020B0604020202020204" pitchFamily="34" charset="0"/>
                <a:ea typeface="Calibri"/>
                <a:cs typeface="Arial" panose="020B0604020202020204" pitchFamily="34" charset="0"/>
                <a:sym typeface="Calibri"/>
              </a:rPr>
              <a:t> for making the </a:t>
            </a:r>
            <a:r>
              <a:rPr lang="en-US" b="1" dirty="0">
                <a:solidFill>
                  <a:schemeClr val="dk1"/>
                </a:solidFill>
                <a:latin typeface="Arial" panose="020B0604020202020204" pitchFamily="34" charset="0"/>
                <a:ea typeface="Calibri"/>
                <a:cs typeface="Arial" panose="020B0604020202020204" pitchFamily="34" charset="0"/>
                <a:sym typeface="Calibri"/>
              </a:rPr>
              <a:t>PPT</a:t>
            </a:r>
            <a:r>
              <a:rPr lang="en-US" b="1" i="0" u="none" strike="noStrike" cap="none" dirty="0">
                <a:solidFill>
                  <a:schemeClr val="dk1"/>
                </a:solidFill>
                <a:latin typeface="Arial" panose="020B0604020202020204" pitchFamily="34" charset="0"/>
                <a:ea typeface="Calibri"/>
                <a:cs typeface="Arial" panose="020B0604020202020204" pitchFamily="34" charset="0"/>
                <a:sym typeface="Calibri"/>
              </a:rPr>
              <a:t> without changing the idea details pointers (mentioned in previous slides).</a:t>
            </a:r>
            <a:endParaRPr b="1" i="0" u="none" strike="noStrike" cap="none" dirty="0">
              <a:solidFill>
                <a:schemeClr val="dk1"/>
              </a:solidFill>
              <a:latin typeface="Arial" panose="020B0604020202020204" pitchFamily="34" charset="0"/>
              <a:ea typeface="Calibri"/>
              <a:cs typeface="Arial" panose="020B0604020202020204" pitchFamily="34" charset="0"/>
              <a:sym typeface="Calibri"/>
            </a:endParaRPr>
          </a:p>
          <a:p>
            <a:pPr marL="514350" marR="0" lvl="0" indent="-514350" algn="just" rtl="0">
              <a:lnSpc>
                <a:spcPct val="90000"/>
              </a:lnSpc>
              <a:spcBef>
                <a:spcPts val="1000"/>
              </a:spcBef>
              <a:spcAft>
                <a:spcPts val="0"/>
              </a:spcAft>
              <a:buClr>
                <a:schemeClr val="dk1"/>
              </a:buClr>
              <a:buSzPct val="100000"/>
              <a:buFont typeface="Calibri"/>
              <a:buAutoNum type="arabicPeriod"/>
            </a:pPr>
            <a:r>
              <a:rPr lang="en-US" b="1" i="0" u="none" strike="noStrike" cap="none" dirty="0">
                <a:solidFill>
                  <a:schemeClr val="dk1"/>
                </a:solidFill>
                <a:latin typeface="Arial" panose="020B0604020202020204" pitchFamily="34" charset="0"/>
                <a:ea typeface="Calibri"/>
                <a:cs typeface="Arial" panose="020B0604020202020204" pitchFamily="34" charset="0"/>
                <a:sym typeface="Calibri"/>
              </a:rPr>
              <a:t>You need to save the file in PDF and upload the same on portal. No PPT, Word Doc or any other format will be supported.</a:t>
            </a:r>
            <a:endParaRPr b="1" dirty="0">
              <a:latin typeface="Arial" panose="020B0604020202020204" pitchFamily="34" charset="0"/>
              <a:cs typeface="Arial" panose="020B0604020202020204" pitchFamily="34" charset="0"/>
            </a:endParaRPr>
          </a:p>
          <a:p>
            <a:pPr marL="514350" marR="0" lvl="0" indent="-349885" algn="just" rtl="0">
              <a:lnSpc>
                <a:spcPct val="90000"/>
              </a:lnSpc>
              <a:spcBef>
                <a:spcPts val="1000"/>
              </a:spcBef>
              <a:spcAft>
                <a:spcPts val="0"/>
              </a:spcAft>
              <a:buClr>
                <a:schemeClr val="dk1"/>
              </a:buClr>
              <a:buSzPct val="100000"/>
              <a:buFont typeface="Calibri"/>
              <a:buNone/>
            </a:pPr>
            <a:endParaRPr b="1" i="0" u="none" strike="noStrike" cap="none" dirty="0">
              <a:solidFill>
                <a:schemeClr val="dk1"/>
              </a:solidFill>
              <a:latin typeface="Arial" panose="020B0604020202020204" pitchFamily="34" charset="0"/>
              <a:ea typeface="Calibri"/>
              <a:cs typeface="Arial" panose="020B0604020202020204" pitchFamily="34" charset="0"/>
              <a:sym typeface="Calibri"/>
            </a:endParaRPr>
          </a:p>
          <a:p>
            <a:pPr marL="0" marR="0" lvl="0" indent="0" algn="just" rtl="0">
              <a:lnSpc>
                <a:spcPct val="90000"/>
              </a:lnSpc>
              <a:spcBef>
                <a:spcPts val="1000"/>
              </a:spcBef>
              <a:spcAft>
                <a:spcPts val="0"/>
              </a:spcAft>
              <a:buClr>
                <a:schemeClr val="dk1"/>
              </a:buClr>
              <a:buSzPct val="100000"/>
              <a:buFont typeface="Arial"/>
              <a:buNone/>
            </a:pPr>
            <a:r>
              <a:rPr lang="en-US" b="1" i="0" u="none" strike="noStrike" cap="none" dirty="0">
                <a:solidFill>
                  <a:srgbClr val="C00000"/>
                </a:solidFill>
                <a:latin typeface="Arial" panose="020B0604020202020204" pitchFamily="34" charset="0"/>
                <a:ea typeface="Calibri"/>
                <a:cs typeface="Arial" panose="020B0604020202020204" pitchFamily="34" charset="0"/>
                <a:sym typeface="Calibri"/>
              </a:rPr>
              <a:t>Note - You can delete this slide (Important Pointers) when you upload the details of your idea on SIH portal.</a:t>
            </a:r>
            <a:endParaRPr b="1" dirty="0">
              <a:solidFill>
                <a:srgbClr val="C00000"/>
              </a:solidFill>
              <a:latin typeface="Arial" panose="020B0604020202020204" pitchFamily="34" charset="0"/>
              <a:cs typeface="Arial" panose="020B0604020202020204" pitchFamily="34" charset="0"/>
            </a:endParaRPr>
          </a:p>
          <a:p>
            <a:pPr marL="914400" marR="0" lvl="1" indent="-316230" algn="just" rtl="0">
              <a:lnSpc>
                <a:spcPct val="90000"/>
              </a:lnSpc>
              <a:spcBef>
                <a:spcPts val="500"/>
              </a:spcBef>
              <a:spcAft>
                <a:spcPts val="0"/>
              </a:spcAft>
              <a:buClr>
                <a:schemeClr val="dk1"/>
              </a:buClr>
              <a:buSzPct val="100000"/>
              <a:buFont typeface="Calibri"/>
              <a:buNone/>
            </a:pPr>
            <a:endParaRPr sz="2000" b="1" i="0" u="none" strike="noStrike" cap="none" dirty="0">
              <a:solidFill>
                <a:schemeClr val="dk1"/>
              </a:solidFill>
              <a:latin typeface="Arial" panose="020B0604020202020204" pitchFamily="34" charset="0"/>
              <a:ea typeface="Calibri"/>
              <a:cs typeface="Arial" panose="020B0604020202020204" pitchFamily="34" charset="0"/>
              <a:sym typeface="Calibri"/>
            </a:endParaRPr>
          </a:p>
        </p:txBody>
      </p:sp>
      <p:sp>
        <p:nvSpPr>
          <p:cNvPr id="4" name="TextBox 3"/>
          <p:cNvSpPr txBox="1"/>
          <p:nvPr/>
        </p:nvSpPr>
        <p:spPr>
          <a:xfrm>
            <a:off x="1393371" y="107066"/>
            <a:ext cx="8410540" cy="646331"/>
          </a:xfrm>
          <a:prstGeom prst="rect">
            <a:avLst/>
          </a:prstGeom>
          <a:noFill/>
        </p:spPr>
        <p:txBody>
          <a:bodyPr wrap="square" rtlCol="0">
            <a:spAutoFit/>
          </a:bodyPr>
          <a:lstStyle/>
          <a:p>
            <a:pPr algn="ctr"/>
            <a:r>
              <a:rPr lang="en-US" sz="3600" b="1" dirty="0">
                <a:latin typeface="Times New Roman" panose="02020603050405020304" pitchFamily="18" charset="0"/>
                <a:cs typeface="Times New Roman" panose="02020603050405020304" pitchFamily="18" charset="0"/>
              </a:rPr>
              <a:t>IMPORTANT INSTRUCTIONS</a:t>
            </a:r>
            <a:endParaRPr lang="en-IN" sz="3600" b="1" dirty="0">
              <a:latin typeface="Times New Roman" panose="02020603050405020304" pitchFamily="18" charset="0"/>
              <a:cs typeface="Times New Roman" panose="02020603050405020304" pitchFamily="18" charset="0"/>
            </a:endParaRPr>
          </a:p>
        </p:txBody>
      </p:sp>
      <p:sp>
        <p:nvSpPr>
          <p:cNvPr id="5" name="TextBox 4"/>
          <p:cNvSpPr txBox="1"/>
          <p:nvPr/>
        </p:nvSpPr>
        <p:spPr>
          <a:xfrm>
            <a:off x="602343" y="1181900"/>
            <a:ext cx="9557657" cy="341632"/>
          </a:xfrm>
          <a:prstGeom prst="rect">
            <a:avLst/>
          </a:prstGeom>
          <a:noFill/>
        </p:spPr>
        <p:txBody>
          <a:bodyPr wrap="square" rtlCol="0">
            <a:spAutoFit/>
          </a:bodyPr>
          <a:lstStyle/>
          <a:p>
            <a:pPr algn="just">
              <a:lnSpc>
                <a:spcPct val="90000"/>
              </a:lnSpc>
              <a:spcBef>
                <a:spcPts val="1000"/>
              </a:spcBef>
              <a:spcAft>
                <a:spcPts val="0"/>
              </a:spcAft>
              <a:buClr>
                <a:schemeClr val="dk1"/>
              </a:buClr>
              <a:buSzPct val="100000"/>
            </a:pPr>
            <a:r>
              <a:rPr lang="en-US" b="1" dirty="0">
                <a:solidFill>
                  <a:schemeClr val="dk1"/>
                </a:solidFill>
                <a:latin typeface="Arial" panose="020B0604020202020204" pitchFamily="34" charset="0"/>
                <a:ea typeface="Calibri"/>
                <a:cs typeface="Arial" panose="020B0604020202020204" pitchFamily="34" charset="0"/>
              </a:rPr>
              <a:t>Please ensure below pointers are met while submitting the Idea PPT:</a:t>
            </a:r>
            <a:endParaRPr lang="en-IN" b="1" dirty="0">
              <a:solidFill>
                <a:schemeClr val="dk1"/>
              </a:solidFill>
              <a:latin typeface="Arial" panose="020B0604020202020204" pitchFamily="34" charset="0"/>
              <a:ea typeface="Calibri"/>
              <a:cs typeface="Arial" panose="020B0604020202020204" pitchFamily="34" charset="0"/>
            </a:endParaRPr>
          </a:p>
        </p:txBody>
      </p:sp>
      <p:pic>
        <p:nvPicPr>
          <p:cNvPr id="13" name="Picture 1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Tree>
    <p:extLst>
      <p:ext uri="{BB962C8B-B14F-4D97-AF65-F5344CB8AC3E}">
        <p14:creationId xmlns:p14="http://schemas.microsoft.com/office/powerpoint/2010/main" val="158808441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7489</TotalTime>
  <Words>325</Words>
  <Application>Microsoft Office PowerPoint</Application>
  <PresentationFormat>Widescreen</PresentationFormat>
  <Paragraphs>62</Paragraphs>
  <Slides>7</Slides>
  <Notes>6</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7</vt:i4>
      </vt:variant>
    </vt:vector>
  </HeadingPairs>
  <TitlesOfParts>
    <vt:vector size="15" baseType="lpstr">
      <vt:lpstr>ＭＳ Ｐゴシック</vt:lpstr>
      <vt:lpstr>Arial</vt:lpstr>
      <vt:lpstr>Calibri</vt:lpstr>
      <vt:lpstr>Garamond</vt:lpstr>
      <vt:lpstr>Times New Roman</vt:lpstr>
      <vt:lpstr>TradeGothic</vt:lpstr>
      <vt:lpstr>Wingdings</vt:lpstr>
      <vt:lpstr>Office Theme</vt:lpstr>
      <vt:lpstr>SMART INDIA HACKATHON 2026</vt:lpstr>
      <vt:lpstr> IDEA TITLE</vt:lpstr>
      <vt:lpstr>TECHNICAL APPROACH</vt:lpstr>
      <vt:lpstr>FEASIBILITY AND VIABILITY</vt:lpstr>
      <vt:lpstr>IMPACT AND BENEFITS</vt:lpstr>
      <vt:lpstr>RESEARCH  AND REFERENCES</vt:lpstr>
      <vt:lpstr>PowerPoint Presentation</vt:lpstr>
    </vt:vector>
  </TitlesOfParts>
  <Manager/>
  <Company>Crowdfunder, Inc.</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Investor Pitch Deck Template</dc:title>
  <dc:subject/>
  <dc:creator>Crowdfunder</dc:creator>
  <cp:keywords/>
  <dc:description/>
  <cp:lastModifiedBy>AICTE</cp:lastModifiedBy>
  <cp:revision>148</cp:revision>
  <dcterms:created xsi:type="dcterms:W3CDTF">2013-12-12T18:46:50Z</dcterms:created>
  <dcterms:modified xsi:type="dcterms:W3CDTF">2026-06-02T09:29:39Z</dcterms:modified>
  <cp:category/>
</cp:coreProperties>
</file>