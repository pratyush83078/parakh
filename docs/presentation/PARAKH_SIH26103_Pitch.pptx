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24528"/>
            <a:ext cx="12191695" cy="31750"/>
          </a:xfrm>
          <a:prstGeom prst="rect">
            <a:avLst/>
          </a:prstGeom>
          <a:solidFill>
            <a:srgbClr val="233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47088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5400" b="1" i="0">
                <a:solidFill>
                  <a:srgbClr val="191914"/>
                </a:solidFill>
                <a:latin typeface="Georgia"/>
              </a:rPr>
              <a:t>PARAKH · परख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88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 i="0">
                <a:solidFill>
                  <a:srgbClr val="66645A"/>
                </a:solidFill>
                <a:latin typeface="Georgia"/>
              </a:rPr>
              <a:t>AI-powered Predictive Analytics &amp; Early Warning System for Infrastructure Project 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1012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191914"/>
                </a:solidFill>
                <a:latin typeface="Georgia"/>
              </a:rPr>
              <a:t>Problem Statement ID: </a:t>
            </a:r>
            <a:r>
              <a:rPr sz="1250" b="1" i="0">
                <a:solidFill>
                  <a:srgbClr val="2337E0"/>
                </a:solidFill>
                <a:latin typeface="Menlo"/>
              </a:rPr>
              <a:t>SIH26103</a:t>
            </a:r>
            <a:r>
              <a:rPr sz="1400" b="0" i="0">
                <a:solidFill>
                  <a:srgbClr val="191914"/>
                </a:solidFill>
                <a:latin typeface="Georgia"/>
              </a:rPr>
              <a:t>    Theme: </a:t>
            </a:r>
            <a:r>
              <a:rPr sz="1400" b="0" i="0">
                <a:solidFill>
                  <a:srgbClr val="191914"/>
                </a:solidFill>
                <a:latin typeface="Georgia"/>
              </a:rPr>
              <a:t>Smart Automation</a:t>
            </a:r>
            <a:r>
              <a:rPr sz="1400" b="0" i="0">
                <a:solidFill>
                  <a:srgbClr val="191914"/>
                </a:solidFill>
                <a:latin typeface="Georgia"/>
              </a:rPr>
              <a:t>    Category: </a:t>
            </a:r>
            <a:r>
              <a:rPr sz="1400" b="0" i="0">
                <a:solidFill>
                  <a:srgbClr val="191914"/>
                </a:solidFill>
                <a:latin typeface="Georgia"/>
              </a:rPr>
              <a:t>Software</a:t>
            </a:r>
          </a:p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191914"/>
                </a:solidFill>
                <a:latin typeface="Georgia"/>
              </a:rPr>
              <a:t>Team: </a:t>
            </a:r>
            <a:r>
              <a:rPr sz="1400" b="0" i="0">
                <a:solidFill>
                  <a:srgbClr val="191914"/>
                </a:solidFill>
                <a:latin typeface="Georgia"/>
              </a:rPr>
              <a:t>[TEAM NAME]</a:t>
            </a:r>
            <a:r>
              <a:rPr sz="1400" b="0" i="0">
                <a:solidFill>
                  <a:srgbClr val="191914"/>
                </a:solidFill>
                <a:latin typeface="Georgia"/>
              </a:rPr>
              <a:t>   ·   Team ID: </a:t>
            </a:r>
            <a:r>
              <a:rPr sz="1400" b="0" i="0">
                <a:solidFill>
                  <a:srgbClr val="191914"/>
                </a:solidFill>
                <a:latin typeface="Georgia"/>
              </a:rPr>
              <a:t>[TEAM ID]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2337E0"/>
                </a:solidFill>
                <a:latin typeface="Menlo"/>
              </a:rP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191914"/>
                </a:solidFill>
                <a:latin typeface="Georgia"/>
              </a:rPr>
              <a:t>From monthly PDFs to ranked, explained review.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6492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50" b="0" i="0">
                <a:solidFill>
                  <a:srgbClr val="191914"/>
                </a:solidFill>
                <a:latin typeface="Georgia"/>
              </a:rPr>
              <a:t>Monitoring today = reading a 400-page PDF every month. Risk is noticed </a:t>
            </a:r>
            <a:r>
              <a:rPr sz="1350" b="0" i="1">
                <a:solidFill>
                  <a:srgbClr val="191914"/>
                </a:solidFill>
                <a:latin typeface="Georgia"/>
              </a:rPr>
              <a:t>after</a:t>
            </a:r>
            <a:r>
              <a:rPr sz="1350" b="0" i="0">
                <a:solidFill>
                  <a:srgbClr val="191914"/>
                </a:solidFill>
                <a:latin typeface="Georgia"/>
              </a:rPr>
              <a:t> it is reported.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50" b="0" i="0">
                <a:solidFill>
                  <a:srgbClr val="191914"/>
                </a:solidFill>
                <a:latin typeface="Georgia"/>
              </a:rPr>
              <a:t>PARAKH adds an early-warning layer on official reports — no new data collection: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2337E0"/>
                </a:solidFill>
                <a:latin typeface="Menlo"/>
              </a:rPr>
              <a:t>PDF → 17-report panel → current risk + next-month risk + why → ranked review queue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50" b="0" i="0">
                <a:solidFill>
                  <a:srgbClr val="191914"/>
                </a:solidFill>
                <a:latin typeface="Georgia"/>
              </a:rPr>
              <a:t>1,775 projects in latest snapshot · 18,257 verified project-month rows · 17 monthly reports (Mar 2025 → Jul 2026) · 13 temporal features · T+1 targets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50" b="1" i="0">
                <a:solidFill>
                  <a:srgbClr val="191914"/>
                </a:solidFill>
                <a:latin typeface="Georgia"/>
              </a:rPr>
              <a:t>Engine 1 — current state: transparent 0–100 rule score (open arithmetic) + primary driver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50" b="1" i="0">
                <a:solidFill>
                  <a:srgbClr val="191914"/>
                </a:solidFill>
                <a:latin typeface="Georgia"/>
              </a:rPr>
              <a:t>Engine 2 — next month: classifiers for cost revision / schedule slip at T+1</a:t>
            </a:r>
          </a:p>
        </p:txBody>
      </p:sp>
      <p:sp>
        <p:nvSpPr>
          <p:cNvPr id="6" name="Rectangle 5"/>
          <p:cNvSpPr/>
          <p:nvPr/>
        </p:nvSpPr>
        <p:spPr>
          <a:xfrm>
            <a:off x="7406640" y="1920240"/>
            <a:ext cx="2011680" cy="2651760"/>
          </a:xfrm>
          <a:prstGeom prst="rect">
            <a:avLst/>
          </a:prstGeom>
          <a:solidFill>
            <a:srgbClr val="FAF8F1"/>
          </a:solidFill>
          <a:ln w="9525">
            <a:solidFill>
              <a:srgbClr val="233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16368" y="2057400"/>
            <a:ext cx="17922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2337E0"/>
                </a:solidFill>
                <a:latin typeface="Menlo"/>
              </a:rPr>
              <a:t>ENGINE 1 · 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16368" y="2423160"/>
            <a:ext cx="1792224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191914"/>
                </a:solidFill>
                <a:latin typeface="Georgia"/>
              </a:rPr>
              <a:t>Deterministic 0–100 score.
Open weights, capped formulas,
coverage % shown. Driver =
highest weighted component.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9555480" y="1920240"/>
            <a:ext cx="2011680" cy="2651760"/>
          </a:xfrm>
          <a:prstGeom prst="rect">
            <a:avLst/>
          </a:prstGeom>
          <a:solidFill>
            <a:srgbClr val="FAF8F1"/>
          </a:solidFill>
          <a:ln w="9525">
            <a:solidFill>
              <a:srgbClr val="B334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65208" y="2057400"/>
            <a:ext cx="17922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B3342C"/>
                </a:solidFill>
                <a:latin typeface="Menlo"/>
              </a:rPr>
              <a:t>ENGINE 2 · NEXT MONTH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65208" y="2423160"/>
            <a:ext cx="1792224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191914"/>
                </a:solidFill>
                <a:latin typeface="Georgia"/>
              </a:rPr>
              <a:t>Supervised classifiers (LR, GB,
XGBoost) estimate P(cost revision)
and P(schedule slip) at T+1.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4892040"/>
            <a:ext cx="4206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6645A"/>
                </a:solidFill>
                <a:latin typeface="Georgia"/>
              </a:rPr>
              <a:t>The system does not treat a project as one row: it links monthly snapshots and captures behaviour across time — progress velocity, spend-vs-progress divergence, elapsed fraction, revision history, agency track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2337E0"/>
                </a:solidFill>
                <a:latin typeface="Menlo"/>
              </a:rPr>
              <a:t>TECHNICAL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191914"/>
                </a:solidFill>
                <a:latin typeface="Georgia"/>
              </a:rPr>
              <a:t>Three models, two honest protocols, explanations built 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2337E0"/>
                </a:solidFill>
                <a:latin typeface="Menlo"/>
              </a:rPr>
              <a:t>1 PDF/CUF  →  2 PANEL  →  3 FEATURES+LABELS  →  4 MODEL  →  5 JSON/API  →  6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57400"/>
            <a:ext cx="6035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50" b="0" i="0">
                <a:solidFill>
                  <a:srgbClr val="191914"/>
                </a:solidFill>
                <a:latin typeface="Georgia"/>
              </a:rPr>
              <a:t>Labels, exactly one month ahead (T+1): cost rises &gt;0.1% vs this month; completion date pushed later.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50" b="0" i="0">
                <a:solidFill>
                  <a:srgbClr val="191914"/>
                </a:solidFill>
                <a:latin typeface="Georgia"/>
              </a:rPr>
              <a:t>Three models per target: Logistic Regression (transparent baseline), Gradient Boosting, XGBoost.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50" b="1" i="0">
                <a:solidFill>
                  <a:srgbClr val="191914"/>
                </a:solidFill>
                <a:latin typeface="Georgia"/>
              </a:rPr>
              <a:t>Selection rule fixed in advance: highest mean PR-AUC on the ordered holdout.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50" b="0" i="0">
                <a:solidFill>
                  <a:srgbClr val="191914"/>
                </a:solidFill>
                <a:latin typeface="Georgia"/>
              </a:rPr>
              <a:t>Group-held-out validation: 5 × 80/20 splits, a project never crosses train/test.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50" b="1" i="0">
                <a:solidFill>
                  <a:srgbClr val="191914"/>
                </a:solidFill>
                <a:latin typeface="Georgia"/>
              </a:rPr>
              <a:t>Ordered temporal test: each of the last 3 labeled months scored by a model trained only on earlier months.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50" b="0" i="0">
                <a:solidFill>
                  <a:srgbClr val="191914"/>
                </a:solidFill>
                <a:latin typeface="Georgia"/>
              </a:rPr>
              <a:t>The rule score is scored on the same folds as a baseline.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50" b="1" i="0">
                <a:solidFill>
                  <a:srgbClr val="191914"/>
                </a:solidFill>
                <a:latin typeface="Georgia"/>
              </a:rPr>
              <a:t>Explanations: permutation importance + global mean |SHAP| + per-project top-5 SHAP drivers in the UI.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0" y="2057400"/>
            <a:ext cx="4800600" cy="3977639"/>
          </a:xfrm>
          <a:prstGeom prst="rect">
            <a:avLst/>
          </a:prstGeom>
          <a:solidFill>
            <a:srgbClr val="FAF8F1"/>
          </a:solidFill>
          <a:ln w="9525">
            <a:solidFill>
              <a:srgbClr val="233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9168" y="2212848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2337E0"/>
                </a:solidFill>
                <a:latin typeface="Menlo"/>
              </a:rPr>
              <a:t>MODEL EVALUATION · ORDERED HOLDOUT (the honest numbers)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59168" y="2697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 i="0">
                <a:solidFill>
                  <a:srgbClr val="66645A"/>
                </a:solidFill>
                <a:latin typeface="Georgia"/>
              </a:rPr>
              <a:t>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82127" y="2697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 i="0">
                <a:solidFill>
                  <a:srgbClr val="66645A"/>
                </a:solidFill>
                <a:latin typeface="Georgia"/>
              </a:rPr>
              <a:t>Prevalence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22208" y="2697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 i="0">
                <a:solidFill>
                  <a:srgbClr val="66645A"/>
                </a:solidFill>
                <a:latin typeface="Georgia"/>
              </a:rPr>
              <a:t>Rule ROC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70848" y="2697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 i="0">
                <a:solidFill>
                  <a:srgbClr val="66645A"/>
                </a:solidFill>
                <a:latin typeface="Georgia"/>
              </a:rPr>
              <a:t>Selected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68128" y="2697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 i="0">
                <a:solidFill>
                  <a:srgbClr val="66645A"/>
                </a:solidFill>
                <a:latin typeface="Georgia"/>
              </a:rPr>
              <a:t>ROC / PR-AUC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45368" y="2697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 i="0">
                <a:solidFill>
                  <a:srgbClr val="66645A"/>
                </a:solidFill>
                <a:latin typeface="Georgia"/>
              </a:rPr>
              <a:t>PR lift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59168" y="308152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191914"/>
                </a:solidFill>
                <a:latin typeface="Georgia"/>
              </a:rPr>
              <a:t>Schedule slip (T+1)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82127" y="308152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191914"/>
                </a:solidFill>
                <a:latin typeface="Georgia"/>
              </a:rPr>
              <a:t>0.1386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22208" y="308152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191914"/>
                </a:solidFill>
                <a:latin typeface="Georgia"/>
              </a:rPr>
              <a:t>0.566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70848" y="308152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191914"/>
                </a:solidFill>
                <a:latin typeface="Georgia"/>
              </a:rPr>
              <a:t>XGBoost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68128" y="308152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191914"/>
                </a:solidFill>
                <a:latin typeface="Georgia"/>
              </a:rPr>
              <a:t>0.787 / 0.391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45368" y="308152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191914"/>
                </a:solidFill>
                <a:latin typeface="Georgia"/>
              </a:rPr>
              <a:t>2.183×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9168" y="346557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191914"/>
                </a:solidFill>
                <a:latin typeface="Georgia"/>
              </a:rPr>
              <a:t>Cost revision (T+1)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82127" y="346557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191914"/>
                </a:solidFill>
                <a:latin typeface="Georgia"/>
              </a:rPr>
              <a:t>0.0097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22208" y="346557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191914"/>
                </a:solidFill>
                <a:latin typeface="Georgia"/>
              </a:rPr>
              <a:t>0.586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70848" y="346557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191914"/>
                </a:solidFill>
                <a:latin typeface="Georgia"/>
              </a:rPr>
              <a:t>Logistic Reg.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68128" y="346557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191914"/>
                </a:solidFill>
                <a:latin typeface="Georgia"/>
              </a:rPr>
              <a:t>0.672 / 0.131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45368" y="346557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191914"/>
                </a:solidFill>
                <a:latin typeface="Georgia"/>
              </a:rPr>
              <a:t>3.16×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9168" y="4069080"/>
            <a:ext cx="4480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6645A"/>
                </a:solidFill>
                <a:latin typeface="Georgia"/>
              </a:rPr>
              <a:t>Group-held-out (unseen projects), schedule slip: XGBoost 0.862 ROC / 0.587 PR-AUC. Rare cost events (0.0097) make raw accuracy misleading — we report ROC-AUC + PR-AUC with prevalence beside them. The cost model is labelled 'not reliable for forecasting' inside the product.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2337E0"/>
                </a:solidFill>
                <a:latin typeface="Menlo"/>
              </a:rPr>
              <a:t>FEASIBILITY &amp; VIABILITY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191914"/>
                </a:solidFill>
                <a:latin typeface="Georgia"/>
              </a:rPr>
              <a:t>Working end-to-end, audited, open-source — with a hardening plan.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5852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50" b="0" i="0">
                <a:solidFill>
                  <a:srgbClr val="191914"/>
                </a:solidFill>
                <a:latin typeface="Georgia"/>
              </a:rPr>
              <a:t>Working now: PDF/CUF → panel → labels → ML → risk engine → JSON/API → dashboard.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50" b="0" i="0">
                <a:solidFill>
                  <a:srgbClr val="191914"/>
                </a:solidFill>
                <a:latin typeface="Georgia"/>
              </a:rPr>
              <a:t>Stack: Python, pandas, pdfplumber, scikit-learn, XGBoost, SHAP · Next.js (React 19) · Parquet + JSON · .joblib pipelines.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50" b="0" i="0">
                <a:solidFill>
                  <a:srgbClr val="191914"/>
                </a:solidFill>
                <a:latin typeface="Georgia"/>
              </a:rPr>
              <a:t>Extraction is audited: row-level VERIFIED / REVIEW_REQUIRED, source-page provenance on every record.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50" b="1" i="0">
                <a:solidFill>
                  <a:srgbClr val="191914"/>
                </a:solidFill>
                <a:latin typeface="Georgia"/>
              </a:rPr>
              <a:t>April 2026 reconciliation to the official report: 0.0% difference (1,981 projects; ₹37.13L Cr original, ₹42.78L Cr revised, ₹20.36L Cr expenditure).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50" b="0" i="0">
                <a:solidFill>
                  <a:srgbClr val="191914"/>
                </a:solidFill>
                <a:latin typeface="Georgia"/>
              </a:rPr>
              <a:t>Adoption loop: each new official month runs the same pipeline — reviewers keep PAIMANA; PARAKH reads it.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50" b="0" i="0">
                <a:solidFill>
                  <a:srgbClr val="191914"/>
                </a:solidFill>
                <a:latin typeface="Georgia"/>
              </a:rPr>
              <a:t>Challenges → strategies: rare cost events → keep LR baseline, report PR-AUC vs prevalence; limited history → ordered validation now, deeper OCMS next; PDF layout drift → checker + provenance + VERIFIED-only training.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6720840" y="1600200"/>
            <a:ext cx="4937760" cy="4754880"/>
          </a:xfrm>
          <a:prstGeom prst="rect">
            <a:avLst/>
          </a:prstGeom>
          <a:solidFill>
            <a:srgbClr val="FAF8F1"/>
          </a:solidFill>
          <a:ln w="9525">
            <a:solidFill>
              <a:srgbClr val="233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03720" y="1783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2337E0"/>
                </a:solidFill>
                <a:latin typeface="Menlo"/>
              </a:rPr>
              <a:t>IF SELECTED FOR THE FINALE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2240280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0" i="0">
                <a:solidFill>
                  <a:srgbClr val="191914"/>
                </a:solidFill>
                <a:latin typeface="Georgia"/>
              </a:rPr>
              <a:t>Probability calibration (scores are rankings today).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0" i="0">
                <a:solidFill>
                  <a:srgbClr val="191914"/>
                </a:solidFill>
                <a:latin typeface="Georgia"/>
              </a:rPr>
              <a:t>Precision@K / Recall@K + one real Month T → T+1 replay.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0" i="0">
                <a:solidFill>
                  <a:srgbClr val="191914"/>
                </a:solidFill>
                <a:latin typeface="Georgia"/>
              </a:rPr>
              <a:t>Magnitude regression: how many ₹ / months, not just will-it-move.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0" i="0">
                <a:solidFill>
                  <a:srgbClr val="191914"/>
                </a:solidFill>
                <a:latin typeface="Georgia"/>
              </a:rPr>
              <a:t>Deeper OCMS history; then context inputs (rainfall, commodity, land) after the official-data baseline is stable.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0" i="0">
                <a:solidFill>
                  <a:srgbClr val="191914"/>
                </a:solidFill>
                <a:latin typeface="Georgia"/>
              </a:rPr>
              <a:t>Formal leakage audit of the agency-history feature.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2337E0"/>
                </a:solidFill>
                <a:latin typeface="Menlo"/>
              </a:rPr>
              <a:t>WHO BENEFITS &amp; WHAT IT FINDS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191914"/>
                </a:solidFill>
                <a:latin typeface="Georgia"/>
              </a:rPr>
              <a:t>A ranked queue with evidence — not portfolio-wide scanning.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5852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50" b="0" i="0">
                <a:solidFill>
                  <a:srgbClr val="191914"/>
                </a:solidFill>
                <a:latin typeface="Georgia"/>
              </a:rPr>
              <a:t>Monitoring agencies: 193 of 1,775 ≈ 10.9% flagged High/Critical — work the queue, with per-project evidence.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50" b="0" i="0">
                <a:solidFill>
                  <a:srgbClr val="191914"/>
                </a:solidFill>
                <a:latin typeface="Georgia"/>
              </a:rPr>
              <a:t>Project administrators: current stress driver + next-month probabilities in one record.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50" b="0" i="0">
                <a:solidFill>
                  <a:srgbClr val="191914"/>
                </a:solidFill>
                <a:latin typeface="Georgia"/>
              </a:rPr>
              <a:t>Review teams: same-ministry/state peer benchmarks before deeper review.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2337E0"/>
                </a:solidFill>
                <a:latin typeface="Menlo"/>
              </a:rPr>
              <a:t>Flow: ALERT → OPEN → READ DRIVER → COMPARE PEERS → DECIDE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6720840" y="1600200"/>
            <a:ext cx="4937760" cy="2377440"/>
          </a:xfrm>
          <a:prstGeom prst="rect">
            <a:avLst/>
          </a:prstGeom>
          <a:solidFill>
            <a:srgbClr val="FAF8F1"/>
          </a:solidFill>
          <a:ln w="9525">
            <a:solidFill>
              <a:srgbClr val="233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03720" y="1783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2337E0"/>
                </a:solidFill>
                <a:latin typeface="Menlo"/>
              </a:rPr>
              <a:t>GLOBAL SIGNAL (MEAN |SHAP|, SCHEDULE MODEL)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221284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191914"/>
                </a:solidFill>
                <a:latin typeface="Georgia"/>
              </a:rPr>
              <a:t>approval elapsed frac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2258568"/>
            <a:ext cx="1828800" cy="146304"/>
          </a:xfrm>
          <a:prstGeom prst="rect">
            <a:avLst/>
          </a:prstGeom>
          <a:solidFill>
            <a:srgbClr val="F2EFE6"/>
          </a:solidFill>
          <a:ln w="6350">
            <a:solidFill>
              <a:srgbClr val="6664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38160" y="2258568"/>
            <a:ext cx="651928" cy="146304"/>
          </a:xfrm>
          <a:prstGeom prst="rect">
            <a:avLst/>
          </a:prstGeom>
          <a:solidFill>
            <a:srgbClr val="233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49840" y="221284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66645A"/>
                </a:solidFill>
                <a:latin typeface="Georgia"/>
              </a:rPr>
              <a:t>36%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259689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191914"/>
                </a:solidFill>
                <a:latin typeface="Georgia"/>
              </a:rPr>
              <a:t>agency avg overrun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2642616"/>
            <a:ext cx="1828800" cy="146304"/>
          </a:xfrm>
          <a:prstGeom prst="rect">
            <a:avLst/>
          </a:prstGeom>
          <a:solidFill>
            <a:srgbClr val="F2EFE6"/>
          </a:solidFill>
          <a:ln w="6350">
            <a:solidFill>
              <a:srgbClr val="6664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2642616"/>
            <a:ext cx="415764" cy="146304"/>
          </a:xfrm>
          <a:prstGeom prst="rect">
            <a:avLst/>
          </a:prstGeom>
          <a:solidFill>
            <a:srgbClr val="233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9840" y="259689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66645A"/>
                </a:solidFill>
                <a:latin typeface="Georgia"/>
              </a:rPr>
              <a:t>23%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980944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191914"/>
                </a:solidFill>
                <a:latin typeface="Georgia"/>
              </a:rPr>
              <a:t>doc slip months so far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3026664"/>
            <a:ext cx="1828800" cy="146304"/>
          </a:xfrm>
          <a:prstGeom prst="rect">
            <a:avLst/>
          </a:prstGeom>
          <a:solidFill>
            <a:srgbClr val="F2EFE6"/>
          </a:solidFill>
          <a:ln w="6350">
            <a:solidFill>
              <a:srgbClr val="6664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3026664"/>
            <a:ext cx="179851" cy="146304"/>
          </a:xfrm>
          <a:prstGeom prst="rect">
            <a:avLst/>
          </a:prstGeom>
          <a:solidFill>
            <a:srgbClr val="233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49840" y="298094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66645A"/>
                </a:solidFill>
                <a:latin typeface="Georgia"/>
              </a:rPr>
              <a:t>10%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364991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191914"/>
                </a:solidFill>
                <a:latin typeface="Georgia"/>
              </a:rPr>
              <a:t>spend vs progress gap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3410712"/>
            <a:ext cx="1828800" cy="146304"/>
          </a:xfrm>
          <a:prstGeom prst="rect">
            <a:avLst/>
          </a:prstGeom>
          <a:solidFill>
            <a:srgbClr val="F2EFE6"/>
          </a:solidFill>
          <a:ln w="6350">
            <a:solidFill>
              <a:srgbClr val="6664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38160" y="3410712"/>
            <a:ext cx="109051" cy="146304"/>
          </a:xfrm>
          <a:prstGeom prst="rect">
            <a:avLst/>
          </a:prstGeom>
          <a:solidFill>
            <a:srgbClr val="233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49840" y="3364991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66645A"/>
                </a:solidFill>
                <a:latin typeface="Georgia"/>
              </a:rPr>
              <a:t>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3822191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66645A"/>
                </a:solidFill>
                <a:latin typeface="Georgia"/>
              </a:rPr>
              <a:t>Predictive signal, not causation — SHAP explains the model.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160520"/>
            <a:ext cx="11155680" cy="2103120"/>
          </a:xfrm>
          <a:prstGeom prst="rect">
            <a:avLst/>
          </a:prstGeom>
          <a:solidFill>
            <a:srgbClr val="FAF8F1"/>
          </a:solidFill>
          <a:ln w="9525">
            <a:solidFill>
              <a:srgbClr val="B334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3434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B3342C"/>
                </a:solidFill>
                <a:latin typeface="Menlo"/>
              </a:rPr>
              <a:t>REVIEWER WORKFLOW — ILLUSTRATIVE EXAMPLE (not a real project result)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75488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91914"/>
                </a:solidFill>
                <a:latin typeface="Georgia"/>
              </a:rPr>
              <a:t>System flags a Railways project at rule score 91.9 (Critical). The record shows driver: Cost Escalation, 63% over original cost, 34 months late, 40% progress, source page linked. The model panel adds: 5.6% next-month slip probability, explained — timeline used so far pushes risk up (+0.89 SHAP); the agency's strong track record pulls it down (−0.83). Peers: 11 Railways projects in Bihar, avg overrun 31%. Decision support for a human reviewer — not an automated alert.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2337E0"/>
                </a:solidFill>
                <a:latin typeface="Menlo"/>
              </a:rPr>
              <a:t>COMPLIANCE &amp; HONEST 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191914"/>
                </a:solidFill>
                <a:latin typeface="Georgia"/>
              </a:rPr>
              <a:t>Reconciled to the official report; limits disclosed, not hidden.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6035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50" b="1" i="0">
                <a:solidFill>
                  <a:srgbClr val="191914"/>
                </a:solidFill>
                <a:latin typeface="Georgia"/>
              </a:rPr>
              <a:t>PS baseline reconciled: April 2026 — 0.0% difference on projects and all three ₹ totals.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50" b="0" i="0">
                <a:solidFill>
                  <a:srgbClr val="191914"/>
                </a:solidFill>
                <a:latin typeface="Georgia"/>
              </a:rPr>
              <a:t>a Cost ✓   b Time ✓   c Risk ✓   d Alerts ✓   e Benchmark ✓   f Driver ✓   g Dashboard ✓   h LLM → next build ✓   i Docs ✓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50" b="0" i="0">
                <a:solidFill>
                  <a:srgbClr val="191914"/>
                </a:solidFill>
                <a:latin typeface="Georgia"/>
              </a:rPr>
              <a:t>PS owner: MoSPI — Data Informatics &amp; Innovation Division (DIID); PAIMANA ops: IPMD.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50" b="0" i="0">
                <a:solidFill>
                  <a:srgbClr val="191914"/>
                </a:solidFill>
                <a:latin typeface="Georgia"/>
              </a:rPr>
              <a:t>Limits we disclose: scores are uncalibrated rankings; cost model has one eligible test month; 1-month horizon; extraction warnings are surfaced, not hidden.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50" b="0" i="1">
                <a:solidFill>
                  <a:srgbClr val="191914"/>
                </a:solidFill>
                <a:latin typeface="Georgia"/>
              </a:rPr>
              <a:t>No live MoSPI integration, no LLM inference, no automated alerts are claimed.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720840" y="1600200"/>
            <a:ext cx="4937760" cy="3566160"/>
          </a:xfrm>
          <a:prstGeom prst="rect">
            <a:avLst/>
          </a:prstGeom>
          <a:solidFill>
            <a:srgbClr val="FAF8F1"/>
          </a:solidFill>
          <a:ln w="9525">
            <a:solidFill>
              <a:srgbClr val="233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03720" y="1783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2337E0"/>
                </a:solidFill>
                <a:latin typeface="Menlo"/>
              </a:rPr>
              <a:t>WHERE WE ARE AHEAD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2240280"/>
            <a:ext cx="45720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0" i="0">
                <a:solidFill>
                  <a:srgbClr val="191914"/>
                </a:solidFill>
                <a:latin typeface="Georgia"/>
              </a:rPr>
              <a:t>Ordered temporal validation that others list as 'required before production' — we already run it.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0" i="0">
                <a:solidFill>
                  <a:srgbClr val="191914"/>
                </a:solidFill>
                <a:latin typeface="Georgia"/>
              </a:rPr>
              <a:t>17 months / 18,257 verified rows; per-project SHAP explanations shipped in-product.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0" i="0">
                <a:solidFill>
                  <a:srgbClr val="191914"/>
                </a:solidFill>
                <a:latin typeface="Georgia"/>
              </a:rPr>
              <a:t>Extraction checker + source-page provenance + 0.0% official reconciliation.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0" i="0">
                <a:solidFill>
                  <a:srgbClr val="191914"/>
                </a:solidFill>
                <a:latin typeface="Georgia"/>
              </a:rPr>
              <a:t>Rule baseline scored on the same folds as the models.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76072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2337E0"/>
                </a:solidFill>
                <a:latin typeface="Georgia"/>
              </a:rPr>
              <a:t>“Describes today, warns about next month, explains itself — and says exactly where it isn't trustworthy yet.”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