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One line: the report is a rear-view mirror; PARAKH adds a windscreen.</a:t>
            </a:r>
          </a:p>
          <a:p>
            <a:r>
              <a:t>Explain the three clocks with one sentence each — time, money, promise. This is the part no other team will have; do not rush it.</a:t>
            </a:r>
          </a:p>
          <a:p>
            <a:r>
              <a:t>Point at the evidence gate: 'we would rather hold a record than score it wrongly.'</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The comparison row is the direct answer to 'compare with conventional methods' in the problem statement: the transparent rule score is the conventional method, scored on exactly the same folds.</a:t>
            </a:r>
          </a:p>
          <a:p>
            <a:r>
              <a:t>If a jury quotes a higher number from another team, say: ours are ordered-month numbers with the rule baseline beside them — a random split would let a project's own later months leak into training.</a:t>
            </a:r>
          </a:p>
          <a:p>
            <a:r>
              <a:t>Extraction evidence: 17 published reports, 2,522 pages, 25,180 rows extracted, 0 failed, 915 rows flagged for review, and 11/13 current-format reports reconcile to their own printed totals (project count + all three financial totals).</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Feasibility in one line: the input already exists, the machine already exists, the routine already exists.</a:t>
            </a:r>
          </a:p>
          <a:p>
            <a:r>
              <a:t>On risks, lead with the one juries like: 'our cost model rests on a single eligible test month, so we publish it with the base rate next to it and label it in the product.'</a:t>
            </a:r>
          </a:p>
          <a:p>
            <a:r>
              <a:t>The honesty strip is a feature, not a hedge — it tells a ministry that nothing will be dispatched automatically.</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Frame impact as attention, not as money saved: 'we are not claiming savings — we are claiming that a reviewer's first hour goes to the riskiest project instead of page 1.'</a:t>
            </a:r>
          </a:p>
          <a:p>
            <a:r>
              <a:t>Numbers to quote: 1,981 projects and ₹42.78 lakh crore revised cost in the April 2026 report; 193 of 1,775 projects (10.9%) at High or Critical in the prototype's latest snapshot.</a:t>
            </a:r>
          </a:p>
          <a:p>
            <a:r>
              <a:t>If asked about state-level reuse, the answer is the REUSABLE block: the engine reads a monthly document, not a MoSPI API.</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Cite the report, not yourself: every headline number in the deck comes from a public MoSPI report or from an artifact in the repository.</a:t>
            </a:r>
          </a:p>
          <a:p>
            <a:r>
              <a:t>If asked 'is this another dashboard?', the answer is the method column: the point is the ordered validation and the evidence gate, not the interface.</a:t>
            </a:r>
          </a:p>
          <a:p>
            <a:r>
              <a:t>Add the repository and demo links before submitting the PDF.</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83576877"/>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'Every month MoSPI publishes a flash report on ~2,000 central infrastructure projects worth ₹42 lakh crore. PARAKH turns that report into a ranked list of what needs attention — one month earlier than today.'</a:t>
            </a:r>
          </a:p>
          <a:p>
            <a:r>
              <a:t>Say the name: PARAKH (परख) means 'the test' — the assay you run on something to find out what it is really made of. That is the whole idea: assay the evidence before you trust the number.</a:t>
            </a:r>
          </a:p>
          <a:p>
            <a:r>
              <a:t>Fill in Team ID and Team Name from the SIH portal before exporting to PDF.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TextBox 37"/>
          <p:cNvSpPr txBox="1"/>
          <p:nvPr/>
        </p:nvSpPr>
        <p:spPr>
          <a:xfrm>
            <a:off x="1783080" y="1883664"/>
            <a:ext cx="9509760" cy="502920"/>
          </a:xfrm>
          <a:prstGeom prst="rect">
            <a:avLst/>
          </a:prstGeom>
          <a:noFill/>
        </p:spPr>
        <p:txBody>
          <a:bodyPr wrap="square" lIns="0" rIns="0" tIns="0" bIns="0" anchor="t">
            <a:spAutoFit/>
          </a:bodyPr>
          <a:lstStyle/>
          <a:p>
            <a:pPr algn="l">
              <a:lnSpc>
                <a:spcPct val="105000"/>
              </a:lnSpc>
              <a:spcAft>
                <a:spcPts val="200"/>
              </a:spcAft>
            </a:pPr>
            <a:r>
              <a:rPr sz="3000" b="1">
                <a:solidFill>
                  <a:srgbClr val="102A43"/>
                </a:solidFill>
                <a:latin typeface="Times New Roman"/>
              </a:rPr>
              <a:t>PARAKH  ·  परख</a:t>
            </a:r>
          </a:p>
        </p:txBody>
      </p:sp>
      <p:sp>
        <p:nvSpPr>
          <p:cNvPr id="39" name="Rectangle 38"/>
          <p:cNvSpPr/>
          <p:nvPr/>
        </p:nvSpPr>
        <p:spPr>
          <a:xfrm>
            <a:off x="1783080" y="2487168"/>
            <a:ext cx="1463040" cy="3200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783080" y="2633472"/>
            <a:ext cx="9509760" cy="566928"/>
          </a:xfrm>
          <a:prstGeom prst="rect">
            <a:avLst/>
          </a:prstGeom>
          <a:noFill/>
        </p:spPr>
        <p:txBody>
          <a:bodyPr wrap="square" lIns="0" rIns="0" tIns="0" bIns="0" anchor="t">
            <a:spAutoFit/>
          </a:bodyPr>
          <a:lstStyle/>
          <a:p>
            <a:pPr algn="l">
              <a:lnSpc>
                <a:spcPct val="105000"/>
              </a:lnSpc>
              <a:spcAft>
                <a:spcPts val="300"/>
              </a:spcAft>
            </a:pPr>
            <a:r>
              <a:rPr sz="1600" b="1">
                <a:solidFill>
                  <a:srgbClr val="1F2933"/>
                </a:solidFill>
                <a:latin typeface="Times New Roman"/>
              </a:rPr>
              <a:t>The one-month head start on infrastructure project risk.</a:t>
            </a:r>
          </a:p>
          <a:p>
            <a:pPr algn="l">
              <a:lnSpc>
                <a:spcPct val="105000"/>
              </a:lnSpc>
              <a:spcAft>
                <a:spcPts val="0"/>
              </a:spcAft>
            </a:pPr>
            <a:r>
              <a:rPr sz="1150" b="0">
                <a:solidFill>
                  <a:srgbClr val="0070C0"/>
                </a:solidFill>
                <a:latin typeface="Calibri"/>
              </a:rPr>
              <a:t>Read the report · rank the risk · show the evidence.</a:t>
            </a:r>
          </a:p>
        </p:txBody>
      </p:sp>
      <p:sp>
        <p:nvSpPr>
          <p:cNvPr id="41" name="TextBox 40"/>
          <p:cNvSpPr txBox="1"/>
          <p:nvPr/>
        </p:nvSpPr>
        <p:spPr>
          <a:xfrm>
            <a:off x="1783080" y="3675888"/>
            <a:ext cx="9509760" cy="1600200"/>
          </a:xfrm>
          <a:prstGeom prst="rect">
            <a:avLst/>
          </a:prstGeom>
          <a:noFill/>
        </p:spPr>
        <p:txBody>
          <a:bodyPr wrap="square" lIns="0" rIns="0" tIns="0" bIns="0" anchor="t">
            <a:spAutoFit/>
          </a:bodyPr>
          <a:lstStyle/>
          <a:p>
            <a:pPr algn="l">
              <a:lnSpc>
                <a:spcPct val="135000"/>
              </a:lnSpc>
              <a:spcAft>
                <a:spcPts val="400"/>
              </a:spcAft>
            </a:pPr>
            <a:r>
              <a:rPr sz="1150" b="0">
                <a:solidFill>
                  <a:srgbClr val="1F2933"/>
                </a:solidFill>
                <a:latin typeface="Calibri"/>
              </a:rPr>
              <a:t>Problem Statement ID – 26103</a:t>
            </a:r>
          </a:p>
          <a:p>
            <a:pPr algn="l">
              <a:lnSpc>
                <a:spcPct val="135000"/>
              </a:lnSpc>
              <a:spcAft>
                <a:spcPts val="400"/>
              </a:spcAft>
            </a:pPr>
            <a:r>
              <a:rPr sz="1150" b="0">
                <a:solidFill>
                  <a:srgbClr val="1F2933"/>
                </a:solidFill>
                <a:latin typeface="Calibri"/>
              </a:rPr>
              <a:t>Problem Statement Title – Use case on web-based integrated project-monitoring platform</a:t>
            </a:r>
          </a:p>
          <a:p>
            <a:pPr algn="l">
              <a:lnSpc>
                <a:spcPct val="135000"/>
              </a:lnSpc>
              <a:spcAft>
                <a:spcPts val="400"/>
              </a:spcAft>
            </a:pPr>
            <a:r>
              <a:rPr sz="1150" b="0">
                <a:solidFill>
                  <a:srgbClr val="1F2933"/>
                </a:solidFill>
                <a:latin typeface="Calibri"/>
              </a:rPr>
              <a:t>Theme – Smart Automation</a:t>
            </a:r>
          </a:p>
          <a:p>
            <a:pPr algn="l">
              <a:lnSpc>
                <a:spcPct val="135000"/>
              </a:lnSpc>
              <a:spcAft>
                <a:spcPts val="400"/>
              </a:spcAft>
            </a:pPr>
            <a:r>
              <a:rPr sz="1150" b="0">
                <a:solidFill>
                  <a:srgbClr val="1F2933"/>
                </a:solidFill>
                <a:latin typeface="Calibri"/>
              </a:rPr>
              <a:t>PS Category – Software</a:t>
            </a:r>
          </a:p>
          <a:p>
            <a:pPr algn="l">
              <a:lnSpc>
                <a:spcPct val="135000"/>
              </a:lnSpc>
              <a:spcAft>
                <a:spcPts val="400"/>
              </a:spcAft>
            </a:pPr>
            <a:r>
              <a:rPr sz="1150" b="0">
                <a:solidFill>
                  <a:srgbClr val="1F2933"/>
                </a:solidFill>
                <a:latin typeface="Calibri"/>
              </a:rPr>
              <a:t>Team ID – [Team ID]</a:t>
            </a:r>
          </a:p>
          <a:p>
            <a:pPr algn="l">
              <a:lnSpc>
                <a:spcPct val="135000"/>
              </a:lnSpc>
              <a:spcAft>
                <a:spcPts val="400"/>
              </a:spcAft>
            </a:pPr>
            <a:r>
              <a:rPr sz="1150" b="0">
                <a:solidFill>
                  <a:srgbClr val="1F2933"/>
                </a:solidFill>
                <a:latin typeface="Calibri"/>
              </a:rPr>
              <a:t>Team Name (registered on portal) – [Team name as on portal]</a:t>
            </a:r>
          </a:p>
        </p:txBody>
      </p:sp>
      <p:sp>
        <p:nvSpPr>
          <p:cNvPr id="42" name="TextBox 41"/>
          <p:cNvSpPr txBox="1"/>
          <p:nvPr/>
        </p:nvSpPr>
        <p:spPr>
          <a:xfrm>
            <a:off x="1783080" y="5532120"/>
            <a:ext cx="9509760" cy="457200"/>
          </a:xfrm>
          <a:prstGeom prst="rect">
            <a:avLst/>
          </a:prstGeom>
          <a:noFill/>
        </p:spPr>
        <p:txBody>
          <a:bodyPr wrap="square" lIns="0" rIns="0" tIns="0" bIns="0" anchor="t">
            <a:spAutoFit/>
          </a:bodyPr>
          <a:lstStyle/>
          <a:p>
            <a:pPr algn="l">
              <a:lnSpc>
                <a:spcPct val="105000"/>
              </a:lnSpc>
              <a:spcAft>
                <a:spcPts val="0"/>
              </a:spcAft>
            </a:pPr>
            <a:r>
              <a:rPr sz="1000" b="0">
                <a:solidFill>
                  <a:srgbClr val="5B6B7B"/>
                </a:solidFill>
                <a:latin typeface="Calibri"/>
              </a:rPr>
              <a:t>An early-warning layer over MoSPI's monthly PAIMANA Flash Reports. Report-based evidence, human review, no new data collection.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783080" y="128016"/>
            <a:ext cx="9509760" cy="658368"/>
          </a:xfrm>
        </p:spPr>
        <p:txBody>
          <a:bodyPr wrap="square" anchor="ctr"/>
          <a:lstStyle/>
          <a:p>
            <a:pPr eaLnBrk="1" hangingPunct="1" algn="l"/>
            <a:r>
              <a:rPr sz="2800" b="1">
                <a:solidFill>
                  <a:srgbClr val="102A43"/>
                </a:solidFill>
                <a:latin typeface="Times New Roman"/>
              </a:rPr>
              <a:t>PARAKH (परख) — the one-month head start</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50" b="1">
                <a:solidFill>
                  <a:srgbClr val="102A43"/>
                </a:solidFill>
                <a:latin typeface="Calibri"/>
              </a:rPr>
              <a:t>[Team name as on portal]</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1783080" y="786384"/>
            <a:ext cx="9509760" cy="237744"/>
          </a:xfrm>
          <a:prstGeom prst="rect">
            <a:avLst/>
          </a:prstGeom>
          <a:noFill/>
        </p:spPr>
        <p:txBody>
          <a:bodyPr wrap="square" lIns="0" rIns="0" tIns="0" bIns="0" anchor="t">
            <a:spAutoFit/>
          </a:bodyPr>
          <a:lstStyle/>
          <a:p>
            <a:pPr algn="l">
              <a:lnSpc>
                <a:spcPct val="105000"/>
              </a:lnSpc>
              <a:spcAft>
                <a:spcPts val="0"/>
              </a:spcAft>
            </a:pPr>
            <a:r>
              <a:rPr sz="1150" b="0">
                <a:solidFill>
                  <a:srgbClr val="5B6B7B"/>
                </a:solidFill>
                <a:latin typeface="Calibri"/>
              </a:rPr>
              <a:t>A warning is only useful when you can see its evidence — and act on it before the next report publishes.</a:t>
            </a:r>
          </a:p>
        </p:txBody>
      </p:sp>
      <p:sp>
        <p:nvSpPr>
          <p:cNvPr id="15363" name="TextBox 15362"/>
          <p:cNvSpPr txBox="1"/>
          <p:nvPr/>
        </p:nvSpPr>
        <p:spPr>
          <a:xfrm>
            <a:off x="457200" y="1115568"/>
            <a:ext cx="370332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PROPOSED SOLUTION — DETAILED EXPLANATION</a:t>
            </a:r>
          </a:p>
        </p:txBody>
      </p:sp>
      <p:sp>
        <p:nvSpPr>
          <p:cNvPr id="15364" name="Rectangle 15363"/>
          <p:cNvSpPr/>
          <p:nvPr/>
        </p:nvSpPr>
        <p:spPr>
          <a:xfrm>
            <a:off x="457200" y="1303020"/>
            <a:ext cx="370332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65" name="TextBox 15364"/>
          <p:cNvSpPr txBox="1"/>
          <p:nvPr/>
        </p:nvSpPr>
        <p:spPr>
          <a:xfrm>
            <a:off x="457200" y="1426464"/>
            <a:ext cx="3703320" cy="1143000"/>
          </a:xfrm>
          <a:prstGeom prst="rect">
            <a:avLst/>
          </a:prstGeom>
          <a:noFill/>
        </p:spPr>
        <p:txBody>
          <a:bodyPr wrap="square" lIns="0" rIns="0" tIns="0" bIns="0" anchor="t">
            <a:spAutoFit/>
          </a:bodyPr>
          <a:lstStyle/>
          <a:p>
            <a:pPr algn="l">
              <a:lnSpc>
                <a:spcPct val="106000"/>
              </a:lnSpc>
              <a:spcAft>
                <a:spcPts val="400"/>
              </a:spcAft>
            </a:pPr>
            <a:r>
              <a:rPr sz="1050" b="0">
                <a:solidFill>
                  <a:srgbClr val="1F2933"/>
                </a:solidFill>
                <a:latin typeface="Calibri"/>
              </a:rPr>
              <a:t>PARAKH reads the Flash Report MoSPI already publishes and turns it into a risk-ranked review queue: what is wrong today, what is likely to be revised in the next report, and why.</a:t>
            </a:r>
          </a:p>
          <a:p>
            <a:pPr algn="l">
              <a:lnSpc>
                <a:spcPct val="106000"/>
              </a:lnSpc>
              <a:spcAft>
                <a:spcPts val="400"/>
              </a:spcAft>
            </a:pPr>
            <a:r>
              <a:rPr sz="1000" b="0">
                <a:solidFill>
                  <a:srgbClr val="5B6B7B"/>
                </a:solidFill>
                <a:latin typeface="Calibri"/>
              </a:rPr>
              <a:t>No new data collection. No change to how MoSPI publishes. One added layer on the existing monthly cycle.</a:t>
            </a:r>
          </a:p>
        </p:txBody>
      </p:sp>
      <p:sp>
        <p:nvSpPr>
          <p:cNvPr id="15366" name="Rounded Rectangle 15365"/>
          <p:cNvSpPr/>
          <p:nvPr/>
        </p:nvSpPr>
        <p:spPr>
          <a:xfrm>
            <a:off x="457200" y="2688336"/>
            <a:ext cx="274320" cy="274320"/>
          </a:xfrm>
          <a:prstGeom prst="roundRect">
            <a:avLst>
              <a:gd name="adj" fmla="val 18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1000" b="1">
                <a:solidFill>
                  <a:srgbClr val="FFFFFF"/>
                </a:solidFill>
                <a:latin typeface="Calibri"/>
              </a:rPr>
              <a:t>1</a:t>
            </a:r>
          </a:p>
        </p:txBody>
      </p:sp>
      <p:sp>
        <p:nvSpPr>
          <p:cNvPr id="15367" name="TextBox 15366"/>
          <p:cNvSpPr txBox="1"/>
          <p:nvPr/>
        </p:nvSpPr>
        <p:spPr>
          <a:xfrm>
            <a:off x="822960" y="2660904"/>
            <a:ext cx="3337560" cy="292608"/>
          </a:xfrm>
          <a:prstGeom prst="rect">
            <a:avLst/>
          </a:prstGeom>
          <a:noFill/>
        </p:spPr>
        <p:txBody>
          <a:bodyPr wrap="square" lIns="0" rIns="0" tIns="0" bIns="0" anchor="t">
            <a:spAutoFit/>
          </a:bodyPr>
          <a:lstStyle/>
          <a:p>
            <a:pPr algn="l">
              <a:lnSpc>
                <a:spcPct val="105000"/>
              </a:lnSpc>
              <a:spcAft>
                <a:spcPts val="0"/>
              </a:spcAft>
            </a:pPr>
            <a:r>
              <a:rPr sz="950" b="1">
                <a:solidFill>
                  <a:srgbClr val="102A43"/>
                </a:solidFill>
                <a:latin typeface="Calibri"/>
              </a:rPr>
              <a:t>MONTHLY PDF  </a:t>
            </a:r>
          </a:p>
          <a:p>
            <a:pPr algn="l">
              <a:lnSpc>
                <a:spcPct val="105000"/>
              </a:lnSpc>
              <a:spcAft>
                <a:spcPts val="0"/>
              </a:spcAft>
            </a:pPr>
            <a:r>
              <a:rPr sz="900" b="0">
                <a:solidFill>
                  <a:srgbClr val="5B6B7B"/>
                </a:solidFill>
                <a:latin typeface="Calibri"/>
              </a:rPr>
              <a:t>the report as published</a:t>
            </a:r>
          </a:p>
        </p:txBody>
      </p:sp>
      <p:sp>
        <p:nvSpPr>
          <p:cNvPr id="15368" name="Rectangle 15367"/>
          <p:cNvSpPr/>
          <p:nvPr/>
        </p:nvSpPr>
        <p:spPr>
          <a:xfrm>
            <a:off x="589788" y="2971800"/>
            <a:ext cx="18288" cy="137160"/>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69" name="Rounded Rectangle 15368"/>
          <p:cNvSpPr/>
          <p:nvPr/>
        </p:nvSpPr>
        <p:spPr>
          <a:xfrm>
            <a:off x="457200" y="3108960"/>
            <a:ext cx="274320" cy="274320"/>
          </a:xfrm>
          <a:prstGeom prst="roundRect">
            <a:avLst>
              <a:gd name="adj" fmla="val 18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1000" b="1">
                <a:solidFill>
                  <a:srgbClr val="FFFFFF"/>
                </a:solidFill>
                <a:latin typeface="Calibri"/>
              </a:rPr>
              <a:t>2</a:t>
            </a:r>
          </a:p>
        </p:txBody>
      </p:sp>
      <p:sp>
        <p:nvSpPr>
          <p:cNvPr id="15370" name="TextBox 15369"/>
          <p:cNvSpPr txBox="1"/>
          <p:nvPr/>
        </p:nvSpPr>
        <p:spPr>
          <a:xfrm>
            <a:off x="822960" y="3081528"/>
            <a:ext cx="3337560" cy="292608"/>
          </a:xfrm>
          <a:prstGeom prst="rect">
            <a:avLst/>
          </a:prstGeom>
          <a:noFill/>
        </p:spPr>
        <p:txBody>
          <a:bodyPr wrap="square" lIns="0" rIns="0" tIns="0" bIns="0" anchor="t">
            <a:spAutoFit/>
          </a:bodyPr>
          <a:lstStyle/>
          <a:p>
            <a:pPr algn="l">
              <a:lnSpc>
                <a:spcPct val="105000"/>
              </a:lnSpc>
              <a:spcAft>
                <a:spcPts val="0"/>
              </a:spcAft>
            </a:pPr>
            <a:r>
              <a:rPr sz="950" b="1">
                <a:solidFill>
                  <a:srgbClr val="102A43"/>
                </a:solidFill>
                <a:latin typeface="Calibri"/>
              </a:rPr>
              <a:t>VERIFY + TRACE  </a:t>
            </a:r>
          </a:p>
          <a:p>
            <a:pPr algn="l">
              <a:lnSpc>
                <a:spcPct val="105000"/>
              </a:lnSpc>
              <a:spcAft>
                <a:spcPts val="0"/>
              </a:spcAft>
            </a:pPr>
            <a:r>
              <a:rPr sz="900" b="0">
                <a:solidFill>
                  <a:srgbClr val="5B6B7B"/>
                </a:solidFill>
                <a:latin typeface="Calibri"/>
              </a:rPr>
              <a:t>every field keeps its page</a:t>
            </a:r>
          </a:p>
        </p:txBody>
      </p:sp>
      <p:sp>
        <p:nvSpPr>
          <p:cNvPr id="15371" name="Rectangle 15370"/>
          <p:cNvSpPr/>
          <p:nvPr/>
        </p:nvSpPr>
        <p:spPr>
          <a:xfrm>
            <a:off x="589788" y="3392424"/>
            <a:ext cx="18288" cy="137160"/>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72" name="Rounded Rectangle 15371"/>
          <p:cNvSpPr/>
          <p:nvPr/>
        </p:nvSpPr>
        <p:spPr>
          <a:xfrm>
            <a:off x="457200" y="3529584"/>
            <a:ext cx="274320" cy="274320"/>
          </a:xfrm>
          <a:prstGeom prst="roundRect">
            <a:avLst>
              <a:gd name="adj" fmla="val 18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1000" b="1">
                <a:solidFill>
                  <a:srgbClr val="FFFFFF"/>
                </a:solidFill>
                <a:latin typeface="Calibri"/>
              </a:rPr>
              <a:t>3</a:t>
            </a:r>
          </a:p>
        </p:txBody>
      </p:sp>
      <p:sp>
        <p:nvSpPr>
          <p:cNvPr id="15373" name="TextBox 15372"/>
          <p:cNvSpPr txBox="1"/>
          <p:nvPr/>
        </p:nvSpPr>
        <p:spPr>
          <a:xfrm>
            <a:off x="822960" y="3502152"/>
            <a:ext cx="3337560" cy="292608"/>
          </a:xfrm>
          <a:prstGeom prst="rect">
            <a:avLst/>
          </a:prstGeom>
          <a:noFill/>
        </p:spPr>
        <p:txBody>
          <a:bodyPr wrap="square" lIns="0" rIns="0" tIns="0" bIns="0" anchor="t">
            <a:spAutoFit/>
          </a:bodyPr>
          <a:lstStyle/>
          <a:p>
            <a:pPr algn="l">
              <a:lnSpc>
                <a:spcPct val="105000"/>
              </a:lnSpc>
              <a:spcAft>
                <a:spcPts val="0"/>
              </a:spcAft>
            </a:pPr>
            <a:r>
              <a:rPr sz="950" b="1">
                <a:solidFill>
                  <a:srgbClr val="102A43"/>
                </a:solidFill>
                <a:latin typeface="Calibri"/>
              </a:rPr>
              <a:t>PROJECT TRAIL  </a:t>
            </a:r>
          </a:p>
          <a:p>
            <a:pPr algn="l">
              <a:lnSpc>
                <a:spcPct val="105000"/>
              </a:lnSpc>
              <a:spcAft>
                <a:spcPts val="0"/>
              </a:spcAft>
            </a:pPr>
            <a:r>
              <a:rPr sz="900" b="0">
                <a:solidFill>
                  <a:srgbClr val="5B6B7B"/>
                </a:solidFill>
                <a:latin typeface="Calibri"/>
              </a:rPr>
              <a:t>12 months linked per project</a:t>
            </a:r>
          </a:p>
        </p:txBody>
      </p:sp>
      <p:sp>
        <p:nvSpPr>
          <p:cNvPr id="15374" name="Rectangle 15373"/>
          <p:cNvSpPr/>
          <p:nvPr/>
        </p:nvSpPr>
        <p:spPr>
          <a:xfrm>
            <a:off x="589788" y="3813048"/>
            <a:ext cx="18288" cy="137160"/>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75" name="Rounded Rectangle 15374"/>
          <p:cNvSpPr/>
          <p:nvPr/>
        </p:nvSpPr>
        <p:spPr>
          <a:xfrm>
            <a:off x="457200" y="3950208"/>
            <a:ext cx="274320" cy="274320"/>
          </a:xfrm>
          <a:prstGeom prst="roundRect">
            <a:avLst>
              <a:gd name="adj" fmla="val 18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1000" b="1">
                <a:solidFill>
                  <a:srgbClr val="FFFFFF"/>
                </a:solidFill>
                <a:latin typeface="Calibri"/>
              </a:rPr>
              <a:t>4</a:t>
            </a:r>
          </a:p>
        </p:txBody>
      </p:sp>
      <p:sp>
        <p:nvSpPr>
          <p:cNvPr id="15376" name="TextBox 15375"/>
          <p:cNvSpPr txBox="1"/>
          <p:nvPr/>
        </p:nvSpPr>
        <p:spPr>
          <a:xfrm>
            <a:off x="822960" y="3922776"/>
            <a:ext cx="3337560" cy="292608"/>
          </a:xfrm>
          <a:prstGeom prst="rect">
            <a:avLst/>
          </a:prstGeom>
          <a:noFill/>
        </p:spPr>
        <p:txBody>
          <a:bodyPr wrap="square" lIns="0" rIns="0" tIns="0" bIns="0" anchor="t">
            <a:spAutoFit/>
          </a:bodyPr>
          <a:lstStyle/>
          <a:p>
            <a:pPr algn="l">
              <a:lnSpc>
                <a:spcPct val="105000"/>
              </a:lnSpc>
              <a:spcAft>
                <a:spcPts val="0"/>
              </a:spcAft>
            </a:pPr>
            <a:r>
              <a:rPr sz="950" b="1">
                <a:solidFill>
                  <a:srgbClr val="102A43"/>
                </a:solidFill>
                <a:latin typeface="Calibri"/>
              </a:rPr>
              <a:t>TWO ENGINES  </a:t>
            </a:r>
          </a:p>
          <a:p>
            <a:pPr algn="l">
              <a:lnSpc>
                <a:spcPct val="105000"/>
              </a:lnSpc>
              <a:spcAft>
                <a:spcPts val="0"/>
              </a:spcAft>
            </a:pPr>
            <a:r>
              <a:rPr sz="900" b="0">
                <a:solidFill>
                  <a:srgbClr val="5B6B7B"/>
                </a:solidFill>
                <a:latin typeface="Calibri"/>
              </a:rPr>
              <a:t>score today · warn next month</a:t>
            </a:r>
          </a:p>
        </p:txBody>
      </p:sp>
      <p:sp>
        <p:nvSpPr>
          <p:cNvPr id="15377" name="Rectangle 15376"/>
          <p:cNvSpPr/>
          <p:nvPr/>
        </p:nvSpPr>
        <p:spPr>
          <a:xfrm>
            <a:off x="589788" y="4233672"/>
            <a:ext cx="18288" cy="137160"/>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78" name="Rounded Rectangle 15377"/>
          <p:cNvSpPr/>
          <p:nvPr/>
        </p:nvSpPr>
        <p:spPr>
          <a:xfrm>
            <a:off x="457200" y="4370832"/>
            <a:ext cx="274320" cy="274320"/>
          </a:xfrm>
          <a:prstGeom prst="roundRect">
            <a:avLst>
              <a:gd name="adj" fmla="val 18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1000" b="1">
                <a:solidFill>
                  <a:srgbClr val="FFFFFF"/>
                </a:solidFill>
                <a:latin typeface="Calibri"/>
              </a:rPr>
              <a:t>5</a:t>
            </a:r>
          </a:p>
        </p:txBody>
      </p:sp>
      <p:sp>
        <p:nvSpPr>
          <p:cNvPr id="15379" name="TextBox 15378"/>
          <p:cNvSpPr txBox="1"/>
          <p:nvPr/>
        </p:nvSpPr>
        <p:spPr>
          <a:xfrm>
            <a:off x="822960" y="4343400"/>
            <a:ext cx="3337560" cy="292608"/>
          </a:xfrm>
          <a:prstGeom prst="rect">
            <a:avLst/>
          </a:prstGeom>
          <a:noFill/>
        </p:spPr>
        <p:txBody>
          <a:bodyPr wrap="square" lIns="0" rIns="0" tIns="0" bIns="0" anchor="t">
            <a:spAutoFit/>
          </a:bodyPr>
          <a:lstStyle/>
          <a:p>
            <a:pPr algn="l">
              <a:lnSpc>
                <a:spcPct val="105000"/>
              </a:lnSpc>
              <a:spcAft>
                <a:spcPts val="0"/>
              </a:spcAft>
            </a:pPr>
            <a:r>
              <a:rPr sz="950" b="1">
                <a:solidFill>
                  <a:srgbClr val="102A43"/>
                </a:solidFill>
                <a:latin typeface="Calibri"/>
              </a:rPr>
              <a:t>RANKED QUEUE  </a:t>
            </a:r>
          </a:p>
          <a:p>
            <a:pPr algn="l">
              <a:lnSpc>
                <a:spcPct val="105000"/>
              </a:lnSpc>
              <a:spcAft>
                <a:spcPts val="0"/>
              </a:spcAft>
            </a:pPr>
            <a:r>
              <a:rPr sz="900" b="0">
                <a:solidFill>
                  <a:srgbClr val="5B6B7B"/>
                </a:solidFill>
                <a:latin typeface="Calibri"/>
              </a:rPr>
              <a:t>flag · driver · evidence</a:t>
            </a:r>
          </a:p>
        </p:txBody>
      </p:sp>
      <p:sp>
        <p:nvSpPr>
          <p:cNvPr id="15380" name="TextBox 15379"/>
          <p:cNvSpPr txBox="1"/>
          <p:nvPr/>
        </p:nvSpPr>
        <p:spPr>
          <a:xfrm>
            <a:off x="4343400" y="1115568"/>
            <a:ext cx="365760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HOW IT ADDRESSES THE PROBLEM</a:t>
            </a:r>
          </a:p>
        </p:txBody>
      </p:sp>
      <p:sp>
        <p:nvSpPr>
          <p:cNvPr id="15381" name="Rectangle 15380"/>
          <p:cNvSpPr/>
          <p:nvPr/>
        </p:nvSpPr>
        <p:spPr>
          <a:xfrm>
            <a:off x="4343400" y="1303020"/>
            <a:ext cx="365760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82" name="TextBox 15381"/>
          <p:cNvSpPr txBox="1"/>
          <p:nvPr/>
        </p:nvSpPr>
        <p:spPr>
          <a:xfrm>
            <a:off x="4343400" y="1426464"/>
            <a:ext cx="3657600" cy="3520440"/>
          </a:xfrm>
          <a:prstGeom prst="rect">
            <a:avLst/>
          </a:prstGeom>
          <a:noFill/>
        </p:spPr>
        <p:txBody>
          <a:bodyPr wrap="square" lIns="0" rIns="0" tIns="0" bIns="0" anchor="t">
            <a:spAutoFit/>
          </a:bodyPr>
          <a:lstStyle/>
          <a:p>
            <a:pPr algn="l">
              <a:lnSpc>
                <a:spcPct val="105000"/>
              </a:lnSpc>
              <a:spcAft>
                <a:spcPts val="400"/>
              </a:spcAft>
            </a:pPr>
            <a:r>
              <a:rPr sz="1000" b="1">
                <a:solidFill>
                  <a:srgbClr val="B32B22"/>
                </a:solidFill>
                <a:latin typeface="Calibri"/>
              </a:rPr>
              <a:t>TODAY  </a:t>
            </a:r>
          </a:p>
          <a:p>
            <a:pPr algn="l">
              <a:lnSpc>
                <a:spcPct val="105000"/>
              </a:lnSpc>
              <a:spcAft>
                <a:spcPts val="400"/>
              </a:spcAft>
            </a:pPr>
            <a:r>
              <a:rPr sz="1050" b="0">
                <a:solidFill>
                  <a:srgbClr val="1F2933"/>
                </a:solidFill>
                <a:latin typeface="Calibri"/>
              </a:rPr>
              <a:t>The report tells you what already happened: ~2,000 projects, 400+ pages a month. Attention is spread evenly and the signal arrives late.</a:t>
            </a:r>
          </a:p>
          <a:p>
            <a:pPr algn="l">
              <a:lnSpc>
                <a:spcPct val="105000"/>
              </a:lnSpc>
              <a:spcAft>
                <a:spcPts val="400"/>
              </a:spcAft>
            </a:pPr>
            <a:r>
              <a:rPr sz="1050" b="1">
                <a:solidFill>
                  <a:srgbClr val="1F2933"/>
                </a:solidFill>
                <a:latin typeface="Calibri"/>
              </a:rPr>
              <a:t>PARAKH answers three questions for every project:</a:t>
            </a:r>
          </a:p>
          <a:p>
            <a:pPr algn="l">
              <a:lnSpc>
                <a:spcPct val="105000"/>
              </a:lnSpc>
              <a:spcAft>
                <a:spcPts val="400"/>
              </a:spcAft>
            </a:pPr>
            <a:r>
              <a:rPr sz="1050" b="1">
                <a:solidFill>
                  <a:srgbClr val="102A43"/>
                </a:solidFill>
                <a:latin typeface="Calibri"/>
              </a:rPr>
              <a:t>WHAT IS WRONG NOW?  </a:t>
            </a:r>
          </a:p>
          <a:p>
            <a:pPr algn="l" marL="137160" indent="-137160">
              <a:lnSpc>
                <a:spcPct val="105000"/>
              </a:lnSpc>
              <a:spcAft>
                <a:spcPts val="400"/>
              </a:spcAft>
              <a:buFont typeface="Arial"/>
              <a:buChar char="•"/>
            </a:pPr>
            <a:r>
              <a:rPr sz="1050" b="0">
                <a:solidFill>
                  <a:srgbClr val="1F2933"/>
                </a:solidFill>
                <a:latin typeface="Calibri"/>
              </a:rPr>
              <a:t>a transparent 0–100 rule score built from published arithmetic, with the strongest contributing factor named.</a:t>
            </a:r>
          </a:p>
          <a:p>
            <a:pPr algn="l">
              <a:lnSpc>
                <a:spcPct val="105000"/>
              </a:lnSpc>
              <a:spcAft>
                <a:spcPts val="400"/>
              </a:spcAft>
            </a:pPr>
            <a:r>
              <a:rPr sz="1050" b="1">
                <a:solidFill>
                  <a:srgbClr val="102A43"/>
                </a:solidFill>
                <a:latin typeface="Calibri"/>
              </a:rPr>
              <a:t>WHAT IS LIKELY NEXT MONTH?  </a:t>
            </a:r>
          </a:p>
          <a:p>
            <a:pPr algn="l" marL="137160" indent="-137160">
              <a:lnSpc>
                <a:spcPct val="105000"/>
              </a:lnSpc>
              <a:spcAft>
                <a:spcPts val="400"/>
              </a:spcAft>
              <a:buFont typeface="Arial"/>
              <a:buChar char="•"/>
            </a:pPr>
            <a:r>
              <a:rPr sz="1050" b="0">
                <a:solidFill>
                  <a:srgbClr val="1F2933"/>
                </a:solidFill>
                <a:latin typeface="Calibri"/>
              </a:rPr>
              <a:t>classifiers estimating a cost revision or a completion-date change in the next monthly report.</a:t>
            </a:r>
          </a:p>
          <a:p>
            <a:pPr algn="l">
              <a:lnSpc>
                <a:spcPct val="105000"/>
              </a:lnSpc>
              <a:spcAft>
                <a:spcPts val="400"/>
              </a:spcAft>
            </a:pPr>
            <a:r>
              <a:rPr sz="1050" b="1">
                <a:solidFill>
                  <a:srgbClr val="102A43"/>
                </a:solidFill>
                <a:latin typeface="Calibri"/>
              </a:rPr>
              <a:t>WHY?  </a:t>
            </a:r>
          </a:p>
          <a:p>
            <a:pPr algn="l" marL="137160" indent="-137160">
              <a:lnSpc>
                <a:spcPct val="105000"/>
              </a:lnSpc>
              <a:spcAft>
                <a:spcPts val="400"/>
              </a:spcAft>
              <a:buFont typeface="Arial"/>
              <a:buChar char="•"/>
            </a:pPr>
            <a:r>
              <a:rPr sz="1050" b="0">
                <a:solidFill>
                  <a:srgbClr val="1F2933"/>
                </a:solidFill>
                <a:latin typeface="Calibri"/>
              </a:rPr>
              <a:t>the report, the page, the changed field, and how much each input pushed the score in the UI.</a:t>
            </a:r>
          </a:p>
          <a:p>
            <a:pPr algn="l">
              <a:lnSpc>
                <a:spcPct val="105000"/>
              </a:lnSpc>
              <a:spcAft>
                <a:spcPts val="400"/>
              </a:spcAft>
            </a:pPr>
            <a:r>
              <a:rPr sz="1050" b="0">
                <a:solidFill>
                  <a:srgbClr val="1F2933"/>
                </a:solidFill>
                <a:latin typeface="Calibri"/>
              </a:rPr>
              <a:t>The queue is sized to reviewer capacity, so attention becomes proportionate to risk instead of uniform.</a:t>
            </a:r>
          </a:p>
          <a:p>
            <a:pPr algn="l">
              <a:lnSpc>
                <a:spcPct val="105000"/>
              </a:lnSpc>
              <a:spcAft>
                <a:spcPts val="400"/>
              </a:spcAft>
            </a:pPr>
            <a:r>
              <a:rPr sz="1050" b="1">
                <a:solidFill>
                  <a:srgbClr val="1F2933"/>
                </a:solidFill>
                <a:latin typeface="Calibri"/>
              </a:rPr>
              <a:t>A flag is a prompt to investigate, never a verdict.</a:t>
            </a:r>
          </a:p>
        </p:txBody>
      </p:sp>
      <p:sp>
        <p:nvSpPr>
          <p:cNvPr id="15383" name="TextBox 15382"/>
          <p:cNvSpPr txBox="1"/>
          <p:nvPr/>
        </p:nvSpPr>
        <p:spPr>
          <a:xfrm>
            <a:off x="8183880" y="1115568"/>
            <a:ext cx="356616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INNOVATION AND UNIQUENESS OF THE SOLUTION</a:t>
            </a:r>
          </a:p>
        </p:txBody>
      </p:sp>
      <p:sp>
        <p:nvSpPr>
          <p:cNvPr id="15384" name="Rectangle 15383"/>
          <p:cNvSpPr/>
          <p:nvPr/>
        </p:nvSpPr>
        <p:spPr>
          <a:xfrm>
            <a:off x="8183880" y="1303020"/>
            <a:ext cx="356616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85" name="TextBox 15384"/>
          <p:cNvSpPr txBox="1"/>
          <p:nvPr/>
        </p:nvSpPr>
        <p:spPr>
          <a:xfrm>
            <a:off x="8183880" y="1426464"/>
            <a:ext cx="3566160" cy="3520440"/>
          </a:xfrm>
          <a:prstGeom prst="rect">
            <a:avLst/>
          </a:prstGeom>
          <a:noFill/>
        </p:spPr>
        <p:txBody>
          <a:bodyPr wrap="square" lIns="0" rIns="0" tIns="0" bIns="0" anchor="t">
            <a:spAutoFit/>
          </a:bodyPr>
          <a:lstStyle/>
          <a:p>
            <a:pPr algn="l">
              <a:lnSpc>
                <a:spcPct val="105000"/>
              </a:lnSpc>
              <a:spcAft>
                <a:spcPts val="400"/>
              </a:spcAft>
            </a:pPr>
            <a:r>
              <a:rPr sz="1050" b="1">
                <a:solidFill>
                  <a:srgbClr val="102A43"/>
                </a:solidFill>
                <a:latin typeface="Calibri"/>
              </a:rPr>
              <a:t>1 · We predict drift, not failure.</a:t>
            </a:r>
          </a:p>
          <a:p>
            <a:pPr algn="l">
              <a:lnSpc>
                <a:spcPct val="105000"/>
              </a:lnSpc>
              <a:spcAft>
                <a:spcPts val="400"/>
              </a:spcAft>
            </a:pPr>
            <a:r>
              <a:rPr sz="1050" b="0">
                <a:solidFill>
                  <a:srgbClr val="1F2933"/>
                </a:solidFill>
                <a:latin typeface="Calibri"/>
              </a:rPr>
              <a:t>A project rarely collapses — its clocks separate. PARAKH ranks by the widest gap between three clocks:</a:t>
            </a:r>
          </a:p>
          <a:p>
            <a:pPr algn="l">
              <a:lnSpc>
                <a:spcPct val="105000"/>
              </a:lnSpc>
              <a:spcAft>
                <a:spcPts val="400"/>
              </a:spcAft>
            </a:pPr>
            <a:r>
              <a:rPr sz="1050" b="1">
                <a:solidFill>
                  <a:srgbClr val="1F2933"/>
                </a:solidFill>
                <a:latin typeface="Calibri"/>
              </a:rPr>
              <a:t>TIME vs PROGRESS  </a:t>
            </a:r>
          </a:p>
          <a:p>
            <a:pPr algn="l" marL="137160" indent="-137160">
              <a:lnSpc>
                <a:spcPct val="105000"/>
              </a:lnSpc>
              <a:spcAft>
                <a:spcPts val="400"/>
              </a:spcAft>
              <a:buFont typeface="Arial"/>
              <a:buChar char="•"/>
            </a:pPr>
            <a:r>
              <a:rPr sz="1050" b="0">
                <a:solidFill>
                  <a:srgbClr val="1F2933"/>
                </a:solidFill>
                <a:latin typeface="Calibri"/>
              </a:rPr>
              <a:t>calendar consumed against work completed.</a:t>
            </a:r>
          </a:p>
          <a:p>
            <a:pPr algn="l">
              <a:lnSpc>
                <a:spcPct val="105000"/>
              </a:lnSpc>
              <a:spcAft>
                <a:spcPts val="400"/>
              </a:spcAft>
            </a:pPr>
            <a:r>
              <a:rPr sz="1050" b="1">
                <a:solidFill>
                  <a:srgbClr val="1F2933"/>
                </a:solidFill>
                <a:latin typeface="Calibri"/>
              </a:rPr>
              <a:t>MONEY vs PROGRESS  </a:t>
            </a:r>
          </a:p>
          <a:p>
            <a:pPr algn="l" marL="137160" indent="-137160">
              <a:lnSpc>
                <a:spcPct val="105000"/>
              </a:lnSpc>
              <a:spcAft>
                <a:spcPts val="400"/>
              </a:spcAft>
              <a:buFont typeface="Arial"/>
              <a:buChar char="•"/>
            </a:pPr>
            <a:r>
              <a:rPr sz="1050" b="0">
                <a:solidFill>
                  <a:srgbClr val="1F2933"/>
                </a:solidFill>
                <a:latin typeface="Calibri"/>
              </a:rPr>
              <a:t>budget released against work completed — paying ahead of building.</a:t>
            </a:r>
          </a:p>
          <a:p>
            <a:pPr algn="l">
              <a:lnSpc>
                <a:spcPct val="105000"/>
              </a:lnSpc>
              <a:spcAft>
                <a:spcPts val="400"/>
              </a:spcAft>
            </a:pPr>
            <a:r>
              <a:rPr sz="1050" b="1">
                <a:solidFill>
                  <a:srgbClr val="1F2933"/>
                </a:solidFill>
                <a:latin typeface="Calibri"/>
              </a:rPr>
              <a:t>PROMISE vs RECORD  </a:t>
            </a:r>
          </a:p>
          <a:p>
            <a:pPr algn="l" marL="137160" indent="-137160">
              <a:lnSpc>
                <a:spcPct val="105000"/>
              </a:lnSpc>
              <a:spcAft>
                <a:spcPts val="400"/>
              </a:spcAft>
              <a:buFont typeface="Arial"/>
              <a:buChar char="•"/>
            </a:pPr>
            <a:r>
              <a:rPr sz="1050" b="0">
                <a:solidFill>
                  <a:srgbClr val="1F2933"/>
                </a:solidFill>
                <a:latin typeface="Calibri"/>
              </a:rPr>
              <a:t>how often the cost or the completion date have already been revised.</a:t>
            </a:r>
          </a:p>
          <a:p>
            <a:pPr algn="l">
              <a:lnSpc>
                <a:spcPct val="105000"/>
              </a:lnSpc>
              <a:spcAft>
                <a:spcPts val="400"/>
              </a:spcAft>
            </a:pPr>
            <a:r>
              <a:rPr sz="1050" b="1">
                <a:solidFill>
                  <a:srgbClr val="102A43"/>
                </a:solidFill>
                <a:latin typeface="Calibri"/>
              </a:rPr>
              <a:t>2 · An evidence gate.</a:t>
            </a:r>
          </a:p>
          <a:p>
            <a:pPr algn="l">
              <a:lnSpc>
                <a:spcPct val="105000"/>
              </a:lnSpc>
              <a:spcAft>
                <a:spcPts val="400"/>
              </a:spcAft>
            </a:pPr>
            <a:r>
              <a:rPr sz="1050" b="0">
                <a:solidFill>
                  <a:srgbClr val="1F2933"/>
                </a:solidFill>
                <a:latin typeface="Calibri"/>
              </a:rPr>
              <a:t>A record that fails validation is HELD for review, never silently scored or quietly dropped.</a:t>
            </a:r>
          </a:p>
          <a:p>
            <a:pPr algn="l">
              <a:lnSpc>
                <a:spcPct val="105000"/>
              </a:lnSpc>
              <a:spcAft>
                <a:spcPts val="400"/>
              </a:spcAft>
            </a:pPr>
            <a:r>
              <a:rPr sz="1050" b="1">
                <a:solidFill>
                  <a:srgbClr val="102A43"/>
                </a:solidFill>
                <a:latin typeface="Calibri"/>
              </a:rPr>
              <a:t>3 · Two engines, never blended.</a:t>
            </a:r>
          </a:p>
          <a:p>
            <a:pPr algn="l">
              <a:lnSpc>
                <a:spcPct val="105000"/>
              </a:lnSpc>
              <a:spcAft>
                <a:spcPts val="400"/>
              </a:spcAft>
            </a:pPr>
            <a:r>
              <a:rPr sz="1050" b="0">
                <a:solidFill>
                  <a:srgbClr val="1F2933"/>
                </a:solidFill>
                <a:latin typeface="Calibri"/>
              </a:rPr>
              <a:t>Open arithmetic and a learned model are kept separate and labelled for what each one is — so an analyst can always ask why.</a:t>
            </a:r>
          </a:p>
        </p:txBody>
      </p:sp>
      <p:sp>
        <p:nvSpPr>
          <p:cNvPr id="15386" name="Rounded Rectangle 15385"/>
          <p:cNvSpPr/>
          <p:nvPr/>
        </p:nvSpPr>
        <p:spPr>
          <a:xfrm>
            <a:off x="457200" y="4956048"/>
            <a:ext cx="5577840" cy="1097280"/>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87" name="Rectangle 15386"/>
          <p:cNvSpPr/>
          <p:nvPr/>
        </p:nvSpPr>
        <p:spPr>
          <a:xfrm>
            <a:off x="457200" y="4956048"/>
            <a:ext cx="41148" cy="109728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88" name="TextBox 15387"/>
          <p:cNvSpPr txBox="1"/>
          <p:nvPr/>
        </p:nvSpPr>
        <p:spPr>
          <a:xfrm>
            <a:off x="603504" y="5038344"/>
            <a:ext cx="5303520" cy="932688"/>
          </a:xfrm>
          <a:prstGeom prst="rect">
            <a:avLst/>
          </a:prstGeom>
          <a:noFill/>
        </p:spPr>
        <p:txBody>
          <a:bodyPr wrap="square" lIns="0" rIns="0" tIns="0" bIns="0" anchor="t">
            <a:spAutoFit/>
          </a:bodyPr>
          <a:lstStyle/>
          <a:p>
            <a:pPr algn="l">
              <a:lnSpc>
                <a:spcPct val="103000"/>
              </a:lnSpc>
              <a:spcAft>
                <a:spcPts val="0"/>
              </a:spcAft>
            </a:pPr>
            <a:r>
              <a:rPr sz="850" b="1">
                <a:solidFill>
                  <a:srgbClr val="0070C0"/>
                </a:solidFill>
                <a:latin typeface="Calibri"/>
              </a:rPr>
              <a:t>ENGINE 1 · WHAT IS WRONG NOW</a:t>
            </a:r>
          </a:p>
          <a:p>
            <a:pPr algn="l">
              <a:lnSpc>
                <a:spcPct val="103000"/>
              </a:lnSpc>
              <a:spcAft>
                <a:spcPts val="100"/>
              </a:spcAft>
            </a:pPr>
            <a:r>
              <a:rPr sz="1100" b="1">
                <a:solidFill>
                  <a:srgbClr val="102A43"/>
                </a:solidFill>
                <a:latin typeface="Calibri"/>
              </a:rPr>
              <a:t>Open arithmetic, checkable by hand</a:t>
            </a:r>
          </a:p>
          <a:p>
            <a:pPr algn="l">
              <a:lnSpc>
                <a:spcPct val="103000"/>
              </a:lnSpc>
              <a:spcAft>
                <a:spcPts val="0"/>
              </a:spcAft>
            </a:pPr>
            <a:r>
              <a:rPr sz="900" b="0">
                <a:solidFill>
                  <a:srgbClr val="1F2933"/>
                </a:solidFill>
                <a:latin typeface="Calibri"/>
              </a:rPr>
              <a:t>A deterministic 0–100 score built from published inputs — weights, caps and coverage are shown, and the largest contributing component is named as the project's current driver. Same inputs, same score, every time.</a:t>
            </a:r>
          </a:p>
        </p:txBody>
      </p:sp>
      <p:sp>
        <p:nvSpPr>
          <p:cNvPr id="15389" name="Rounded Rectangle 15388"/>
          <p:cNvSpPr/>
          <p:nvPr/>
        </p:nvSpPr>
        <p:spPr>
          <a:xfrm>
            <a:off x="6126480" y="4956048"/>
            <a:ext cx="5623560" cy="1097280"/>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90" name="Rectangle 15389"/>
          <p:cNvSpPr/>
          <p:nvPr/>
        </p:nvSpPr>
        <p:spPr>
          <a:xfrm>
            <a:off x="6126480" y="4956048"/>
            <a:ext cx="41148" cy="1097280"/>
          </a:xfrm>
          <a:prstGeom prst="rect">
            <a:avLst/>
          </a:prstGeom>
          <a:solidFill>
            <a:srgbClr val="B3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91" name="TextBox 15390"/>
          <p:cNvSpPr txBox="1"/>
          <p:nvPr/>
        </p:nvSpPr>
        <p:spPr>
          <a:xfrm>
            <a:off x="6272784" y="5038344"/>
            <a:ext cx="5349240" cy="932688"/>
          </a:xfrm>
          <a:prstGeom prst="rect">
            <a:avLst/>
          </a:prstGeom>
          <a:noFill/>
        </p:spPr>
        <p:txBody>
          <a:bodyPr wrap="square" lIns="0" rIns="0" tIns="0" bIns="0" anchor="t">
            <a:spAutoFit/>
          </a:bodyPr>
          <a:lstStyle/>
          <a:p>
            <a:pPr algn="l">
              <a:lnSpc>
                <a:spcPct val="103000"/>
              </a:lnSpc>
              <a:spcAft>
                <a:spcPts val="0"/>
              </a:spcAft>
            </a:pPr>
            <a:r>
              <a:rPr sz="850" b="1">
                <a:solidFill>
                  <a:srgbClr val="B32B22"/>
                </a:solidFill>
                <a:latin typeface="Calibri"/>
              </a:rPr>
              <a:t>ENGINE 2 · WHAT IS LIKELY IN THE NEXT REPORT</a:t>
            </a:r>
          </a:p>
          <a:p>
            <a:pPr algn="l">
              <a:lnSpc>
                <a:spcPct val="103000"/>
              </a:lnSpc>
              <a:spcAft>
                <a:spcPts val="100"/>
              </a:spcAft>
            </a:pPr>
            <a:r>
              <a:rPr sz="1100" b="1">
                <a:solidFill>
                  <a:srgbClr val="102A43"/>
                </a:solidFill>
                <a:latin typeface="Calibri"/>
              </a:rPr>
              <a:t>A learned estimate, explained per project</a:t>
            </a:r>
          </a:p>
          <a:p>
            <a:pPr algn="l">
              <a:lnSpc>
                <a:spcPct val="103000"/>
              </a:lnSpc>
              <a:spcAft>
                <a:spcPts val="0"/>
              </a:spcAft>
            </a:pPr>
            <a:r>
              <a:rPr sz="900" b="0">
                <a:solidFill>
                  <a:srgbClr val="1F2933"/>
                </a:solidFill>
                <a:latin typeface="Calibri"/>
              </a:rPr>
              <a:t>Classifiers estimate whether the cost will be revised upward or the completion date pushed later in the next monthly report, and every ranking carries the inputs that pushed it up or pulled it down versus the portfolio baseline.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a:xfrm>
            <a:off x="1783080" y="128016"/>
            <a:ext cx="9509760" cy="658368"/>
          </a:xfrm>
        </p:spPr>
        <p:txBody>
          <a:bodyPr wrap="square" anchor="ctr"/>
          <a:lstStyle/>
          <a:p>
            <a:pPr eaLnBrk="1" hangingPunct="1" algn="l"/>
            <a:r>
              <a:rPr sz="3000" b="1">
                <a:solidFill>
                  <a:srgbClr val="102A43"/>
                </a:solidFill>
                <a:latin typeface="Times New Roman"/>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50" b="1">
                <a:solidFill>
                  <a:srgbClr val="102A43"/>
                </a:solidFill>
                <a:latin typeface="Calibri"/>
              </a:rPr>
              <a:t>[Team name as on portal]</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1783080" y="786384"/>
            <a:ext cx="9509760" cy="237744"/>
          </a:xfrm>
          <a:prstGeom prst="rect">
            <a:avLst/>
          </a:prstGeom>
          <a:noFill/>
        </p:spPr>
        <p:txBody>
          <a:bodyPr wrap="square" lIns="0" rIns="0" tIns="0" bIns="0" anchor="t">
            <a:spAutoFit/>
          </a:bodyPr>
          <a:lstStyle/>
          <a:p>
            <a:pPr algn="l">
              <a:lnSpc>
                <a:spcPct val="105000"/>
              </a:lnSpc>
              <a:spcAft>
                <a:spcPts val="0"/>
              </a:spcAft>
            </a:pPr>
            <a:r>
              <a:rPr sz="1150" b="0">
                <a:solidFill>
                  <a:srgbClr val="5B6B7B"/>
                </a:solidFill>
                <a:latin typeface="Calibri"/>
              </a:rPr>
              <a:t>An open stack, an auditable pipeline, and validation that copies the way the system would actually be used.</a:t>
            </a:r>
          </a:p>
        </p:txBody>
      </p:sp>
      <p:sp>
        <p:nvSpPr>
          <p:cNvPr id="17411" name="TextBox 17410"/>
          <p:cNvSpPr txBox="1"/>
          <p:nvPr/>
        </p:nvSpPr>
        <p:spPr>
          <a:xfrm>
            <a:off x="457200" y="1115568"/>
            <a:ext cx="361188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TECHNOLOGIES TO BE USED</a:t>
            </a:r>
          </a:p>
        </p:txBody>
      </p:sp>
      <p:sp>
        <p:nvSpPr>
          <p:cNvPr id="17412" name="Rectangle 17411"/>
          <p:cNvSpPr/>
          <p:nvPr/>
        </p:nvSpPr>
        <p:spPr>
          <a:xfrm>
            <a:off x="457200" y="1303020"/>
            <a:ext cx="361188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TextBox 17412"/>
          <p:cNvSpPr txBox="1"/>
          <p:nvPr/>
        </p:nvSpPr>
        <p:spPr>
          <a:xfrm>
            <a:off x="457200" y="1426464"/>
            <a:ext cx="3611880" cy="4754880"/>
          </a:xfrm>
          <a:prstGeom prst="rect">
            <a:avLst/>
          </a:prstGeom>
          <a:noFill/>
        </p:spPr>
        <p:txBody>
          <a:bodyPr wrap="square" lIns="0" rIns="0" tIns="0" bIns="0" anchor="t">
            <a:spAutoFit/>
          </a:bodyPr>
          <a:lstStyle/>
          <a:p>
            <a:pPr algn="l">
              <a:lnSpc>
                <a:spcPct val="105000"/>
              </a:lnSpc>
              <a:spcAft>
                <a:spcPts val="400"/>
              </a:spcAft>
            </a:pPr>
            <a:r>
              <a:rPr sz="1050" b="1">
                <a:solidFill>
                  <a:srgbClr val="102A43"/>
                </a:solidFill>
                <a:latin typeface="Calibri"/>
              </a:rPr>
              <a:t>Ingest and evidence</a:t>
            </a:r>
          </a:p>
          <a:p>
            <a:pPr algn="l">
              <a:lnSpc>
                <a:spcPct val="105000"/>
              </a:lnSpc>
              <a:spcAft>
                <a:spcPts val="400"/>
              </a:spcAft>
            </a:pPr>
            <a:r>
              <a:rPr sz="1050" b="0">
                <a:solidFill>
                  <a:srgbClr val="1F2933"/>
                </a:solidFill>
                <a:latin typeface="Calibri"/>
              </a:rPr>
              <a:t>Python · pdfplumber · pandas · Parquet. Coordinate-anchored reading of the monthly PDF; every value keeps its report and page.</a:t>
            </a:r>
          </a:p>
          <a:p>
            <a:pPr algn="l">
              <a:lnSpc>
                <a:spcPct val="105000"/>
              </a:lnSpc>
              <a:spcAft>
                <a:spcPts val="400"/>
              </a:spcAft>
            </a:pPr>
            <a:r>
              <a:rPr sz="1050" b="1">
                <a:solidFill>
                  <a:srgbClr val="102A43"/>
                </a:solidFill>
                <a:latin typeface="Calibri"/>
              </a:rPr>
              <a:t>Learning</a:t>
            </a:r>
          </a:p>
          <a:p>
            <a:pPr algn="l">
              <a:lnSpc>
                <a:spcPct val="105000"/>
              </a:lnSpc>
              <a:spcAft>
                <a:spcPts val="400"/>
              </a:spcAft>
            </a:pPr>
            <a:r>
              <a:rPr sz="1050" b="0">
                <a:solidFill>
                  <a:srgbClr val="1F2933"/>
                </a:solidFill>
                <a:latin typeface="Calibri"/>
              </a:rPr>
              <a:t>scikit-learn (logistic regression, gradient boosting) · XGBoost · SHAP for exact per-project attributions.</a:t>
            </a:r>
          </a:p>
          <a:p>
            <a:pPr algn="l">
              <a:lnSpc>
                <a:spcPct val="105000"/>
              </a:lnSpc>
              <a:spcAft>
                <a:spcPts val="400"/>
              </a:spcAft>
            </a:pPr>
            <a:r>
              <a:rPr sz="1050" b="1">
                <a:solidFill>
                  <a:srgbClr val="102A43"/>
                </a:solidFill>
                <a:latin typeface="Calibri"/>
              </a:rPr>
              <a:t>Serve</a:t>
            </a:r>
          </a:p>
          <a:p>
            <a:pPr algn="l">
              <a:lnSpc>
                <a:spcPct val="105000"/>
              </a:lnSpc>
              <a:spcAft>
                <a:spcPts val="400"/>
              </a:spcAft>
            </a:pPr>
            <a:r>
              <a:rPr sz="1050" b="0">
                <a:solidFill>
                  <a:srgbClr val="1F2933"/>
                </a:solidFill>
                <a:latin typeface="Calibri"/>
              </a:rPr>
              <a:t>Next.js (React 19) web app with API routes, JSON/Parquet snapshots and serialised .joblib pipelines.</a:t>
            </a:r>
          </a:p>
          <a:p>
            <a:pPr algn="l">
              <a:lnSpc>
                <a:spcPct val="105000"/>
              </a:lnSpc>
              <a:spcAft>
                <a:spcPts val="400"/>
              </a:spcAft>
            </a:pPr>
            <a:r>
              <a:rPr sz="1050" b="1">
                <a:solidFill>
                  <a:srgbClr val="102A43"/>
                </a:solidFill>
                <a:latin typeface="Calibri"/>
              </a:rPr>
              <a:t>Hardware</a:t>
            </a:r>
          </a:p>
          <a:p>
            <a:pPr algn="l">
              <a:lnSpc>
                <a:spcPct val="105000"/>
              </a:lnSpc>
              <a:spcAft>
                <a:spcPts val="400"/>
              </a:spcAft>
            </a:pPr>
            <a:r>
              <a:rPr sz="1050" b="0">
                <a:solidFill>
                  <a:srgbClr val="1F2933"/>
                </a:solidFill>
                <a:latin typeface="Calibri"/>
              </a:rPr>
              <a:t>Runs offline on a CPU. No GPU, no paid model API, no live connection to MoSPI systems needed.</a:t>
            </a:r>
          </a:p>
          <a:p>
            <a:pPr algn="l">
              <a:lnSpc>
                <a:spcPct val="105000"/>
              </a:lnSpc>
              <a:spcAft>
                <a:spcPts val="400"/>
              </a:spcAft>
            </a:pPr>
            <a:r>
              <a:rPr sz="1050" b="1">
                <a:solidFill>
                  <a:srgbClr val="102A43"/>
                </a:solidFill>
                <a:latin typeface="Calibri"/>
              </a:rPr>
              <a:t>Interfaces</a:t>
            </a:r>
          </a:p>
          <a:p>
            <a:pPr algn="l">
              <a:lnSpc>
                <a:spcPct val="105000"/>
              </a:lnSpc>
              <a:spcAft>
                <a:spcPts val="400"/>
              </a:spcAft>
            </a:pPr>
            <a:r>
              <a:rPr sz="1050" b="0">
                <a:solidFill>
                  <a:srgbClr val="1F2933"/>
                </a:solidFill>
                <a:latin typeface="Calibri"/>
              </a:rPr>
              <a:t>analyst review queue · project record with drivers · ministry view · CSV export.</a:t>
            </a:r>
          </a:p>
          <a:p>
            <a:pPr algn="l">
              <a:lnSpc>
                <a:spcPct val="105000"/>
              </a:lnSpc>
              <a:spcAft>
                <a:spcPts val="400"/>
              </a:spcAft>
            </a:pPr>
            <a:r>
              <a:rPr sz="1050" b="1">
                <a:solidFill>
                  <a:srgbClr val="102A43"/>
                </a:solidFill>
                <a:latin typeface="Calibri"/>
              </a:rPr>
              <a:t>Where it runs</a:t>
            </a:r>
          </a:p>
          <a:p>
            <a:pPr algn="l">
              <a:lnSpc>
                <a:spcPct val="105000"/>
              </a:lnSpc>
              <a:spcAft>
                <a:spcPts val="400"/>
              </a:spcAft>
            </a:pPr>
            <a:r>
              <a:rPr sz="1050" b="0">
                <a:solidFill>
                  <a:srgbClr val="1F2933"/>
                </a:solidFill>
                <a:latin typeface="Calibri"/>
              </a:rPr>
              <a:t>Offline batch inside the department's own network. Nothing leaves it, and no official action is ever dispatched automatically.</a:t>
            </a:r>
          </a:p>
        </p:txBody>
      </p:sp>
      <p:sp>
        <p:nvSpPr>
          <p:cNvPr id="17414" name="TextBox 17413"/>
          <p:cNvSpPr txBox="1"/>
          <p:nvPr/>
        </p:nvSpPr>
        <p:spPr>
          <a:xfrm>
            <a:off x="4251960" y="1115568"/>
            <a:ext cx="749808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METHODOLOGY AND PROCESS FOR IMPLEMENTATION</a:t>
            </a:r>
          </a:p>
        </p:txBody>
      </p:sp>
      <p:sp>
        <p:nvSpPr>
          <p:cNvPr id="17415" name="Rectangle 17414"/>
          <p:cNvSpPr/>
          <p:nvPr/>
        </p:nvSpPr>
        <p:spPr>
          <a:xfrm>
            <a:off x="4251960" y="1303020"/>
            <a:ext cx="749808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6" name="Rounded Rectangle 17415"/>
          <p:cNvSpPr/>
          <p:nvPr/>
        </p:nvSpPr>
        <p:spPr>
          <a:xfrm>
            <a:off x="4251960" y="1426464"/>
            <a:ext cx="2438400" cy="658368"/>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7" name="TextBox 17416"/>
          <p:cNvSpPr txBox="1"/>
          <p:nvPr/>
        </p:nvSpPr>
        <p:spPr>
          <a:xfrm>
            <a:off x="4343400" y="1490472"/>
            <a:ext cx="2255520" cy="548640"/>
          </a:xfrm>
          <a:prstGeom prst="rect">
            <a:avLst/>
          </a:prstGeom>
          <a:noFill/>
        </p:spPr>
        <p:txBody>
          <a:bodyPr wrap="square" lIns="0" rIns="0" tIns="0" bIns="0" anchor="t">
            <a:spAutoFit/>
          </a:bodyPr>
          <a:lstStyle/>
          <a:p>
            <a:pPr algn="l">
              <a:lnSpc>
                <a:spcPct val="100000"/>
              </a:lnSpc>
              <a:spcAft>
                <a:spcPts val="100"/>
              </a:spcAft>
            </a:pPr>
            <a:r>
              <a:rPr sz="950" b="1">
                <a:solidFill>
                  <a:srgbClr val="0070C0"/>
                </a:solidFill>
                <a:latin typeface="Consolas"/>
              </a:rPr>
              <a:t>1  INGEST</a:t>
            </a:r>
          </a:p>
          <a:p>
            <a:pPr algn="l">
              <a:lnSpc>
                <a:spcPct val="100000"/>
              </a:lnSpc>
              <a:spcAft>
                <a:spcPts val="0"/>
              </a:spcAft>
            </a:pPr>
            <a:r>
              <a:rPr sz="850" b="0">
                <a:solidFill>
                  <a:srgbClr val="1F2933"/>
                </a:solidFill>
                <a:latin typeface="Calibri"/>
              </a:rPr>
              <a:t>monthly PDF, OCMS + PAIMANA layouts</a:t>
            </a:r>
          </a:p>
        </p:txBody>
      </p:sp>
      <p:sp>
        <p:nvSpPr>
          <p:cNvPr id="17418" name="Rounded Rectangle 17417"/>
          <p:cNvSpPr/>
          <p:nvPr/>
        </p:nvSpPr>
        <p:spPr>
          <a:xfrm>
            <a:off x="6781800" y="1426464"/>
            <a:ext cx="2438400" cy="658368"/>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9" name="TextBox 17418"/>
          <p:cNvSpPr txBox="1"/>
          <p:nvPr/>
        </p:nvSpPr>
        <p:spPr>
          <a:xfrm>
            <a:off x="6873240" y="1490472"/>
            <a:ext cx="2255520" cy="548640"/>
          </a:xfrm>
          <a:prstGeom prst="rect">
            <a:avLst/>
          </a:prstGeom>
          <a:noFill/>
        </p:spPr>
        <p:txBody>
          <a:bodyPr wrap="square" lIns="0" rIns="0" tIns="0" bIns="0" anchor="t">
            <a:spAutoFit/>
          </a:bodyPr>
          <a:lstStyle/>
          <a:p>
            <a:pPr algn="l">
              <a:lnSpc>
                <a:spcPct val="100000"/>
              </a:lnSpc>
              <a:spcAft>
                <a:spcPts val="100"/>
              </a:spcAft>
            </a:pPr>
            <a:r>
              <a:rPr sz="950" b="1">
                <a:solidFill>
                  <a:srgbClr val="0070C0"/>
                </a:solidFill>
                <a:latin typeface="Consolas"/>
              </a:rPr>
              <a:t>2  VERIFY</a:t>
            </a:r>
          </a:p>
          <a:p>
            <a:pPr algn="l">
              <a:lnSpc>
                <a:spcPct val="100000"/>
              </a:lnSpc>
              <a:spcAft>
                <a:spcPts val="0"/>
              </a:spcAft>
            </a:pPr>
            <a:r>
              <a:rPr sz="850" b="0">
                <a:solidFill>
                  <a:srgbClr val="1F2933"/>
                </a:solidFill>
                <a:latin typeface="Calibri"/>
              </a:rPr>
              <a:t>schema, range and totals checks → VERIFIED / REVIEW_REQUIRED</a:t>
            </a:r>
          </a:p>
        </p:txBody>
      </p:sp>
      <p:sp>
        <p:nvSpPr>
          <p:cNvPr id="17420" name="Rounded Rectangle 17419"/>
          <p:cNvSpPr/>
          <p:nvPr/>
        </p:nvSpPr>
        <p:spPr>
          <a:xfrm>
            <a:off x="9311640" y="1426464"/>
            <a:ext cx="2438400" cy="658368"/>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1" name="TextBox 17420"/>
          <p:cNvSpPr txBox="1"/>
          <p:nvPr/>
        </p:nvSpPr>
        <p:spPr>
          <a:xfrm>
            <a:off x="9403080" y="1490472"/>
            <a:ext cx="2255520" cy="548640"/>
          </a:xfrm>
          <a:prstGeom prst="rect">
            <a:avLst/>
          </a:prstGeom>
          <a:noFill/>
        </p:spPr>
        <p:txBody>
          <a:bodyPr wrap="square" lIns="0" rIns="0" tIns="0" bIns="0" anchor="t">
            <a:spAutoFit/>
          </a:bodyPr>
          <a:lstStyle/>
          <a:p>
            <a:pPr algn="l">
              <a:lnSpc>
                <a:spcPct val="100000"/>
              </a:lnSpc>
              <a:spcAft>
                <a:spcPts val="100"/>
              </a:spcAft>
            </a:pPr>
            <a:r>
              <a:rPr sz="950" b="1">
                <a:solidFill>
                  <a:srgbClr val="0070C0"/>
                </a:solidFill>
                <a:latin typeface="Consolas"/>
              </a:rPr>
              <a:t>3  TRAIL</a:t>
            </a:r>
          </a:p>
          <a:p>
            <a:pPr algn="l">
              <a:lnSpc>
                <a:spcPct val="100000"/>
              </a:lnSpc>
              <a:spcAft>
                <a:spcPts val="0"/>
              </a:spcAft>
            </a:pPr>
            <a:r>
              <a:rPr sz="850" b="0">
                <a:solidFill>
                  <a:srgbClr val="1F2933"/>
                </a:solidFill>
                <a:latin typeface="Calibri"/>
              </a:rPr>
              <a:t>each project's months linked into one history</a:t>
            </a:r>
          </a:p>
        </p:txBody>
      </p:sp>
      <p:sp>
        <p:nvSpPr>
          <p:cNvPr id="17422" name="Rounded Rectangle 17421"/>
          <p:cNvSpPr/>
          <p:nvPr/>
        </p:nvSpPr>
        <p:spPr>
          <a:xfrm>
            <a:off x="4251960" y="2194560"/>
            <a:ext cx="2438400" cy="658368"/>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3" name="TextBox 17422"/>
          <p:cNvSpPr txBox="1"/>
          <p:nvPr/>
        </p:nvSpPr>
        <p:spPr>
          <a:xfrm>
            <a:off x="4343400" y="2258568"/>
            <a:ext cx="2255520" cy="548640"/>
          </a:xfrm>
          <a:prstGeom prst="rect">
            <a:avLst/>
          </a:prstGeom>
          <a:noFill/>
        </p:spPr>
        <p:txBody>
          <a:bodyPr wrap="square" lIns="0" rIns="0" tIns="0" bIns="0" anchor="t">
            <a:spAutoFit/>
          </a:bodyPr>
          <a:lstStyle/>
          <a:p>
            <a:pPr algn="l">
              <a:lnSpc>
                <a:spcPct val="100000"/>
              </a:lnSpc>
              <a:spcAft>
                <a:spcPts val="100"/>
              </a:spcAft>
            </a:pPr>
            <a:r>
              <a:rPr sz="950" b="1">
                <a:solidFill>
                  <a:srgbClr val="0070C0"/>
                </a:solidFill>
                <a:latin typeface="Consolas"/>
              </a:rPr>
              <a:t>4  FEATURES</a:t>
            </a:r>
          </a:p>
          <a:p>
            <a:pPr algn="l">
              <a:lnSpc>
                <a:spcPct val="100000"/>
              </a:lnSpc>
              <a:spcAft>
                <a:spcPts val="0"/>
              </a:spcAft>
            </a:pPr>
            <a:r>
              <a:rPr sz="850" b="0">
                <a:solidFill>
                  <a:srgbClr val="1F2933"/>
                </a:solidFill>
                <a:latin typeface="Calibri"/>
              </a:rPr>
              <a:t>13 temporal signals: the three gaps, speed, utilisation, revisions, agency record</a:t>
            </a:r>
          </a:p>
        </p:txBody>
      </p:sp>
      <p:sp>
        <p:nvSpPr>
          <p:cNvPr id="17424" name="Rounded Rectangle 17423"/>
          <p:cNvSpPr/>
          <p:nvPr/>
        </p:nvSpPr>
        <p:spPr>
          <a:xfrm>
            <a:off x="6781800" y="2194560"/>
            <a:ext cx="2438400" cy="658368"/>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5" name="TextBox 17424"/>
          <p:cNvSpPr txBox="1"/>
          <p:nvPr/>
        </p:nvSpPr>
        <p:spPr>
          <a:xfrm>
            <a:off x="6873240" y="2258568"/>
            <a:ext cx="2255520" cy="548640"/>
          </a:xfrm>
          <a:prstGeom prst="rect">
            <a:avLst/>
          </a:prstGeom>
          <a:noFill/>
        </p:spPr>
        <p:txBody>
          <a:bodyPr wrap="square" lIns="0" rIns="0" tIns="0" bIns="0" anchor="t">
            <a:spAutoFit/>
          </a:bodyPr>
          <a:lstStyle/>
          <a:p>
            <a:pPr algn="l">
              <a:lnSpc>
                <a:spcPct val="100000"/>
              </a:lnSpc>
              <a:spcAft>
                <a:spcPts val="100"/>
              </a:spcAft>
            </a:pPr>
            <a:r>
              <a:rPr sz="950" b="1">
                <a:solidFill>
                  <a:srgbClr val="0070C0"/>
                </a:solidFill>
                <a:latin typeface="Consolas"/>
              </a:rPr>
              <a:t>5  TWO ENGINES</a:t>
            </a:r>
          </a:p>
          <a:p>
            <a:pPr algn="l">
              <a:lnSpc>
                <a:spcPct val="100000"/>
              </a:lnSpc>
              <a:spcAft>
                <a:spcPts val="0"/>
              </a:spcAft>
            </a:pPr>
            <a:r>
              <a:rPr sz="850" b="0">
                <a:solidFill>
                  <a:srgbClr val="1F2933"/>
                </a:solidFill>
                <a:latin typeface="Calibri"/>
              </a:rPr>
              <a:t>rule score today · classifiers for the next report (T+1)</a:t>
            </a:r>
          </a:p>
        </p:txBody>
      </p:sp>
      <p:sp>
        <p:nvSpPr>
          <p:cNvPr id="17426" name="Rounded Rectangle 17425"/>
          <p:cNvSpPr/>
          <p:nvPr/>
        </p:nvSpPr>
        <p:spPr>
          <a:xfrm>
            <a:off x="9311640" y="2194560"/>
            <a:ext cx="2438400" cy="658368"/>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7" name="TextBox 17426"/>
          <p:cNvSpPr txBox="1"/>
          <p:nvPr/>
        </p:nvSpPr>
        <p:spPr>
          <a:xfrm>
            <a:off x="9403080" y="2258568"/>
            <a:ext cx="2255520" cy="548640"/>
          </a:xfrm>
          <a:prstGeom prst="rect">
            <a:avLst/>
          </a:prstGeom>
          <a:noFill/>
        </p:spPr>
        <p:txBody>
          <a:bodyPr wrap="square" lIns="0" rIns="0" tIns="0" bIns="0" anchor="t">
            <a:spAutoFit/>
          </a:bodyPr>
          <a:lstStyle/>
          <a:p>
            <a:pPr algn="l">
              <a:lnSpc>
                <a:spcPct val="100000"/>
              </a:lnSpc>
              <a:spcAft>
                <a:spcPts val="100"/>
              </a:spcAft>
            </a:pPr>
            <a:r>
              <a:rPr sz="950" b="1">
                <a:solidFill>
                  <a:srgbClr val="0070C0"/>
                </a:solidFill>
                <a:latin typeface="Consolas"/>
              </a:rPr>
              <a:t>6  SERVE</a:t>
            </a:r>
          </a:p>
          <a:p>
            <a:pPr algn="l">
              <a:lnSpc>
                <a:spcPct val="100000"/>
              </a:lnSpc>
              <a:spcAft>
                <a:spcPts val="0"/>
              </a:spcAft>
            </a:pPr>
            <a:r>
              <a:rPr sz="850" b="0">
                <a:solidFill>
                  <a:srgbClr val="1F2933"/>
                </a:solidFill>
                <a:latin typeface="Calibri"/>
              </a:rPr>
              <a:t>ranked queue, evidence card, driver bars, export</a:t>
            </a:r>
          </a:p>
        </p:txBody>
      </p:sp>
      <p:sp>
        <p:nvSpPr>
          <p:cNvPr id="17428" name="TextBox 17427"/>
          <p:cNvSpPr txBox="1"/>
          <p:nvPr/>
        </p:nvSpPr>
        <p:spPr>
          <a:xfrm>
            <a:off x="4251960" y="3072384"/>
            <a:ext cx="749808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COMPARISON WITH CONVENTIONAL METHODS  ·  ORDERED HOLDOUT, THE NUMBERS WE EXPECT IN DEPLOYMENT</a:t>
            </a:r>
          </a:p>
        </p:txBody>
      </p:sp>
      <p:sp>
        <p:nvSpPr>
          <p:cNvPr id="17429" name="Rectangle 17428"/>
          <p:cNvSpPr/>
          <p:nvPr/>
        </p:nvSpPr>
        <p:spPr>
          <a:xfrm>
            <a:off x="4251960" y="3259836"/>
            <a:ext cx="749808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0" name="Rectangle 17429"/>
          <p:cNvSpPr/>
          <p:nvPr/>
        </p:nvSpPr>
        <p:spPr>
          <a:xfrm>
            <a:off x="4251960" y="3364992"/>
            <a:ext cx="2331720" cy="420624"/>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FFFFFF"/>
                </a:solidFill>
                <a:latin typeface="Calibri"/>
              </a:rPr>
              <a:t>Target (next monthly report)</a:t>
            </a:r>
          </a:p>
        </p:txBody>
      </p:sp>
      <p:sp>
        <p:nvSpPr>
          <p:cNvPr id="17431" name="Rectangle 17430"/>
          <p:cNvSpPr/>
          <p:nvPr/>
        </p:nvSpPr>
        <p:spPr>
          <a:xfrm>
            <a:off x="6583680" y="3364992"/>
            <a:ext cx="868680" cy="420624"/>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FFFFFF"/>
                </a:solidFill>
                <a:latin typeface="Calibri"/>
              </a:rPr>
              <a:t>Base rate</a:t>
            </a:r>
          </a:p>
        </p:txBody>
      </p:sp>
      <p:sp>
        <p:nvSpPr>
          <p:cNvPr id="17432" name="Rectangle 17431"/>
          <p:cNvSpPr/>
          <p:nvPr/>
        </p:nvSpPr>
        <p:spPr>
          <a:xfrm>
            <a:off x="7452360" y="3364992"/>
            <a:ext cx="1325880" cy="420624"/>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FFFFFF"/>
                </a:solidFill>
                <a:latin typeface="Calibri"/>
              </a:rPr>
              <a:t>Conventional rule score</a:t>
            </a:r>
          </a:p>
        </p:txBody>
      </p:sp>
      <p:sp>
        <p:nvSpPr>
          <p:cNvPr id="17433" name="Rectangle 17432"/>
          <p:cNvSpPr/>
          <p:nvPr/>
        </p:nvSpPr>
        <p:spPr>
          <a:xfrm>
            <a:off x="8778240" y="3364992"/>
            <a:ext cx="1325880" cy="420624"/>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FFFFFF"/>
                </a:solidFill>
                <a:latin typeface="Calibri"/>
              </a:rPr>
              <a:t>PARAKH model</a:t>
            </a:r>
          </a:p>
        </p:txBody>
      </p:sp>
      <p:sp>
        <p:nvSpPr>
          <p:cNvPr id="17434" name="Rectangle 17433"/>
          <p:cNvSpPr/>
          <p:nvPr/>
        </p:nvSpPr>
        <p:spPr>
          <a:xfrm>
            <a:off x="10104120" y="3364992"/>
            <a:ext cx="1645920" cy="420624"/>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FFFFFF"/>
                </a:solidFill>
                <a:latin typeface="Calibri"/>
              </a:rPr>
              <a:t>Ranking quality, ordered</a:t>
            </a:r>
          </a:p>
        </p:txBody>
      </p:sp>
      <p:sp>
        <p:nvSpPr>
          <p:cNvPr id="17435" name="Rectangle 17434"/>
          <p:cNvSpPr/>
          <p:nvPr/>
        </p:nvSpPr>
        <p:spPr>
          <a:xfrm>
            <a:off x="4251960" y="3785616"/>
            <a:ext cx="2331720" cy="38404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Completion date pushed later</a:t>
            </a:r>
          </a:p>
        </p:txBody>
      </p:sp>
      <p:sp>
        <p:nvSpPr>
          <p:cNvPr id="17436" name="Rectangle 17435"/>
          <p:cNvSpPr/>
          <p:nvPr/>
        </p:nvSpPr>
        <p:spPr>
          <a:xfrm>
            <a:off x="6583680" y="3785616"/>
            <a:ext cx="868680" cy="38404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18.1%</a:t>
            </a:r>
          </a:p>
        </p:txBody>
      </p:sp>
      <p:sp>
        <p:nvSpPr>
          <p:cNvPr id="17437" name="Rectangle 17436"/>
          <p:cNvSpPr/>
          <p:nvPr/>
        </p:nvSpPr>
        <p:spPr>
          <a:xfrm>
            <a:off x="7452360" y="3785616"/>
            <a:ext cx="1325880" cy="38404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ROC 0.57</a:t>
            </a:r>
          </a:p>
        </p:txBody>
      </p:sp>
      <p:sp>
        <p:nvSpPr>
          <p:cNvPr id="17438" name="Rectangle 17437"/>
          <p:cNvSpPr/>
          <p:nvPr/>
        </p:nvSpPr>
        <p:spPr>
          <a:xfrm>
            <a:off x="8778240" y="3785616"/>
            <a:ext cx="1325880" cy="38404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XGBoost</a:t>
            </a:r>
          </a:p>
        </p:txBody>
      </p:sp>
      <p:sp>
        <p:nvSpPr>
          <p:cNvPr id="17439" name="Rectangle 17438"/>
          <p:cNvSpPr/>
          <p:nvPr/>
        </p:nvSpPr>
        <p:spPr>
          <a:xfrm>
            <a:off x="10104120" y="3785616"/>
            <a:ext cx="1645920" cy="38404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ROC 0.79 · PR 0.39 → 2.2× base rate</a:t>
            </a:r>
          </a:p>
        </p:txBody>
      </p:sp>
      <p:sp>
        <p:nvSpPr>
          <p:cNvPr id="17440" name="Rectangle 17439"/>
          <p:cNvSpPr/>
          <p:nvPr/>
        </p:nvSpPr>
        <p:spPr>
          <a:xfrm>
            <a:off x="4251960" y="4169664"/>
            <a:ext cx="2331720" cy="38404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Cost revised upward</a:t>
            </a:r>
          </a:p>
        </p:txBody>
      </p:sp>
      <p:sp>
        <p:nvSpPr>
          <p:cNvPr id="17441" name="Rectangle 17440"/>
          <p:cNvSpPr/>
          <p:nvPr/>
        </p:nvSpPr>
        <p:spPr>
          <a:xfrm>
            <a:off x="6583680" y="4169664"/>
            <a:ext cx="868680" cy="38404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4.2%</a:t>
            </a:r>
          </a:p>
        </p:txBody>
      </p:sp>
      <p:sp>
        <p:nvSpPr>
          <p:cNvPr id="17442" name="Rectangle 17441"/>
          <p:cNvSpPr/>
          <p:nvPr/>
        </p:nvSpPr>
        <p:spPr>
          <a:xfrm>
            <a:off x="7452360" y="4169664"/>
            <a:ext cx="1325880" cy="38404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ROC 0.59</a:t>
            </a:r>
          </a:p>
        </p:txBody>
      </p:sp>
      <p:sp>
        <p:nvSpPr>
          <p:cNvPr id="17443" name="Rectangle 17442"/>
          <p:cNvSpPr/>
          <p:nvPr/>
        </p:nvSpPr>
        <p:spPr>
          <a:xfrm>
            <a:off x="8778240" y="4169664"/>
            <a:ext cx="1325880" cy="38404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Logistic regression</a:t>
            </a:r>
          </a:p>
        </p:txBody>
      </p:sp>
      <p:sp>
        <p:nvSpPr>
          <p:cNvPr id="17444" name="Rectangle 17443"/>
          <p:cNvSpPr/>
          <p:nvPr/>
        </p:nvSpPr>
        <p:spPr>
          <a:xfrm>
            <a:off x="10104120" y="4169664"/>
            <a:ext cx="1645920" cy="38404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ROC 0.67 · PR 0.13 → 3.2× base rate</a:t>
            </a:r>
          </a:p>
        </p:txBody>
      </p:sp>
      <p:sp>
        <p:nvSpPr>
          <p:cNvPr id="17445" name="Rounded Rectangle 17444"/>
          <p:cNvSpPr/>
          <p:nvPr/>
        </p:nvSpPr>
        <p:spPr>
          <a:xfrm>
            <a:off x="4251960" y="4590288"/>
            <a:ext cx="2514600" cy="713232"/>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6" name="TextBox 17445"/>
          <p:cNvSpPr txBox="1"/>
          <p:nvPr/>
        </p:nvSpPr>
        <p:spPr>
          <a:xfrm>
            <a:off x="4361688" y="4654296"/>
            <a:ext cx="2295144" cy="621792"/>
          </a:xfrm>
          <a:prstGeom prst="rect">
            <a:avLst/>
          </a:prstGeom>
          <a:noFill/>
        </p:spPr>
        <p:txBody>
          <a:bodyPr wrap="square" lIns="0" rIns="0" tIns="0" bIns="0" anchor="t">
            <a:spAutoFit/>
          </a:bodyPr>
          <a:lstStyle/>
          <a:p>
            <a:pPr algn="l">
              <a:lnSpc>
                <a:spcPct val="100000"/>
              </a:lnSpc>
              <a:spcAft>
                <a:spcPts val="100"/>
              </a:spcAft>
            </a:pPr>
            <a:r>
              <a:rPr sz="850" b="1">
                <a:solidFill>
                  <a:srgbClr val="0070C0"/>
                </a:solidFill>
                <a:latin typeface="Calibri"/>
              </a:rPr>
              <a:t>GROUP-HELD-OUT · unseen projects</a:t>
            </a:r>
          </a:p>
          <a:p>
            <a:pPr algn="l">
              <a:lnSpc>
                <a:spcPct val="100000"/>
              </a:lnSpc>
              <a:spcAft>
                <a:spcPts val="0"/>
              </a:spcAft>
            </a:pPr>
            <a:r>
              <a:rPr sz="850" b="0">
                <a:solidFill>
                  <a:srgbClr val="1F2933"/>
                </a:solidFill>
                <a:latin typeface="Calibri"/>
              </a:rPr>
              <a:t>5 splits, 80/20; a project never appears on both sides. XGBoost 0.86 ROC / 0.59 PR-AUC on schedule slip.</a:t>
            </a:r>
          </a:p>
        </p:txBody>
      </p:sp>
      <p:sp>
        <p:nvSpPr>
          <p:cNvPr id="17447" name="Rounded Rectangle 17446"/>
          <p:cNvSpPr/>
          <p:nvPr/>
        </p:nvSpPr>
        <p:spPr>
          <a:xfrm>
            <a:off x="6858000" y="4590288"/>
            <a:ext cx="2377440" cy="713232"/>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8" name="TextBox 17447"/>
          <p:cNvSpPr txBox="1"/>
          <p:nvPr/>
        </p:nvSpPr>
        <p:spPr>
          <a:xfrm>
            <a:off x="6967728" y="4654296"/>
            <a:ext cx="2157984" cy="621792"/>
          </a:xfrm>
          <a:prstGeom prst="rect">
            <a:avLst/>
          </a:prstGeom>
          <a:noFill/>
        </p:spPr>
        <p:txBody>
          <a:bodyPr wrap="square" lIns="0" rIns="0" tIns="0" bIns="0" anchor="t">
            <a:spAutoFit/>
          </a:bodyPr>
          <a:lstStyle/>
          <a:p>
            <a:pPr algn="l">
              <a:lnSpc>
                <a:spcPct val="100000"/>
              </a:lnSpc>
              <a:spcAft>
                <a:spcPts val="100"/>
              </a:spcAft>
            </a:pPr>
            <a:r>
              <a:rPr sz="850" b="1">
                <a:solidFill>
                  <a:srgbClr val="0070C0"/>
                </a:solidFill>
                <a:latin typeface="Calibri"/>
              </a:rPr>
              <a:t>ORDERED MONTHS · past → future</a:t>
            </a:r>
          </a:p>
          <a:p>
            <a:pPr algn="l">
              <a:lnSpc>
                <a:spcPct val="100000"/>
              </a:lnSpc>
              <a:spcAft>
                <a:spcPts val="0"/>
              </a:spcAft>
            </a:pPr>
            <a:r>
              <a:rPr sz="850" b="0">
                <a:solidFill>
                  <a:srgbClr val="1F2933"/>
                </a:solidFill>
                <a:latin typeface="Calibri"/>
              </a:rPr>
              <a:t>The last three labelled months, each scored by a model trained only on the months before it.</a:t>
            </a:r>
          </a:p>
        </p:txBody>
      </p:sp>
      <p:sp>
        <p:nvSpPr>
          <p:cNvPr id="17449" name="Rounded Rectangle 17448"/>
          <p:cNvSpPr/>
          <p:nvPr/>
        </p:nvSpPr>
        <p:spPr>
          <a:xfrm>
            <a:off x="9326880" y="4590288"/>
            <a:ext cx="2423160" cy="713232"/>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0" name="TextBox 17449"/>
          <p:cNvSpPr txBox="1"/>
          <p:nvPr/>
        </p:nvSpPr>
        <p:spPr>
          <a:xfrm>
            <a:off x="9436608" y="4654296"/>
            <a:ext cx="2203704" cy="621792"/>
          </a:xfrm>
          <a:prstGeom prst="rect">
            <a:avLst/>
          </a:prstGeom>
          <a:noFill/>
        </p:spPr>
        <p:txBody>
          <a:bodyPr wrap="square" lIns="0" rIns="0" tIns="0" bIns="0" anchor="t">
            <a:spAutoFit/>
          </a:bodyPr>
          <a:lstStyle/>
          <a:p>
            <a:pPr algn="l">
              <a:lnSpc>
                <a:spcPct val="100000"/>
              </a:lnSpc>
              <a:spcAft>
                <a:spcPts val="100"/>
              </a:spcAft>
            </a:pPr>
            <a:r>
              <a:rPr sz="850" b="1">
                <a:solidFill>
                  <a:srgbClr val="0070C0"/>
                </a:solidFill>
                <a:latin typeface="Calibri"/>
              </a:rPr>
              <a:t>RULE BASELINE · same folds</a:t>
            </a:r>
          </a:p>
          <a:p>
            <a:pPr algn="l">
              <a:lnSpc>
                <a:spcPct val="100000"/>
              </a:lnSpc>
              <a:spcAft>
                <a:spcPts val="0"/>
              </a:spcAft>
            </a:pPr>
            <a:r>
              <a:rPr sz="850" b="0">
                <a:solidFill>
                  <a:srgbClr val="1F2933"/>
                </a:solidFill>
                <a:latin typeface="Calibri"/>
              </a:rPr>
              <a:t>The conventional rule score is evaluated on identical folds, so the model's gain is visible.</a:t>
            </a:r>
          </a:p>
        </p:txBody>
      </p:sp>
      <p:sp>
        <p:nvSpPr>
          <p:cNvPr id="17451" name="TextBox 17450"/>
          <p:cNvSpPr txBox="1"/>
          <p:nvPr/>
        </p:nvSpPr>
        <p:spPr>
          <a:xfrm>
            <a:off x="4251960" y="5413248"/>
            <a:ext cx="7498080" cy="274320"/>
          </a:xfrm>
          <a:prstGeom prst="rect">
            <a:avLst/>
          </a:prstGeom>
          <a:noFill/>
        </p:spPr>
        <p:txBody>
          <a:bodyPr wrap="square" lIns="0" rIns="0" tIns="0" bIns="0" anchor="t">
            <a:spAutoFit/>
          </a:bodyPr>
          <a:lstStyle/>
          <a:p>
            <a:pPr algn="l">
              <a:lnSpc>
                <a:spcPct val="105000"/>
              </a:lnSpc>
              <a:spcAft>
                <a:spcPts val="0"/>
              </a:spcAft>
            </a:pPr>
            <a:r>
              <a:rPr sz="850" b="0">
                <a:solidFill>
                  <a:srgbClr val="5B6B7B"/>
                </a:solidFill>
                <a:latin typeface="Calibri"/>
              </a:rPr>
              <a:t>What the schedule model weighs (mean |SHAP| share): timeline used so far 36% · agency's own overrun record 23% · delay reported so far 10% · spend ahead of work 6% — predictive signal, not causation. Each project also carries its own top five drivers.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783080" y="128016"/>
            <a:ext cx="9509760" cy="658368"/>
          </a:xfrm>
        </p:spPr>
        <p:txBody>
          <a:bodyPr wrap="square" anchor="ctr"/>
          <a:lstStyle/>
          <a:p>
            <a:pPr eaLnBrk="1" hangingPunct="1" algn="l"/>
            <a:r>
              <a:rPr sz="3000" b="1">
                <a:solidFill>
                  <a:srgbClr val="102A43"/>
                </a:solidFill>
                <a:latin typeface="Times New Roman"/>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50" b="1">
                <a:solidFill>
                  <a:srgbClr val="102A43"/>
                </a:solidFill>
                <a:latin typeface="Calibri"/>
              </a:rPr>
              <a:t>[Team name as on portal]</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1783080" y="786384"/>
            <a:ext cx="9509760" cy="237744"/>
          </a:xfrm>
          <a:prstGeom prst="rect">
            <a:avLst/>
          </a:prstGeom>
          <a:noFill/>
        </p:spPr>
        <p:txBody>
          <a:bodyPr wrap="square" lIns="0" rIns="0" tIns="0" bIns="0" anchor="t">
            <a:spAutoFit/>
          </a:bodyPr>
          <a:lstStyle/>
          <a:p>
            <a:pPr algn="l">
              <a:lnSpc>
                <a:spcPct val="105000"/>
              </a:lnSpc>
              <a:spcAft>
                <a:spcPts val="0"/>
              </a:spcAft>
            </a:pPr>
            <a:r>
              <a:rPr sz="1150" b="0">
                <a:solidFill>
                  <a:srgbClr val="5B6B7B"/>
                </a:solidFill>
                <a:latin typeface="Calibri"/>
              </a:rPr>
              <a:t>It runs on a document MoSPI already publishes, on the infrastructure a department already has.</a:t>
            </a:r>
          </a:p>
        </p:txBody>
      </p:sp>
      <p:sp>
        <p:nvSpPr>
          <p:cNvPr id="17411" name="TextBox 17410"/>
          <p:cNvSpPr txBox="1"/>
          <p:nvPr/>
        </p:nvSpPr>
        <p:spPr>
          <a:xfrm>
            <a:off x="457200" y="1115568"/>
            <a:ext cx="544068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ANALYSIS OF THE FEASIBILITY OF THE IDEA</a:t>
            </a:r>
          </a:p>
        </p:txBody>
      </p:sp>
      <p:sp>
        <p:nvSpPr>
          <p:cNvPr id="17412" name="Rectangle 17411"/>
          <p:cNvSpPr/>
          <p:nvPr/>
        </p:nvSpPr>
        <p:spPr>
          <a:xfrm>
            <a:off x="457200" y="1303020"/>
            <a:ext cx="544068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Rounded Rectangle 17412"/>
          <p:cNvSpPr/>
          <p:nvPr/>
        </p:nvSpPr>
        <p:spPr>
          <a:xfrm>
            <a:off x="457200" y="1426464"/>
            <a:ext cx="5440680" cy="786384"/>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4" name="Rectangle 17413"/>
          <p:cNvSpPr/>
          <p:nvPr/>
        </p:nvSpPr>
        <p:spPr>
          <a:xfrm>
            <a:off x="457200" y="1426464"/>
            <a:ext cx="41148" cy="786384"/>
          </a:xfrm>
          <a:prstGeom prst="rect">
            <a:avLst/>
          </a:prstGeom>
          <a:solidFill>
            <a:srgbClr val="1B6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5" name="TextBox 17414"/>
          <p:cNvSpPr txBox="1"/>
          <p:nvPr/>
        </p:nvSpPr>
        <p:spPr>
          <a:xfrm>
            <a:off x="603504" y="1508760"/>
            <a:ext cx="5166360" cy="640080"/>
          </a:xfrm>
          <a:prstGeom prst="rect">
            <a:avLst/>
          </a:prstGeom>
          <a:noFill/>
        </p:spPr>
        <p:txBody>
          <a:bodyPr wrap="square" lIns="0" rIns="0" tIns="0" bIns="0" anchor="t">
            <a:spAutoFit/>
          </a:bodyPr>
          <a:lstStyle/>
          <a:p>
            <a:pPr algn="l">
              <a:lnSpc>
                <a:spcPct val="103000"/>
              </a:lnSpc>
              <a:spcAft>
                <a:spcPts val="100"/>
              </a:spcAft>
            </a:pPr>
            <a:r>
              <a:rPr sz="950" b="1">
                <a:solidFill>
                  <a:srgbClr val="1B6E45"/>
                </a:solidFill>
                <a:latin typeface="Calibri"/>
              </a:rPr>
              <a:t>TECHNICAL</a:t>
            </a:r>
          </a:p>
          <a:p>
            <a:pPr algn="l">
              <a:lnSpc>
                <a:spcPct val="103000"/>
              </a:lnSpc>
              <a:spcAft>
                <a:spcPts val="0"/>
              </a:spcAft>
            </a:pPr>
            <a:r>
              <a:rPr sz="950" b="0">
                <a:solidFill>
                  <a:srgbClr val="1F2933"/>
                </a:solidFill>
                <a:latin typeface="Calibri"/>
              </a:rPr>
              <a:t>The only input is the monthly report. Extraction is deterministic and auditable; the models are small and CPU-only; the front end is a standard web application.</a:t>
            </a:r>
          </a:p>
        </p:txBody>
      </p:sp>
      <p:sp>
        <p:nvSpPr>
          <p:cNvPr id="17416" name="Rounded Rectangle 17415"/>
          <p:cNvSpPr/>
          <p:nvPr/>
        </p:nvSpPr>
        <p:spPr>
          <a:xfrm>
            <a:off x="457200" y="2322576"/>
            <a:ext cx="5440680" cy="786384"/>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7" name="Rectangle 17416"/>
          <p:cNvSpPr/>
          <p:nvPr/>
        </p:nvSpPr>
        <p:spPr>
          <a:xfrm>
            <a:off x="457200" y="2322576"/>
            <a:ext cx="41148" cy="786384"/>
          </a:xfrm>
          <a:prstGeom prst="rect">
            <a:avLst/>
          </a:prstGeom>
          <a:solidFill>
            <a:srgbClr val="1B6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8" name="TextBox 17417"/>
          <p:cNvSpPr txBox="1"/>
          <p:nvPr/>
        </p:nvSpPr>
        <p:spPr>
          <a:xfrm>
            <a:off x="603504" y="2404872"/>
            <a:ext cx="5166360" cy="640080"/>
          </a:xfrm>
          <a:prstGeom prst="rect">
            <a:avLst/>
          </a:prstGeom>
          <a:noFill/>
        </p:spPr>
        <p:txBody>
          <a:bodyPr wrap="square" lIns="0" rIns="0" tIns="0" bIns="0" anchor="t">
            <a:spAutoFit/>
          </a:bodyPr>
          <a:lstStyle/>
          <a:p>
            <a:pPr algn="l">
              <a:lnSpc>
                <a:spcPct val="103000"/>
              </a:lnSpc>
              <a:spcAft>
                <a:spcPts val="100"/>
              </a:spcAft>
            </a:pPr>
            <a:r>
              <a:rPr sz="950" b="1">
                <a:solidFill>
                  <a:srgbClr val="1B6E45"/>
                </a:solidFill>
                <a:latin typeface="Calibri"/>
              </a:rPr>
              <a:t>ECONOMIC</a:t>
            </a:r>
          </a:p>
          <a:p>
            <a:pPr algn="l">
              <a:lnSpc>
                <a:spcPct val="103000"/>
              </a:lnSpc>
              <a:spcAft>
                <a:spcPts val="0"/>
              </a:spcAft>
            </a:pPr>
            <a:r>
              <a:rPr sz="950" b="0">
                <a:solidFill>
                  <a:srgbClr val="1F2933"/>
                </a:solidFill>
                <a:latin typeface="Calibri"/>
              </a:rPr>
              <a:t>Open source end to end — no licence fee, no paid model API, no GPU. The marginal cost of one more month is a single batch run.</a:t>
            </a:r>
          </a:p>
        </p:txBody>
      </p:sp>
      <p:sp>
        <p:nvSpPr>
          <p:cNvPr id="17419" name="Rounded Rectangle 17418"/>
          <p:cNvSpPr/>
          <p:nvPr/>
        </p:nvSpPr>
        <p:spPr>
          <a:xfrm>
            <a:off x="457200" y="3218688"/>
            <a:ext cx="5440680" cy="786384"/>
          </a:xfrm>
          <a:prstGeom prst="roundRect">
            <a:avLst>
              <a:gd name="adj" fmla="val 6000"/>
            </a:avLst>
          </a:prstGeom>
          <a:solidFill>
            <a:srgbClr val="FBFDFF"/>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0" name="Rectangle 17419"/>
          <p:cNvSpPr/>
          <p:nvPr/>
        </p:nvSpPr>
        <p:spPr>
          <a:xfrm>
            <a:off x="457200" y="3218688"/>
            <a:ext cx="41148" cy="786384"/>
          </a:xfrm>
          <a:prstGeom prst="rect">
            <a:avLst/>
          </a:prstGeom>
          <a:solidFill>
            <a:srgbClr val="1B6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1" name="TextBox 17420"/>
          <p:cNvSpPr txBox="1"/>
          <p:nvPr/>
        </p:nvSpPr>
        <p:spPr>
          <a:xfrm>
            <a:off x="603504" y="3300984"/>
            <a:ext cx="5166360" cy="640080"/>
          </a:xfrm>
          <a:prstGeom prst="rect">
            <a:avLst/>
          </a:prstGeom>
          <a:noFill/>
        </p:spPr>
        <p:txBody>
          <a:bodyPr wrap="square" lIns="0" rIns="0" tIns="0" bIns="0" anchor="t">
            <a:spAutoFit/>
          </a:bodyPr>
          <a:lstStyle/>
          <a:p>
            <a:pPr algn="l">
              <a:lnSpc>
                <a:spcPct val="103000"/>
              </a:lnSpc>
              <a:spcAft>
                <a:spcPts val="100"/>
              </a:spcAft>
            </a:pPr>
            <a:r>
              <a:rPr sz="950" b="1">
                <a:solidFill>
                  <a:srgbClr val="1B6E45"/>
                </a:solidFill>
                <a:latin typeface="Calibri"/>
              </a:rPr>
              <a:t>OPERATIONAL</a:t>
            </a:r>
          </a:p>
          <a:p>
            <a:pPr algn="l">
              <a:lnSpc>
                <a:spcPct val="103000"/>
              </a:lnSpc>
              <a:spcAft>
                <a:spcPts val="0"/>
              </a:spcAft>
            </a:pPr>
            <a:r>
              <a:rPr sz="950" b="0">
                <a:solidFill>
                  <a:srgbClr val="1F2933"/>
                </a:solidFill>
                <a:latin typeface="Calibri"/>
              </a:rPr>
              <a:t>It fits the calendar that already exists: the report arrives, the queue is ready for the next review cycle. Analysts keep their current tools.</a:t>
            </a:r>
          </a:p>
        </p:txBody>
      </p:sp>
      <p:sp>
        <p:nvSpPr>
          <p:cNvPr id="17422" name="TextBox 17421"/>
          <p:cNvSpPr txBox="1"/>
          <p:nvPr/>
        </p:nvSpPr>
        <p:spPr>
          <a:xfrm>
            <a:off x="457200" y="4151376"/>
            <a:ext cx="5440680" cy="1554480"/>
          </a:xfrm>
          <a:prstGeom prst="rect">
            <a:avLst/>
          </a:prstGeom>
          <a:noFill/>
        </p:spPr>
        <p:txBody>
          <a:bodyPr wrap="square" lIns="0" rIns="0" tIns="0" bIns="0" anchor="t">
            <a:spAutoFit/>
          </a:bodyPr>
          <a:lstStyle/>
          <a:p>
            <a:pPr algn="l">
              <a:lnSpc>
                <a:spcPct val="105000"/>
              </a:lnSpc>
              <a:spcAft>
                <a:spcPts val="400"/>
              </a:spcAft>
            </a:pPr>
            <a:r>
              <a:rPr sz="950" b="1">
                <a:solidFill>
                  <a:srgbClr val="0070C0"/>
                </a:solidFill>
                <a:latin typeface="Calibri"/>
              </a:rPr>
              <a:t>PILOT PATH</a:t>
            </a:r>
          </a:p>
          <a:p>
            <a:pPr algn="l">
              <a:lnSpc>
                <a:spcPct val="105000"/>
              </a:lnSpc>
              <a:spcAft>
                <a:spcPts val="400"/>
              </a:spcAft>
            </a:pPr>
            <a:r>
              <a:rPr sz="1050" b="0">
                <a:solidFill>
                  <a:srgbClr val="1F2933"/>
                </a:solidFill>
                <a:latin typeface="Calibri"/>
              </a:rPr>
              <a:t>Month 1 — run on published reports and check precision@K against the projects reviewers actually open.</a:t>
            </a:r>
          </a:p>
          <a:p>
            <a:pPr algn="l">
              <a:lnSpc>
                <a:spcPct val="105000"/>
              </a:lnSpc>
              <a:spcAft>
                <a:spcPts val="400"/>
              </a:spcAft>
            </a:pPr>
            <a:r>
              <a:rPr sz="1050" b="0">
                <a:solidFill>
                  <a:srgbClr val="1F2933"/>
                </a:solidFill>
                <a:latin typeface="Calibri"/>
              </a:rPr>
              <a:t>Month 2 — widen to more line ministries and measure warning lead time.</a:t>
            </a:r>
          </a:p>
          <a:p>
            <a:pPr algn="l">
              <a:lnSpc>
                <a:spcPct val="105000"/>
              </a:lnSpc>
              <a:spcAft>
                <a:spcPts val="400"/>
              </a:spcAft>
            </a:pPr>
            <a:r>
              <a:rPr sz="1050" b="0">
                <a:solidFill>
                  <a:srgbClr val="1F2933"/>
                </a:solidFill>
                <a:latin typeface="Calibri"/>
              </a:rPr>
              <a:t>Month 3+ — deepen history with the OCMS archives, then hand over a documented, reproducible pipeline.</a:t>
            </a:r>
          </a:p>
          <a:p>
            <a:pPr algn="l">
              <a:lnSpc>
                <a:spcPct val="105000"/>
              </a:lnSpc>
              <a:spcAft>
                <a:spcPts val="400"/>
              </a:spcAft>
            </a:pPr>
            <a:r>
              <a:rPr sz="950" b="0">
                <a:solidFill>
                  <a:srgbClr val="5B6B7B"/>
                </a:solidFill>
                <a:latin typeface="Calibri"/>
              </a:rPr>
              <a:t>Adoption needs no new portal, no new data entry and no change in the reporting duty of any project administrator.</a:t>
            </a:r>
          </a:p>
        </p:txBody>
      </p:sp>
      <p:sp>
        <p:nvSpPr>
          <p:cNvPr id="17423" name="TextBox 17422"/>
          <p:cNvSpPr txBox="1"/>
          <p:nvPr/>
        </p:nvSpPr>
        <p:spPr>
          <a:xfrm>
            <a:off x="6080760" y="1115568"/>
            <a:ext cx="566928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POTENTIAL CHALLENGES AND RISKS  ·  STRATEGIES FOR OVERCOMING THEM</a:t>
            </a:r>
          </a:p>
        </p:txBody>
      </p:sp>
      <p:sp>
        <p:nvSpPr>
          <p:cNvPr id="17424" name="Rectangle 17423"/>
          <p:cNvSpPr/>
          <p:nvPr/>
        </p:nvSpPr>
        <p:spPr>
          <a:xfrm>
            <a:off x="6080760" y="1303020"/>
            <a:ext cx="566928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5" name="Rectangle 17424"/>
          <p:cNvSpPr/>
          <p:nvPr/>
        </p:nvSpPr>
        <p:spPr>
          <a:xfrm>
            <a:off x="6080760" y="1444752"/>
            <a:ext cx="2377440" cy="603504"/>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FFFFFF"/>
                </a:solidFill>
                <a:latin typeface="Calibri"/>
              </a:rPr>
              <a:t>Risk</a:t>
            </a:r>
          </a:p>
        </p:txBody>
      </p:sp>
      <p:sp>
        <p:nvSpPr>
          <p:cNvPr id="17426" name="Rectangle 17425"/>
          <p:cNvSpPr/>
          <p:nvPr/>
        </p:nvSpPr>
        <p:spPr>
          <a:xfrm>
            <a:off x="8458200" y="1444752"/>
            <a:ext cx="3291840" cy="603504"/>
          </a:xfrm>
          <a:prstGeom prst="rect">
            <a:avLst/>
          </a:prstGeom>
          <a:solidFill>
            <a:srgbClr val="102A43"/>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FFFFFF"/>
                </a:solidFill>
                <a:latin typeface="Calibri"/>
              </a:rPr>
              <a:t>Strategy</a:t>
            </a:r>
          </a:p>
        </p:txBody>
      </p:sp>
      <p:sp>
        <p:nvSpPr>
          <p:cNvPr id="17427" name="Rectangle 17426"/>
          <p:cNvSpPr/>
          <p:nvPr/>
        </p:nvSpPr>
        <p:spPr>
          <a:xfrm>
            <a:off x="6080760" y="2048256"/>
            <a:ext cx="2377440" cy="56692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Report layout drifts between months</a:t>
            </a:r>
          </a:p>
        </p:txBody>
      </p:sp>
      <p:sp>
        <p:nvSpPr>
          <p:cNvPr id="17428" name="Rectangle 17427"/>
          <p:cNvSpPr/>
          <p:nvPr/>
        </p:nvSpPr>
        <p:spPr>
          <a:xfrm>
            <a:off x="8458200" y="2048256"/>
            <a:ext cx="3291840" cy="56692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Schema, range and totals checks on every report; hard-stop and flag on mismatch</a:t>
            </a:r>
          </a:p>
        </p:txBody>
      </p:sp>
      <p:sp>
        <p:nvSpPr>
          <p:cNvPr id="17429" name="Rectangle 17428"/>
          <p:cNvSpPr/>
          <p:nvPr/>
        </p:nvSpPr>
        <p:spPr>
          <a:xfrm>
            <a:off x="6080760" y="2615184"/>
            <a:ext cx="2377440" cy="56692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Cost revisions are rare — one positive case in ~24</a:t>
            </a:r>
          </a:p>
        </p:txBody>
      </p:sp>
      <p:sp>
        <p:nvSpPr>
          <p:cNvPr id="17430" name="Rectangle 17429"/>
          <p:cNvSpPr/>
          <p:nvPr/>
        </p:nvSpPr>
        <p:spPr>
          <a:xfrm>
            <a:off x="8458200" y="2615184"/>
            <a:ext cx="3291840" cy="56692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Report PR-AUC beside the base rate; keep an interpretable baseline; select on the strict holdout</a:t>
            </a:r>
          </a:p>
        </p:txBody>
      </p:sp>
      <p:sp>
        <p:nvSpPr>
          <p:cNvPr id="17431" name="Rectangle 17430"/>
          <p:cNvSpPr/>
          <p:nvPr/>
        </p:nvSpPr>
        <p:spPr>
          <a:xfrm>
            <a:off x="6080760" y="3182112"/>
            <a:ext cx="2377440" cy="56692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A bad field reaching training</a:t>
            </a:r>
          </a:p>
        </p:txBody>
      </p:sp>
      <p:sp>
        <p:nvSpPr>
          <p:cNvPr id="17432" name="Rectangle 17431"/>
          <p:cNvSpPr/>
          <p:nvPr/>
        </p:nvSpPr>
        <p:spPr>
          <a:xfrm>
            <a:off x="8458200" y="3182112"/>
            <a:ext cx="3291840" cy="56692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Only VERIFIED rows train; every record keeps its source page; warnings are shown, never hidden</a:t>
            </a:r>
          </a:p>
        </p:txBody>
      </p:sp>
      <p:sp>
        <p:nvSpPr>
          <p:cNvPr id="17433" name="Rectangle 17432"/>
          <p:cNvSpPr/>
          <p:nvPr/>
        </p:nvSpPr>
        <p:spPr>
          <a:xfrm>
            <a:off x="6080760" y="3749040"/>
            <a:ext cx="2377440" cy="56692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A score read as a verdict</a:t>
            </a:r>
          </a:p>
        </p:txBody>
      </p:sp>
      <p:sp>
        <p:nvSpPr>
          <p:cNvPr id="17434" name="Rectangle 17433"/>
          <p:cNvSpPr/>
          <p:nvPr/>
        </p:nvSpPr>
        <p:spPr>
          <a:xfrm>
            <a:off x="8458200" y="3749040"/>
            <a:ext cx="3291840" cy="56692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Outputs labelled as rankings, not probabilities; driver and uncertainty always shown; a human decides</a:t>
            </a:r>
          </a:p>
        </p:txBody>
      </p:sp>
      <p:sp>
        <p:nvSpPr>
          <p:cNvPr id="17435" name="Rectangle 17434"/>
          <p:cNvSpPr/>
          <p:nvPr/>
        </p:nvSpPr>
        <p:spPr>
          <a:xfrm>
            <a:off x="6080760" y="4315968"/>
            <a:ext cx="2377440" cy="56692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Alert fatigue</a:t>
            </a:r>
          </a:p>
        </p:txBody>
      </p:sp>
      <p:sp>
        <p:nvSpPr>
          <p:cNvPr id="17436" name="Rectangle 17435"/>
          <p:cNvSpPr/>
          <p:nvPr/>
        </p:nvSpPr>
        <p:spPr>
          <a:xfrm>
            <a:off x="8458200" y="4315968"/>
            <a:ext cx="3291840" cy="566928"/>
          </a:xfrm>
          <a:prstGeom prst="rect">
            <a:avLst/>
          </a:prstGeom>
          <a:solidFill>
            <a:srgbClr val="F7FAFD"/>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Queue length is set to reviewer capacity (top-K), not to a fixed threshold</a:t>
            </a:r>
          </a:p>
        </p:txBody>
      </p:sp>
      <p:sp>
        <p:nvSpPr>
          <p:cNvPr id="17437" name="Rectangle 17436"/>
          <p:cNvSpPr/>
          <p:nvPr/>
        </p:nvSpPr>
        <p:spPr>
          <a:xfrm>
            <a:off x="6080760" y="4882896"/>
            <a:ext cx="2377440" cy="56692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1">
                <a:solidFill>
                  <a:srgbClr val="1F2933"/>
                </a:solidFill>
                <a:latin typeface="Calibri"/>
              </a:rPr>
              <a:t>History is short today</a:t>
            </a:r>
          </a:p>
        </p:txBody>
      </p:sp>
      <p:sp>
        <p:nvSpPr>
          <p:cNvPr id="17438" name="Rectangle 17437"/>
          <p:cNvSpPr/>
          <p:nvPr/>
        </p:nvSpPr>
        <p:spPr>
          <a:xfrm>
            <a:off x="8458200" y="4882896"/>
            <a:ext cx="3291840" cy="566928"/>
          </a:xfrm>
          <a:prstGeom prst="rect">
            <a:avLst/>
          </a:prstGeom>
          <a:solidFill>
            <a:srgbClr val="FFFFFF"/>
          </a:solidFill>
          <a:ln w="6350">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lnSpc>
                <a:spcPct val="100000"/>
              </a:lnSpc>
            </a:pPr>
            <a:r>
              <a:rPr sz="900" b="0">
                <a:solidFill>
                  <a:srgbClr val="1F2933"/>
                </a:solidFill>
                <a:latin typeface="Calibri"/>
              </a:rPr>
              <a:t>Start on the published months; deepen with OCMS archives before wider claims</a:t>
            </a:r>
          </a:p>
        </p:txBody>
      </p:sp>
      <p:sp>
        <p:nvSpPr>
          <p:cNvPr id="17439" name="Rounded Rectangle 17438"/>
          <p:cNvSpPr/>
          <p:nvPr/>
        </p:nvSpPr>
        <p:spPr>
          <a:xfrm>
            <a:off x="457200" y="5742432"/>
            <a:ext cx="11292840" cy="566928"/>
          </a:xfrm>
          <a:prstGeom prst="roundRect">
            <a:avLst>
              <a:gd name="adj" fmla="val 6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0" name="TextBox 17439"/>
          <p:cNvSpPr txBox="1"/>
          <p:nvPr/>
        </p:nvSpPr>
        <p:spPr>
          <a:xfrm>
            <a:off x="685800" y="5833872"/>
            <a:ext cx="10881360" cy="411480"/>
          </a:xfrm>
          <a:prstGeom prst="rect">
            <a:avLst/>
          </a:prstGeom>
          <a:noFill/>
        </p:spPr>
        <p:txBody>
          <a:bodyPr wrap="square" lIns="0" rIns="0" tIns="0" bIns="0" anchor="t">
            <a:spAutoFit/>
          </a:bodyPr>
          <a:lstStyle/>
          <a:p>
            <a:pPr algn="l">
              <a:lnSpc>
                <a:spcPct val="105000"/>
              </a:lnSpc>
              <a:spcAft>
                <a:spcPts val="400"/>
              </a:spcAft>
            </a:pPr>
            <a:r>
              <a:rPr sz="1000" b="1">
                <a:solidFill>
                  <a:srgbClr val="FFFFFF"/>
                </a:solidFill>
                <a:latin typeface="Calibri"/>
              </a:rPr>
              <a:t>WHAT WE DO NOT CLAIM  </a:t>
            </a:r>
          </a:p>
          <a:p>
            <a:pPr algn="l">
              <a:lnSpc>
                <a:spcPct val="105000"/>
              </a:lnSpc>
              <a:spcAft>
                <a:spcPts val="400"/>
              </a:spcAft>
            </a:pPr>
            <a:r>
              <a:rPr sz="1000" b="0">
                <a:solidFill>
                  <a:srgbClr val="D8E6F2"/>
                </a:solidFill>
                <a:latin typeface="Calibri"/>
              </a:rPr>
              <a:t>— no live MoSPI feed · no automated alerts · no measured savings · no calibrated probabilities · no causal claims. Every score on the dashboard is a ranking for human review.</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783080" y="128016"/>
            <a:ext cx="9509760" cy="658368"/>
          </a:xfrm>
        </p:spPr>
        <p:txBody>
          <a:bodyPr wrap="square" anchor="ctr"/>
          <a:lstStyle/>
          <a:p>
            <a:pPr eaLnBrk="1" hangingPunct="1" algn="l"/>
            <a:r>
              <a:rPr sz="3000" b="1">
                <a:solidFill>
                  <a:srgbClr val="102A43"/>
                </a:solidFill>
                <a:latin typeface="Times New Roman"/>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50" b="1">
                <a:solidFill>
                  <a:srgbClr val="102A43"/>
                </a:solidFill>
                <a:latin typeface="Calibri"/>
              </a:rPr>
              <a:t>[Team name as on portal]</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1783080" y="786384"/>
            <a:ext cx="9509760" cy="237744"/>
          </a:xfrm>
          <a:prstGeom prst="rect">
            <a:avLst/>
          </a:prstGeom>
          <a:noFill/>
        </p:spPr>
        <p:txBody>
          <a:bodyPr wrap="square" lIns="0" rIns="0" tIns="0" bIns="0" anchor="t">
            <a:spAutoFit/>
          </a:bodyPr>
          <a:lstStyle/>
          <a:p>
            <a:pPr algn="l">
              <a:lnSpc>
                <a:spcPct val="105000"/>
              </a:lnSpc>
              <a:spcAft>
                <a:spcPts val="0"/>
              </a:spcAft>
            </a:pPr>
            <a:r>
              <a:rPr sz="1150" b="0">
                <a:solidFill>
                  <a:srgbClr val="5B6B7B"/>
                </a:solidFill>
                <a:latin typeface="Calibri"/>
              </a:rPr>
              <a:t>Better-directed review attention on a ₹42.78 lakh crore portfolio — measured, not asserted.</a:t>
            </a:r>
          </a:p>
        </p:txBody>
      </p:sp>
      <p:sp>
        <p:nvSpPr>
          <p:cNvPr id="17411" name="TextBox 17410"/>
          <p:cNvSpPr txBox="1"/>
          <p:nvPr/>
        </p:nvSpPr>
        <p:spPr>
          <a:xfrm>
            <a:off x="457200" y="1115568"/>
            <a:ext cx="544068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POTENTIAL IMPACT ON THE TARGET AUDIENCE</a:t>
            </a:r>
          </a:p>
        </p:txBody>
      </p:sp>
      <p:sp>
        <p:nvSpPr>
          <p:cNvPr id="17412" name="Rectangle 17411"/>
          <p:cNvSpPr/>
          <p:nvPr/>
        </p:nvSpPr>
        <p:spPr>
          <a:xfrm>
            <a:off x="457200" y="1303020"/>
            <a:ext cx="544068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Rounded Rectangle 17412"/>
          <p:cNvSpPr/>
          <p:nvPr/>
        </p:nvSpPr>
        <p:spPr>
          <a:xfrm>
            <a:off x="457200" y="1426464"/>
            <a:ext cx="5440680" cy="457200"/>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4" name="TextBox 17413"/>
          <p:cNvSpPr txBox="1"/>
          <p:nvPr/>
        </p:nvSpPr>
        <p:spPr>
          <a:xfrm>
            <a:off x="585216" y="1499616"/>
            <a:ext cx="5184648" cy="365760"/>
          </a:xfrm>
          <a:prstGeom prst="rect">
            <a:avLst/>
          </a:prstGeom>
          <a:noFill/>
        </p:spPr>
        <p:txBody>
          <a:bodyPr wrap="square" lIns="0" rIns="0" tIns="0" bIns="0" anchor="t">
            <a:spAutoFit/>
          </a:bodyPr>
          <a:lstStyle/>
          <a:p>
            <a:pPr algn="l">
              <a:lnSpc>
                <a:spcPct val="100000"/>
              </a:lnSpc>
              <a:spcAft>
                <a:spcPts val="0"/>
              </a:spcAft>
            </a:pPr>
            <a:r>
              <a:rPr sz="1000" b="1">
                <a:solidFill>
                  <a:srgbClr val="102A43"/>
                </a:solidFill>
                <a:latin typeface="Calibri"/>
              </a:rPr>
              <a:t>1,981 ongoing projects  ·  17 line ministries / departments  ·  ₹42.78 lakh crore revised cost</a:t>
            </a:r>
          </a:p>
          <a:p>
            <a:pPr algn="l">
              <a:lnSpc>
                <a:spcPct val="100000"/>
              </a:lnSpc>
              <a:spcAft>
                <a:spcPts val="0"/>
              </a:spcAft>
            </a:pPr>
            <a:r>
              <a:rPr sz="850" b="0">
                <a:solidFill>
                  <a:srgbClr val="5B6B7B"/>
                </a:solidFill>
                <a:latin typeface="Calibri"/>
              </a:rPr>
              <a:t>MoSPI PAIMANA Flash Report, April 2026 — the published baseline, not a live feed.</a:t>
            </a:r>
          </a:p>
        </p:txBody>
      </p:sp>
      <p:sp>
        <p:nvSpPr>
          <p:cNvPr id="17415" name="TextBox 17414"/>
          <p:cNvSpPr txBox="1"/>
          <p:nvPr/>
        </p:nvSpPr>
        <p:spPr>
          <a:xfrm>
            <a:off x="457200" y="2048256"/>
            <a:ext cx="5440680" cy="4023360"/>
          </a:xfrm>
          <a:prstGeom prst="rect">
            <a:avLst/>
          </a:prstGeom>
          <a:noFill/>
        </p:spPr>
        <p:txBody>
          <a:bodyPr wrap="square" lIns="0" rIns="0" tIns="0" bIns="0" anchor="t">
            <a:spAutoFit/>
          </a:bodyPr>
          <a:lstStyle/>
          <a:p>
            <a:pPr algn="l">
              <a:lnSpc>
                <a:spcPct val="105000"/>
              </a:lnSpc>
              <a:spcAft>
                <a:spcPts val="400"/>
              </a:spcAft>
            </a:pPr>
            <a:r>
              <a:rPr sz="1050" b="1">
                <a:solidFill>
                  <a:srgbClr val="102A43"/>
                </a:solidFill>
                <a:latin typeface="Calibri"/>
              </a:rPr>
              <a:t>MoSPI monitoring cell and IPMD analysts</a:t>
            </a:r>
          </a:p>
          <a:p>
            <a:pPr algn="l">
              <a:lnSpc>
                <a:spcPct val="105000"/>
              </a:lnSpc>
              <a:spcAft>
                <a:spcPts val="400"/>
              </a:spcAft>
            </a:pPr>
            <a:r>
              <a:rPr sz="1050" b="0">
                <a:solidFill>
                  <a:srgbClr val="1F2933"/>
                </a:solidFill>
                <a:latin typeface="Calibri"/>
              </a:rPr>
              <a:t>a monthly publication becomes a ranked next-action list instead of a reading task.</a:t>
            </a:r>
          </a:p>
          <a:p>
            <a:pPr algn="l">
              <a:lnSpc>
                <a:spcPct val="105000"/>
              </a:lnSpc>
              <a:spcAft>
                <a:spcPts val="400"/>
              </a:spcAft>
            </a:pPr>
            <a:r>
              <a:rPr sz="1050" b="1">
                <a:solidFill>
                  <a:srgbClr val="102A43"/>
                </a:solidFill>
                <a:latin typeface="Calibri"/>
              </a:rPr>
              <a:t>Line-ministry and department reviewers</a:t>
            </a:r>
          </a:p>
          <a:p>
            <a:pPr algn="l">
              <a:lnSpc>
                <a:spcPct val="105000"/>
              </a:lnSpc>
              <a:spcAft>
                <a:spcPts val="400"/>
              </a:spcAft>
            </a:pPr>
            <a:r>
              <a:rPr sz="1050" b="0">
                <a:solidFill>
                  <a:srgbClr val="1F2933"/>
                </a:solidFill>
                <a:latin typeface="Calibri"/>
              </a:rPr>
              <a:t>one shared, auditable reason behind every flag, so agreement on what to inspect comes faster.</a:t>
            </a:r>
          </a:p>
          <a:p>
            <a:pPr algn="l">
              <a:lnSpc>
                <a:spcPct val="105000"/>
              </a:lnSpc>
              <a:spcAft>
                <a:spcPts val="400"/>
              </a:spcAft>
            </a:pPr>
            <a:r>
              <a:rPr sz="1050" b="1">
                <a:solidFill>
                  <a:srgbClr val="102A43"/>
                </a:solidFill>
                <a:latin typeface="Calibri"/>
              </a:rPr>
              <a:t>Project administrators</a:t>
            </a:r>
          </a:p>
          <a:p>
            <a:pPr algn="l">
              <a:lnSpc>
                <a:spcPct val="105000"/>
              </a:lnSpc>
              <a:spcAft>
                <a:spcPts val="400"/>
              </a:spcAft>
            </a:pPr>
            <a:r>
              <a:rPr sz="1050" b="0">
                <a:solidFill>
                  <a:srgbClr val="1F2933"/>
                </a:solidFill>
                <a:latin typeface="Calibri"/>
              </a:rPr>
              <a:t>see the drift while it is still cheap to correct.</a:t>
            </a:r>
          </a:p>
          <a:p>
            <a:pPr algn="l">
              <a:lnSpc>
                <a:spcPct val="105000"/>
              </a:lnSpc>
              <a:spcAft>
                <a:spcPts val="400"/>
              </a:spcAft>
            </a:pPr>
            <a:r>
              <a:rPr sz="1050" b="1">
                <a:solidFill>
                  <a:srgbClr val="102A43"/>
                </a:solidFill>
                <a:latin typeface="Calibri"/>
              </a:rPr>
              <a:t>Citizens and oversight bodies</a:t>
            </a:r>
          </a:p>
          <a:p>
            <a:pPr algn="l">
              <a:lnSpc>
                <a:spcPct val="105000"/>
              </a:lnSpc>
              <a:spcAft>
                <a:spcPts val="400"/>
              </a:spcAft>
            </a:pPr>
            <a:r>
              <a:rPr sz="1050" b="0">
                <a:solidFill>
                  <a:srgbClr val="1F2933"/>
                </a:solidFill>
                <a:latin typeface="Calibri"/>
              </a:rPr>
              <a:t>the same evidence chain sits behind every number that reaches the public report.</a:t>
            </a:r>
          </a:p>
          <a:p>
            <a:pPr algn="l">
              <a:lnSpc>
                <a:spcPct val="105000"/>
              </a:lnSpc>
              <a:spcAft>
                <a:spcPts val="400"/>
              </a:spcAft>
            </a:pPr>
            <a:r>
              <a:rPr sz="950" b="1">
                <a:solidFill>
                  <a:srgbClr val="0070C0"/>
                </a:solidFill>
                <a:latin typeface="Calibri"/>
              </a:rPr>
              <a:t>PROTOTYPE PANEL</a:t>
            </a:r>
          </a:p>
          <a:p>
            <a:pPr algn="l">
              <a:lnSpc>
                <a:spcPct val="105000"/>
              </a:lnSpc>
              <a:spcAft>
                <a:spcPts val="400"/>
              </a:spcAft>
            </a:pPr>
            <a:r>
              <a:rPr sz="1050" b="0">
                <a:solidFill>
                  <a:srgbClr val="1F2933"/>
                </a:solidFill>
                <a:latin typeface="Calibri"/>
              </a:rPr>
              <a:t>17 monthly reports, Mar 2025 → Jul 2026 · 25,180 rows extracted · 3,950 project histories · latest snapshot 1,775 projects, 193 (10.9%) High or Critical — a queue a team can actually work.</a:t>
            </a:r>
          </a:p>
        </p:txBody>
      </p:sp>
      <p:sp>
        <p:nvSpPr>
          <p:cNvPr id="17416" name="TextBox 17415"/>
          <p:cNvSpPr txBox="1"/>
          <p:nvPr/>
        </p:nvSpPr>
        <p:spPr>
          <a:xfrm>
            <a:off x="6080760" y="1115568"/>
            <a:ext cx="566928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BENEFITS OF THE SOLUTION  (SOCIAL · ECONOMIC · ENVIRONMENTAL)</a:t>
            </a:r>
          </a:p>
        </p:txBody>
      </p:sp>
      <p:sp>
        <p:nvSpPr>
          <p:cNvPr id="17417" name="Rectangle 17416"/>
          <p:cNvSpPr/>
          <p:nvPr/>
        </p:nvSpPr>
        <p:spPr>
          <a:xfrm>
            <a:off x="6080760" y="1303020"/>
            <a:ext cx="566928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8" name="TextBox 17417"/>
          <p:cNvSpPr txBox="1"/>
          <p:nvPr/>
        </p:nvSpPr>
        <p:spPr>
          <a:xfrm>
            <a:off x="6080760" y="1426464"/>
            <a:ext cx="5669280" cy="3200400"/>
          </a:xfrm>
          <a:prstGeom prst="rect">
            <a:avLst/>
          </a:prstGeom>
          <a:noFill/>
        </p:spPr>
        <p:txBody>
          <a:bodyPr wrap="square" lIns="0" rIns="0" tIns="0" bIns="0" anchor="t">
            <a:spAutoFit/>
          </a:bodyPr>
          <a:lstStyle/>
          <a:p>
            <a:pPr algn="l">
              <a:lnSpc>
                <a:spcPct val="105000"/>
              </a:lnSpc>
              <a:spcAft>
                <a:spcPts val="400"/>
              </a:spcAft>
            </a:pPr>
            <a:r>
              <a:rPr sz="1050" b="1">
                <a:solidFill>
                  <a:srgbClr val="1B6E45"/>
                </a:solidFill>
                <a:latin typeface="Calibri"/>
              </a:rPr>
              <a:t>ECONOMIC  </a:t>
            </a:r>
          </a:p>
          <a:p>
            <a:pPr algn="l">
              <a:lnSpc>
                <a:spcPct val="105000"/>
              </a:lnSpc>
              <a:spcAft>
                <a:spcPts val="400"/>
              </a:spcAft>
            </a:pPr>
            <a:r>
              <a:rPr sz="1050" b="0">
                <a:solidFill>
                  <a:srgbClr val="1F2933"/>
                </a:solidFill>
                <a:latin typeface="Calibri"/>
              </a:rPr>
              <a:t>Bringing a cost or time revision one monthly cycle earlier on a ₹42.78 lakh crore portfolio is material — and needs no new data collection.</a:t>
            </a:r>
          </a:p>
          <a:p>
            <a:pPr algn="l">
              <a:lnSpc>
                <a:spcPct val="105000"/>
              </a:lnSpc>
              <a:spcAft>
                <a:spcPts val="400"/>
              </a:spcAft>
            </a:pPr>
            <a:r>
              <a:rPr sz="1050" b="1">
                <a:solidFill>
                  <a:srgbClr val="1B6E45"/>
                </a:solidFill>
                <a:latin typeface="Calibri"/>
              </a:rPr>
              <a:t>ADMINISTRATIVE  </a:t>
            </a:r>
          </a:p>
          <a:p>
            <a:pPr algn="l">
              <a:lnSpc>
                <a:spcPct val="105000"/>
              </a:lnSpc>
              <a:spcAft>
                <a:spcPts val="400"/>
              </a:spcAft>
            </a:pPr>
            <a:r>
              <a:rPr sz="1050" b="0">
                <a:solidFill>
                  <a:srgbClr val="1F2933"/>
                </a:solidFill>
                <a:latin typeface="Calibri"/>
              </a:rPr>
              <a:t>Review effort becomes proportionate to risk instead of uniform across ~2,000 projects.</a:t>
            </a:r>
          </a:p>
          <a:p>
            <a:pPr algn="l">
              <a:lnSpc>
                <a:spcPct val="105000"/>
              </a:lnSpc>
              <a:spcAft>
                <a:spcPts val="400"/>
              </a:spcAft>
            </a:pPr>
            <a:r>
              <a:rPr sz="1050" b="1">
                <a:solidFill>
                  <a:srgbClr val="1B6E45"/>
                </a:solidFill>
                <a:latin typeface="Calibri"/>
              </a:rPr>
              <a:t>ACCOUNTABILITY  </a:t>
            </a:r>
          </a:p>
          <a:p>
            <a:pPr algn="l">
              <a:lnSpc>
                <a:spcPct val="105000"/>
              </a:lnSpc>
              <a:spcAft>
                <a:spcPts val="400"/>
              </a:spcAft>
            </a:pPr>
            <a:r>
              <a:rPr sz="1050" b="0">
                <a:solidFill>
                  <a:srgbClr val="1F2933"/>
                </a:solidFill>
                <a:latin typeface="Calibri"/>
              </a:rPr>
              <a:t>“Why was this flagged?” is answered in seconds from a source-linked trail.</a:t>
            </a:r>
          </a:p>
          <a:p>
            <a:pPr algn="l">
              <a:lnSpc>
                <a:spcPct val="105000"/>
              </a:lnSpc>
              <a:spcAft>
                <a:spcPts val="400"/>
              </a:spcAft>
            </a:pPr>
            <a:r>
              <a:rPr sz="1050" b="1">
                <a:solidFill>
                  <a:srgbClr val="1B6E45"/>
                </a:solidFill>
                <a:latin typeface="Calibri"/>
              </a:rPr>
              <a:t>ENVIRONMENTAL  </a:t>
            </a:r>
          </a:p>
          <a:p>
            <a:pPr algn="l">
              <a:lnSpc>
                <a:spcPct val="105000"/>
              </a:lnSpc>
              <a:spcAft>
                <a:spcPts val="400"/>
              </a:spcAft>
            </a:pPr>
            <a:r>
              <a:rPr sz="1050" b="0">
                <a:solidFill>
                  <a:srgbClr val="1F2933"/>
                </a:solidFill>
                <a:latin typeface="Calibri"/>
              </a:rPr>
              <a:t>Earlier action on stalled civil works cuts re-mobilisation, idle machinery and rework — where a delayed project's emissions sit.</a:t>
            </a:r>
          </a:p>
          <a:p>
            <a:pPr algn="l">
              <a:lnSpc>
                <a:spcPct val="105000"/>
              </a:lnSpc>
              <a:spcAft>
                <a:spcPts val="400"/>
              </a:spcAft>
            </a:pPr>
            <a:r>
              <a:rPr sz="1050" b="1">
                <a:solidFill>
                  <a:srgbClr val="1B6E45"/>
                </a:solidFill>
                <a:latin typeface="Calibri"/>
              </a:rPr>
              <a:t>REUSABLE  </a:t>
            </a:r>
          </a:p>
          <a:p>
            <a:pPr algn="l">
              <a:lnSpc>
                <a:spcPct val="105000"/>
              </a:lnSpc>
              <a:spcAft>
                <a:spcPts val="400"/>
              </a:spcAft>
            </a:pPr>
            <a:r>
              <a:rPr sz="1050" b="0">
                <a:solidFill>
                  <a:srgbClr val="1F2933"/>
                </a:solidFill>
                <a:latin typeface="Calibri"/>
              </a:rPr>
              <a:t>Document-driven by design: the same engine serves state PWD, power and water portfolios that publish monthly reports.</a:t>
            </a:r>
          </a:p>
        </p:txBody>
      </p:sp>
      <p:sp>
        <p:nvSpPr>
          <p:cNvPr id="17419" name="Rounded Rectangle 17418"/>
          <p:cNvSpPr/>
          <p:nvPr/>
        </p:nvSpPr>
        <p:spPr>
          <a:xfrm>
            <a:off x="6080760" y="4645152"/>
            <a:ext cx="5669280" cy="987552"/>
          </a:xfrm>
          <a:prstGeom prst="roundRect">
            <a:avLst>
              <a:gd name="adj" fmla="val 6000"/>
            </a:avLst>
          </a:prstGeom>
          <a:solidFill>
            <a:srgbClr val="F2F7FC"/>
          </a:solidFill>
          <a:ln w="9525">
            <a:solidFill>
              <a:srgbClr val="C5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0" name="TextBox 17419"/>
          <p:cNvSpPr txBox="1"/>
          <p:nvPr/>
        </p:nvSpPr>
        <p:spPr>
          <a:xfrm>
            <a:off x="6208776" y="4736592"/>
            <a:ext cx="5413248" cy="841248"/>
          </a:xfrm>
          <a:prstGeom prst="rect">
            <a:avLst/>
          </a:prstGeom>
          <a:noFill/>
        </p:spPr>
        <p:txBody>
          <a:bodyPr wrap="square" lIns="0" rIns="0" tIns="0" bIns="0" anchor="t">
            <a:spAutoFit/>
          </a:bodyPr>
          <a:lstStyle/>
          <a:p>
            <a:pPr algn="l">
              <a:lnSpc>
                <a:spcPct val="102000"/>
              </a:lnSpc>
              <a:spcAft>
                <a:spcPts val="400"/>
              </a:spcAft>
            </a:pPr>
            <a:r>
              <a:rPr sz="900" b="1">
                <a:solidFill>
                  <a:srgbClr val="0070C0"/>
                </a:solidFill>
                <a:latin typeface="Calibri"/>
              </a:rPr>
              <a:t>PILOT SCORECARD — TO BE MEASURED WITH MoSPI</a:t>
            </a:r>
          </a:p>
          <a:p>
            <a:pPr algn="l">
              <a:lnSpc>
                <a:spcPct val="102000"/>
              </a:lnSpc>
              <a:spcAft>
                <a:spcPts val="400"/>
              </a:spcAft>
            </a:pPr>
            <a:r>
              <a:rPr sz="1050" b="0">
                <a:solidFill>
                  <a:srgbClr val="1F2933"/>
                </a:solidFill>
                <a:latin typeface="Calibri"/>
              </a:rPr>
              <a:t>precision@K within staff capacity · warning lead time before the reported change · reviewer effort and dispositions per case. No savings or delay reduction has been measured yet: we will measure it rather than assert it.</a:t>
            </a:r>
          </a:p>
          <a:p>
            <a:pPr algn="l">
              <a:lnSpc>
                <a:spcPct val="102000"/>
              </a:lnSpc>
              <a:spcAft>
                <a:spcPts val="400"/>
              </a:spcAft>
            </a:pPr>
            <a:r>
              <a:rPr sz="900" b="1">
                <a:solidFill>
                  <a:srgbClr val="102A43"/>
                </a:solidFill>
                <a:latin typeface="Calibri"/>
              </a:rPr>
              <a:t>WHO DECIDES: authorised officials. PARAKH ranks and explains; it never acts.</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783080" y="128016"/>
            <a:ext cx="9509760" cy="658368"/>
          </a:xfrm>
        </p:spPr>
        <p:txBody>
          <a:bodyPr wrap="square" anchor="ctr"/>
          <a:lstStyle/>
          <a:p>
            <a:pPr eaLnBrk="1" hangingPunct="1" algn="l"/>
            <a:r>
              <a:rPr sz="3000" b="1">
                <a:solidFill>
                  <a:srgbClr val="102A43"/>
                </a:solidFill>
                <a:latin typeface="Times New Roman"/>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50" b="1">
                <a:solidFill>
                  <a:srgbClr val="102A43"/>
                </a:solidFill>
                <a:latin typeface="Calibri"/>
              </a:rPr>
              <a:t>[Team name as on portal]</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1783080" y="786384"/>
            <a:ext cx="9509760" cy="237744"/>
          </a:xfrm>
          <a:prstGeom prst="rect">
            <a:avLst/>
          </a:prstGeom>
          <a:noFill/>
        </p:spPr>
        <p:txBody>
          <a:bodyPr wrap="square" lIns="0" rIns="0" tIns="0" bIns="0" anchor="t">
            <a:spAutoFit/>
          </a:bodyPr>
          <a:lstStyle/>
          <a:p>
            <a:pPr algn="l">
              <a:lnSpc>
                <a:spcPct val="105000"/>
              </a:lnSpc>
              <a:spcAft>
                <a:spcPts val="0"/>
              </a:spcAft>
            </a:pPr>
            <a:r>
              <a:rPr sz="1150" b="0">
                <a:solidFill>
                  <a:srgbClr val="5B6B7B"/>
                </a:solidFill>
                <a:latin typeface="Calibri"/>
              </a:rPr>
              <a:t>Every number in this deck traces to a public report or a checked-in artifact.</a:t>
            </a:r>
          </a:p>
        </p:txBody>
      </p:sp>
      <p:sp>
        <p:nvSpPr>
          <p:cNvPr id="17411" name="TextBox 17410"/>
          <p:cNvSpPr txBox="1"/>
          <p:nvPr/>
        </p:nvSpPr>
        <p:spPr>
          <a:xfrm>
            <a:off x="457200" y="1115568"/>
            <a:ext cx="370332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DATA AND PROBLEM STATEMENT</a:t>
            </a:r>
          </a:p>
        </p:txBody>
      </p:sp>
      <p:sp>
        <p:nvSpPr>
          <p:cNvPr id="17412" name="Rectangle 17411"/>
          <p:cNvSpPr/>
          <p:nvPr/>
        </p:nvSpPr>
        <p:spPr>
          <a:xfrm>
            <a:off x="457200" y="1303020"/>
            <a:ext cx="370332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TextBox 17412"/>
          <p:cNvSpPr txBox="1"/>
          <p:nvPr/>
        </p:nvSpPr>
        <p:spPr>
          <a:xfrm>
            <a:off x="457200" y="1426464"/>
            <a:ext cx="3703320" cy="4754880"/>
          </a:xfrm>
          <a:prstGeom prst="rect">
            <a:avLst/>
          </a:prstGeom>
          <a:noFill/>
        </p:spPr>
        <p:txBody>
          <a:bodyPr wrap="square" lIns="0" rIns="0" tIns="0" bIns="0" anchor="t">
            <a:spAutoFit/>
          </a:bodyPr>
          <a:lstStyle/>
          <a:p>
            <a:pPr algn="l">
              <a:lnSpc>
                <a:spcPct val="105000"/>
              </a:lnSpc>
              <a:spcAft>
                <a:spcPts val="400"/>
              </a:spcAft>
            </a:pPr>
            <a:r>
              <a:rPr sz="1050" b="1">
                <a:solidFill>
                  <a:srgbClr val="102A43"/>
                </a:solidFill>
                <a:latin typeface="Calibri"/>
              </a:rPr>
              <a:t>MoSPI — PAIMANA Flash Report, April 2026</a:t>
            </a:r>
          </a:p>
          <a:p>
            <a:pPr algn="l">
              <a:lnSpc>
                <a:spcPct val="105000"/>
              </a:lnSpc>
              <a:spcAft>
                <a:spcPts val="400"/>
              </a:spcAft>
            </a:pPr>
            <a:r>
              <a:rPr sz="1050" b="0">
                <a:solidFill>
                  <a:srgbClr val="1F2933"/>
                </a:solidFill>
                <a:latin typeface="Calibri"/>
              </a:rPr>
              <a:t>1,981 ongoing projects across 17 line ministries/departments; ₹37.13 lakh crore original cost, ₹42.78 lakh crore revised cost, ₹20.36 lakh crore expenditure.</a:t>
            </a:r>
          </a:p>
          <a:p>
            <a:pPr algn="l">
              <a:lnSpc>
                <a:spcPct val="105000"/>
              </a:lnSpc>
              <a:spcAft>
                <a:spcPts val="400"/>
              </a:spcAft>
            </a:pPr>
            <a:r>
              <a:rPr sz="1050" b="0">
                <a:solidFill>
                  <a:srgbClr val="1F2933"/>
                </a:solidFill>
                <a:latin typeface="Calibri"/>
              </a:rPr>
              <a:t>https://paimana-proj.mospi.gov.in/ReportPage</a:t>
            </a:r>
          </a:p>
          <a:p>
            <a:pPr algn="l">
              <a:lnSpc>
                <a:spcPct val="105000"/>
              </a:lnSpc>
              <a:spcAft>
                <a:spcPts val="400"/>
              </a:spcAft>
            </a:pPr>
            <a:r>
              <a:rPr sz="1050" b="1">
                <a:solidFill>
                  <a:srgbClr val="102A43"/>
                </a:solidFill>
                <a:latin typeface="Calibri"/>
              </a:rPr>
              <a:t>MoSPI — PAIMANA public dashboard</a:t>
            </a:r>
          </a:p>
          <a:p>
            <a:pPr algn="l">
              <a:lnSpc>
                <a:spcPct val="105000"/>
              </a:lnSpc>
              <a:spcAft>
                <a:spcPts val="400"/>
              </a:spcAft>
            </a:pPr>
            <a:r>
              <a:rPr sz="1050" b="0">
                <a:solidFill>
                  <a:srgbClr val="1F2933"/>
                </a:solidFill>
                <a:latin typeface="Calibri"/>
              </a:rPr>
              <a:t>Official portfolio view; the source of the published monthly figures.</a:t>
            </a:r>
          </a:p>
          <a:p>
            <a:pPr algn="l">
              <a:lnSpc>
                <a:spcPct val="105000"/>
              </a:lnSpc>
              <a:spcAft>
                <a:spcPts val="400"/>
              </a:spcAft>
            </a:pPr>
            <a:r>
              <a:rPr sz="1050" b="0">
                <a:solidFill>
                  <a:srgbClr val="1F2933"/>
                </a:solidFill>
                <a:latin typeface="Calibri"/>
              </a:rPr>
              <a:t>https://ipm.mospi.gov.in/Home/PublicDashboard</a:t>
            </a:r>
          </a:p>
          <a:p>
            <a:pPr algn="l">
              <a:lnSpc>
                <a:spcPct val="105000"/>
              </a:lnSpc>
              <a:spcAft>
                <a:spcPts val="400"/>
              </a:spcAft>
            </a:pPr>
            <a:r>
              <a:rPr sz="1050" b="1">
                <a:solidFill>
                  <a:srgbClr val="102A43"/>
                </a:solidFill>
                <a:latin typeface="Calibri"/>
              </a:rPr>
              <a:t>SIH 2026 — Problem Statement 26103</a:t>
            </a:r>
          </a:p>
          <a:p>
            <a:pPr algn="l">
              <a:lnSpc>
                <a:spcPct val="105000"/>
              </a:lnSpc>
              <a:spcAft>
                <a:spcPts val="400"/>
              </a:spcAft>
            </a:pPr>
            <a:r>
              <a:rPr sz="1050" b="0">
                <a:solidFill>
                  <a:srgbClr val="1F2933"/>
                </a:solidFill>
                <a:latin typeface="Calibri"/>
              </a:rPr>
              <a:t>Ministry of Statistics and Programme Implementation, Data Informatics and Innovation Division (DIID). The brief asks for prediction, comparison with conventional methods, risk prioritisation and early-warning decision support.</a:t>
            </a:r>
          </a:p>
        </p:txBody>
      </p:sp>
      <p:sp>
        <p:nvSpPr>
          <p:cNvPr id="17414" name="TextBox 17413"/>
          <p:cNvSpPr txBox="1"/>
          <p:nvPr/>
        </p:nvSpPr>
        <p:spPr>
          <a:xfrm>
            <a:off x="4343400" y="1115568"/>
            <a:ext cx="370332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METHOD FOUNDATIONS</a:t>
            </a:r>
          </a:p>
        </p:txBody>
      </p:sp>
      <p:sp>
        <p:nvSpPr>
          <p:cNvPr id="17415" name="Rectangle 17414"/>
          <p:cNvSpPr/>
          <p:nvPr/>
        </p:nvSpPr>
        <p:spPr>
          <a:xfrm>
            <a:off x="4343400" y="1303020"/>
            <a:ext cx="370332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6" name="TextBox 17415"/>
          <p:cNvSpPr txBox="1"/>
          <p:nvPr/>
        </p:nvSpPr>
        <p:spPr>
          <a:xfrm>
            <a:off x="4343400" y="1426464"/>
            <a:ext cx="3703320" cy="4754880"/>
          </a:xfrm>
          <a:prstGeom prst="rect">
            <a:avLst/>
          </a:prstGeom>
          <a:noFill/>
        </p:spPr>
        <p:txBody>
          <a:bodyPr wrap="square" lIns="0" rIns="0" tIns="0" bIns="0" anchor="t">
            <a:spAutoFit/>
          </a:bodyPr>
          <a:lstStyle/>
          <a:p>
            <a:pPr algn="l">
              <a:lnSpc>
                <a:spcPct val="105000"/>
              </a:lnSpc>
              <a:spcAft>
                <a:spcPts val="400"/>
              </a:spcAft>
            </a:pPr>
            <a:r>
              <a:rPr sz="1050" b="1">
                <a:solidFill>
                  <a:srgbClr val="102A43"/>
                </a:solidFill>
                <a:latin typeface="Calibri"/>
              </a:rPr>
              <a:t>Chen &amp; Guestrin (2016).</a:t>
            </a:r>
          </a:p>
          <a:p>
            <a:pPr algn="l">
              <a:lnSpc>
                <a:spcPct val="105000"/>
              </a:lnSpc>
              <a:spcAft>
                <a:spcPts val="400"/>
              </a:spcAft>
            </a:pPr>
            <a:r>
              <a:rPr sz="1050" b="0">
                <a:solidFill>
                  <a:srgbClr val="1F2933"/>
                </a:solidFill>
                <a:latin typeface="Calibri"/>
              </a:rPr>
              <a:t>XGBoost: A Scalable Tree Boosting System. KDD.</a:t>
            </a:r>
          </a:p>
          <a:p>
            <a:pPr algn="l">
              <a:lnSpc>
                <a:spcPct val="105000"/>
              </a:lnSpc>
              <a:spcAft>
                <a:spcPts val="400"/>
              </a:spcAft>
            </a:pPr>
            <a:r>
              <a:rPr sz="1050" b="1">
                <a:solidFill>
                  <a:srgbClr val="102A43"/>
                </a:solidFill>
                <a:latin typeface="Calibri"/>
              </a:rPr>
              <a:t>Lundberg &amp; Lee (2017).</a:t>
            </a:r>
          </a:p>
          <a:p>
            <a:pPr algn="l">
              <a:lnSpc>
                <a:spcPct val="105000"/>
              </a:lnSpc>
              <a:spcAft>
                <a:spcPts val="400"/>
              </a:spcAft>
            </a:pPr>
            <a:r>
              <a:rPr sz="1050" b="0">
                <a:solidFill>
                  <a:srgbClr val="1F2933"/>
                </a:solidFill>
                <a:latin typeface="Calibri"/>
              </a:rPr>
              <a:t>A Unified Approach to Interpreting Model Predictions. NeurIPS — TreeSHAP, an exact additive attribution rather than an approximation.</a:t>
            </a:r>
          </a:p>
          <a:p>
            <a:pPr algn="l">
              <a:lnSpc>
                <a:spcPct val="105000"/>
              </a:lnSpc>
              <a:spcAft>
                <a:spcPts val="400"/>
              </a:spcAft>
            </a:pPr>
            <a:r>
              <a:rPr sz="1050" b="1">
                <a:solidFill>
                  <a:srgbClr val="102A43"/>
                </a:solidFill>
                <a:latin typeface="Calibri"/>
              </a:rPr>
              <a:t>Saito &amp; Rehmsmeier (2015).</a:t>
            </a:r>
          </a:p>
          <a:p>
            <a:pPr algn="l">
              <a:lnSpc>
                <a:spcPct val="105000"/>
              </a:lnSpc>
              <a:spcAft>
                <a:spcPts val="400"/>
              </a:spcAft>
            </a:pPr>
            <a:r>
              <a:rPr sz="1050" b="0">
                <a:solidFill>
                  <a:srgbClr val="1F2933"/>
                </a:solidFill>
                <a:latin typeface="Calibri"/>
              </a:rPr>
              <a:t>The Precision–Recall Plot Is More Informative than the ROC Plot for Imbalanced Data. PLoS ONE — why we publish PR-AUC beside the base rate.</a:t>
            </a:r>
          </a:p>
          <a:p>
            <a:pPr algn="l">
              <a:lnSpc>
                <a:spcPct val="105000"/>
              </a:lnSpc>
              <a:spcAft>
                <a:spcPts val="400"/>
              </a:spcAft>
            </a:pPr>
            <a:r>
              <a:rPr sz="1050" b="1">
                <a:solidFill>
                  <a:srgbClr val="102A43"/>
                </a:solidFill>
                <a:latin typeface="Calibri"/>
              </a:rPr>
              <a:t>Flyvbjerg, Bruzelius &amp; Rothengatter (2003).</a:t>
            </a:r>
          </a:p>
          <a:p>
            <a:pPr algn="l">
              <a:lnSpc>
                <a:spcPct val="105000"/>
              </a:lnSpc>
              <a:spcAft>
                <a:spcPts val="400"/>
              </a:spcAft>
            </a:pPr>
            <a:r>
              <a:rPr sz="1050" b="0">
                <a:solidFill>
                  <a:srgbClr val="1F2933"/>
                </a:solidFill>
                <a:latin typeface="Calibri"/>
              </a:rPr>
              <a:t>Megaprojects and Risk. Cambridge University Press.</a:t>
            </a:r>
          </a:p>
          <a:p>
            <a:pPr algn="l">
              <a:lnSpc>
                <a:spcPct val="105000"/>
              </a:lnSpc>
              <a:spcAft>
                <a:spcPts val="400"/>
              </a:spcAft>
            </a:pPr>
            <a:r>
              <a:rPr sz="1050" b="1">
                <a:solidFill>
                  <a:srgbClr val="102A43"/>
                </a:solidFill>
                <a:latin typeface="Calibri"/>
              </a:rPr>
              <a:t>Hyndman &amp; Athanasopoulos.</a:t>
            </a:r>
          </a:p>
          <a:p>
            <a:pPr algn="l">
              <a:lnSpc>
                <a:spcPct val="105000"/>
              </a:lnSpc>
              <a:spcAft>
                <a:spcPts val="400"/>
              </a:spcAft>
            </a:pPr>
            <a:r>
              <a:rPr sz="1050" b="0">
                <a:solidFill>
                  <a:srgbClr val="1F2933"/>
                </a:solidFill>
                <a:latin typeface="Calibri"/>
              </a:rPr>
              <a:t>Forecasting: Principles and Practice. OTexts — ordered holdout discipline for time-ordered data.</a:t>
            </a:r>
          </a:p>
        </p:txBody>
      </p:sp>
      <p:sp>
        <p:nvSpPr>
          <p:cNvPr id="17417" name="TextBox 17416"/>
          <p:cNvSpPr txBox="1"/>
          <p:nvPr/>
        </p:nvSpPr>
        <p:spPr>
          <a:xfrm>
            <a:off x="8229600" y="1115568"/>
            <a:ext cx="3520440" cy="182880"/>
          </a:xfrm>
          <a:prstGeom prst="rect">
            <a:avLst/>
          </a:prstGeom>
          <a:noFill/>
        </p:spPr>
        <p:txBody>
          <a:bodyPr wrap="square" lIns="0" rIns="0" tIns="0" bIns="0" anchor="t">
            <a:spAutoFit/>
          </a:bodyPr>
          <a:lstStyle/>
          <a:p>
            <a:pPr algn="l">
              <a:lnSpc>
                <a:spcPct val="105000"/>
              </a:lnSpc>
              <a:spcAft>
                <a:spcPts val="0"/>
              </a:spcAft>
            </a:pPr>
            <a:r>
              <a:rPr sz="950" b="1">
                <a:solidFill>
                  <a:srgbClr val="0070C0"/>
                </a:solidFill>
                <a:latin typeface="Calibri"/>
              </a:rPr>
              <a:t>PROTOTYPE EVIDENCE (CHECKED IN)</a:t>
            </a:r>
          </a:p>
        </p:txBody>
      </p:sp>
      <p:sp>
        <p:nvSpPr>
          <p:cNvPr id="17418" name="Rectangle 17417"/>
          <p:cNvSpPr/>
          <p:nvPr/>
        </p:nvSpPr>
        <p:spPr>
          <a:xfrm>
            <a:off x="8229600" y="1303020"/>
            <a:ext cx="3520440" cy="20117"/>
          </a:xfrm>
          <a:prstGeom prst="rect">
            <a:avLst/>
          </a:prstGeom>
          <a:solidFill>
            <a:srgbClr val="C5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9" name="TextBox 17418"/>
          <p:cNvSpPr txBox="1"/>
          <p:nvPr/>
        </p:nvSpPr>
        <p:spPr>
          <a:xfrm>
            <a:off x="8229600" y="1426464"/>
            <a:ext cx="3520440" cy="4754880"/>
          </a:xfrm>
          <a:prstGeom prst="rect">
            <a:avLst/>
          </a:prstGeom>
          <a:noFill/>
        </p:spPr>
        <p:txBody>
          <a:bodyPr wrap="square" lIns="0" rIns="0" tIns="0" bIns="0" anchor="t">
            <a:spAutoFit/>
          </a:bodyPr>
          <a:lstStyle/>
          <a:p>
            <a:pPr algn="l">
              <a:lnSpc>
                <a:spcPct val="105000"/>
              </a:lnSpc>
              <a:spcAft>
                <a:spcPts val="400"/>
              </a:spcAft>
            </a:pPr>
            <a:r>
              <a:rPr sz="1050" b="1">
                <a:solidFill>
                  <a:srgbClr val="102A43"/>
                </a:solidFill>
                <a:latin typeface="Calibri"/>
              </a:rPr>
              <a:t>17 monthly source PDFs, Mar 2025 → Jul 2026</a:t>
            </a:r>
          </a:p>
          <a:p>
            <a:pPr algn="l">
              <a:lnSpc>
                <a:spcPct val="105000"/>
              </a:lnSpc>
              <a:spcAft>
                <a:spcPts val="400"/>
              </a:spcAft>
            </a:pPr>
            <a:r>
              <a:rPr sz="1050" b="0">
                <a:solidFill>
                  <a:srgbClr val="1F2933"/>
                </a:solidFill>
                <a:latin typeface="Calibri"/>
              </a:rPr>
              <a:t>both OCMS and PAIMANA layouts, extracted with row-level source-page references.</a:t>
            </a:r>
          </a:p>
          <a:p>
            <a:pPr algn="l">
              <a:lnSpc>
                <a:spcPct val="105000"/>
              </a:lnSpc>
              <a:spcAft>
                <a:spcPts val="400"/>
              </a:spcAft>
            </a:pPr>
            <a:r>
              <a:rPr sz="1050" b="1">
                <a:solidFill>
                  <a:srgbClr val="102A43"/>
                </a:solidFill>
                <a:latin typeface="Calibri"/>
              </a:rPr>
              <a:t>Extraction quality</a:t>
            </a:r>
          </a:p>
          <a:p>
            <a:pPr algn="l">
              <a:lnSpc>
                <a:spcPct val="105000"/>
              </a:lnSpc>
              <a:spcAft>
                <a:spcPts val="400"/>
              </a:spcAft>
            </a:pPr>
            <a:r>
              <a:rPr sz="1050" b="0">
                <a:solidFill>
                  <a:srgbClr val="1F2933"/>
                </a:solidFill>
                <a:latin typeface="Calibri"/>
              </a:rPr>
              <a:t>2,522 pages, 25,180 rows, 0 failed reports, 915 rows flagged for review. 11 of the 13 current-format reports carry a totals check and all of them reconcile exactly — project count and all three financial totals; 7 of 17 reports carry no warnings at all. The four earliest legacy-layout reports keep a disclosed revised-cost gap rather than a silent fix.</a:t>
            </a:r>
          </a:p>
          <a:p>
            <a:pPr algn="l">
              <a:lnSpc>
                <a:spcPct val="105000"/>
              </a:lnSpc>
              <a:spcAft>
                <a:spcPts val="400"/>
              </a:spcAft>
            </a:pPr>
            <a:r>
              <a:rPr sz="1050" b="1">
                <a:solidFill>
                  <a:srgbClr val="102A43"/>
                </a:solidFill>
                <a:latin typeface="Calibri"/>
              </a:rPr>
              <a:t>Code and artifacts</a:t>
            </a:r>
          </a:p>
          <a:p>
            <a:pPr algn="l">
              <a:lnSpc>
                <a:spcPct val="105000"/>
              </a:lnSpc>
              <a:spcAft>
                <a:spcPts val="400"/>
              </a:spcAft>
            </a:pPr>
            <a:r>
              <a:rPr sz="1050" b="0">
                <a:solidFill>
                  <a:srgbClr val="1F2933"/>
                </a:solidFill>
                <a:latin typeface="Calibri"/>
              </a:rPr>
              <a:t>src/checker.py · src/model_train.py · data/processed/model_metrics.json · portfolio_kpis.json · shap_explanations.json</a:t>
            </a:r>
          </a:p>
          <a:p>
            <a:pPr algn="l">
              <a:lnSpc>
                <a:spcPct val="105000"/>
              </a:lnSpc>
              <a:spcAft>
                <a:spcPts val="400"/>
              </a:spcAft>
            </a:pPr>
            <a:r>
              <a:rPr sz="1050" b="1">
                <a:solidFill>
                  <a:srgbClr val="102A43"/>
                </a:solidFill>
                <a:latin typeface="Calibri"/>
              </a:rPr>
              <a:t>Repository / demo / walkthrough</a:t>
            </a:r>
          </a:p>
          <a:p>
            <a:pPr algn="l">
              <a:lnSpc>
                <a:spcPct val="105000"/>
              </a:lnSpc>
              <a:spcAft>
                <a:spcPts val="400"/>
              </a:spcAft>
            </a:pPr>
            <a:r>
              <a:rPr sz="1050" b="0">
                <a:solidFill>
                  <a:srgbClr val="1F2933"/>
                </a:solidFill>
                <a:latin typeface="Calibri"/>
              </a:rPr>
              <a:t>[repository / demo link]</a:t>
            </a:r>
          </a:p>
        </p:txBody>
      </p:sp>
    </p:spTree>
    <p:extLst>
      <p:ext uri="{BB962C8B-B14F-4D97-AF65-F5344CB8AC3E}">
        <p14:creationId xmlns:p14="http://schemas.microsoft.com/office/powerpoint/2010/main" val="3916788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3" name="Round Diagonal Corner Rectangle 2"/>
          <p:cNvSpPr/>
          <p:nvPr/>
        </p:nvSpPr>
        <p:spPr>
          <a:xfrm>
            <a:off x="0" y="1791032"/>
            <a:ext cx="12192000" cy="4319200"/>
          </a:xfrm>
          <a:prstGeom prst="round2DiagRect">
            <a:avLst/>
          </a:prstGeom>
          <a:solidFill>
            <a:schemeClr val="accent1">
              <a:lumMod val="20000"/>
              <a:lumOff val="80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Google Shape;100;p3"/>
          <p:cNvSpPr txBox="1"/>
          <p:nvPr/>
        </p:nvSpPr>
        <p:spPr>
          <a:xfrm>
            <a:off x="367832" y="1915454"/>
            <a:ext cx="11764736" cy="4070356"/>
          </a:xfrm>
          <a:prstGeom prst="rect">
            <a:avLst/>
          </a:prstGeom>
          <a:noFill/>
          <a:ln>
            <a:noFill/>
          </a:ln>
        </p:spPr>
        <p:txBody>
          <a:bodyPr spcFirstLastPara="1" wrap="square" lIns="91425" tIns="45700" rIns="91425" bIns="45700" anchor="t" anchorCtr="0">
            <a:noAutofit/>
          </a:bodyPr>
          <a:lstStyle/>
          <a:p>
            <a:pPr marL="514350" marR="0" lvl="0" indent="-514350" algn="just" rtl="0">
              <a:lnSpc>
                <a:spcPct val="90000"/>
              </a:lnSpc>
              <a:spcBef>
                <a:spcPts val="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Kindly keep the maximum slides limit up to six </a:t>
            </a: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(6). </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Including the </a:t>
            </a:r>
            <a:r>
              <a:rPr lang="en-US" b="1" i="0" u="none" strike="noStrike" cap="none">
                <a:solidFill>
                  <a:schemeClr val="dk1"/>
                </a:solidFill>
                <a:latin typeface="Arial" panose="020B0604020202020204" pitchFamily="34" charset="0"/>
                <a:ea typeface="Calibri"/>
                <a:cs typeface="Arial" panose="020B0604020202020204" pitchFamily="34" charset="0"/>
                <a:sym typeface="Calibri"/>
              </a:rPr>
              <a:t>title slide)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Try to avoid paragraphs and post your idea in points /diagrams / Infographics /pictures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Keep your explanation precise and easy to understand</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Idea should be unique and novel.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can only use provided </a:t>
            </a:r>
            <a:r>
              <a:rPr lang="en-US" b="1" dirty="0">
                <a:solidFill>
                  <a:schemeClr val="dk1"/>
                </a:solidFill>
                <a:latin typeface="Arial" panose="020B0604020202020204" pitchFamily="34" charset="0"/>
                <a:ea typeface="Calibri"/>
                <a:cs typeface="Arial" panose="020B0604020202020204" pitchFamily="34" charset="0"/>
                <a:sym typeface="Calibri"/>
              </a:rPr>
              <a:t>template</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for making the </a:t>
            </a:r>
            <a:r>
              <a:rPr lang="en-US" b="1" dirty="0">
                <a:solidFill>
                  <a:schemeClr val="dk1"/>
                </a:solidFill>
                <a:latin typeface="Arial" panose="020B0604020202020204" pitchFamily="34" charset="0"/>
                <a:ea typeface="Calibri"/>
                <a:cs typeface="Arial" panose="020B0604020202020204" pitchFamily="34" charset="0"/>
                <a:sym typeface="Calibri"/>
              </a:rPr>
              <a:t>PPT</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without changing the idea details pointers (mentioned in previous slides).</a:t>
            </a: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need to save the file in PDF and upload the same on portal. No PPT, Word Doc or any other format will be supported.</a:t>
            </a:r>
            <a:endParaRPr b="1" dirty="0">
              <a:latin typeface="Arial" panose="020B0604020202020204" pitchFamily="34" charset="0"/>
              <a:cs typeface="Arial" panose="020B0604020202020204" pitchFamily="34" charset="0"/>
            </a:endParaRPr>
          </a:p>
          <a:p>
            <a:pPr marL="514350" marR="0" lvl="0" indent="-349885" algn="just" rtl="0">
              <a:lnSpc>
                <a:spcPct val="90000"/>
              </a:lnSpc>
              <a:spcBef>
                <a:spcPts val="1000"/>
              </a:spcBef>
              <a:spcAft>
                <a:spcPts val="0"/>
              </a:spcAft>
              <a:buClr>
                <a:schemeClr val="dk1"/>
              </a:buClr>
              <a:buSzPct val="100000"/>
              <a:buFont typeface="Calibri"/>
              <a:buNone/>
            </a:pP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0" marR="0" lvl="0" indent="0" algn="just" rtl="0">
              <a:lnSpc>
                <a:spcPct val="90000"/>
              </a:lnSpc>
              <a:spcBef>
                <a:spcPts val="1000"/>
              </a:spcBef>
              <a:spcAft>
                <a:spcPts val="0"/>
              </a:spcAft>
              <a:buClr>
                <a:schemeClr val="dk1"/>
              </a:buClr>
              <a:buSzPct val="100000"/>
              <a:buFont typeface="Arial"/>
              <a:buNone/>
            </a:pP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Note - You can delete this slide (Important Pointers) when you upload the details of your idea on SIH portal.</a:t>
            </a:r>
            <a:endParaRPr b="1" dirty="0">
              <a:solidFill>
                <a:srgbClr val="C00000"/>
              </a:solidFill>
              <a:latin typeface="Arial" panose="020B0604020202020204" pitchFamily="34" charset="0"/>
              <a:cs typeface="Arial" panose="020B0604020202020204" pitchFamily="34" charset="0"/>
            </a:endParaRPr>
          </a:p>
          <a:p>
            <a:pPr marL="914400" marR="0" lvl="1" indent="-316230" algn="just" rtl="0">
              <a:lnSpc>
                <a:spcPct val="90000"/>
              </a:lnSpc>
              <a:spcBef>
                <a:spcPts val="500"/>
              </a:spcBef>
              <a:spcAft>
                <a:spcPts val="0"/>
              </a:spcAft>
              <a:buClr>
                <a:schemeClr val="dk1"/>
              </a:buClr>
              <a:buSzPct val="100000"/>
              <a:buFont typeface="Calibri"/>
              <a:buNone/>
            </a:pPr>
            <a:endParaRPr sz="2000" b="1" i="0" u="none" strike="noStrike" cap="none" dirty="0">
              <a:solidFill>
                <a:schemeClr val="dk1"/>
              </a:solidFill>
              <a:latin typeface="Arial" panose="020B0604020202020204" pitchFamily="34" charset="0"/>
              <a:ea typeface="Calibri"/>
              <a:cs typeface="Arial" panose="020B0604020202020204" pitchFamily="34" charset="0"/>
              <a:sym typeface="Calibri"/>
            </a:endParaRPr>
          </a:p>
        </p:txBody>
      </p:sp>
      <p:sp>
        <p:nvSpPr>
          <p:cNvPr id="4" name="TextBox 3"/>
          <p:cNvSpPr txBox="1"/>
          <p:nvPr/>
        </p:nvSpPr>
        <p:spPr>
          <a:xfrm>
            <a:off x="1393371" y="107066"/>
            <a:ext cx="841054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IMPORTANT INSTRUCTIONS</a:t>
            </a:r>
            <a:endParaRPr lang="en-IN"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02343" y="1181900"/>
            <a:ext cx="9557657" cy="341632"/>
          </a:xfrm>
          <a:prstGeom prst="rect">
            <a:avLst/>
          </a:prstGeom>
          <a:noFill/>
        </p:spPr>
        <p:txBody>
          <a:bodyPr wrap="square" rtlCol="0">
            <a:spAutoFit/>
          </a:bodyPr>
          <a:lstStyle/>
          <a:p>
            <a:pPr algn="just">
              <a:lnSpc>
                <a:spcPct val="90000"/>
              </a:lnSpc>
              <a:spcBef>
                <a:spcPts val="1000"/>
              </a:spcBef>
              <a:spcAft>
                <a:spcPts val="0"/>
              </a:spcAft>
              <a:buClr>
                <a:schemeClr val="dk1"/>
              </a:buClr>
              <a:buSzPct val="100000"/>
            </a:pPr>
            <a:r>
              <a:rPr lang="en-US" b="1" dirty="0">
                <a:solidFill>
                  <a:schemeClr val="dk1"/>
                </a:solidFill>
                <a:latin typeface="Arial" panose="020B0604020202020204" pitchFamily="34" charset="0"/>
                <a:ea typeface="Calibri"/>
                <a:cs typeface="Arial" panose="020B0604020202020204" pitchFamily="34" charset="0"/>
              </a:rPr>
              <a:t>Please ensure below pointers are met while submitting the Idea PPT:</a:t>
            </a:r>
            <a:endParaRPr lang="en-IN" b="1" dirty="0">
              <a:solidFill>
                <a:schemeClr val="dk1"/>
              </a:solidFill>
              <a:latin typeface="Arial" panose="020B0604020202020204" pitchFamily="34" charset="0"/>
              <a:ea typeface="Calibri"/>
              <a:cs typeface="Arial" panose="020B0604020202020204" pitchFamily="34" charset="0"/>
            </a:endParaRP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1588084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