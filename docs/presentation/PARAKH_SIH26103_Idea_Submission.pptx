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fa3088fa614d38" /><Relationship Type="http://schemas.openxmlformats.org/officeDocument/2006/relationships/extended-properties" Target="/docProps/app.xml" Id="R6f66493a9e534626" /><Relationship Type="http://schemas.openxmlformats.org/officeDocument/2006/relationships/officeDocument" Target="/ppt/presentation.xml" Id="R3c0b39165a23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69fa655e134f1a"/>
  </p:sldMasterIdLst>
  <p:notesMasterIdLst>
    <p:notesMasterId xmlns:r="http://schemas.openxmlformats.org/officeDocument/2006/relationships" r:id="R501b2760dbaa400f"/>
  </p:notesMasterIdLst>
  <p:sldIdLst>
    <p:sldId xmlns:r="http://schemas.openxmlformats.org/officeDocument/2006/relationships" id="256" r:id="R909dc44294f747eb"/>
    <p:sldId xmlns:r="http://schemas.openxmlformats.org/officeDocument/2006/relationships" id="257" r:id="R1415622861034d9c"/>
    <p:sldId xmlns:r="http://schemas.openxmlformats.org/officeDocument/2006/relationships" id="258" r:id="Re112b81941224fe9"/>
    <p:sldId xmlns:r="http://schemas.openxmlformats.org/officeDocument/2006/relationships" id="259" r:id="Re2d94e8875b842ed"/>
    <p:sldId xmlns:r="http://schemas.openxmlformats.org/officeDocument/2006/relationships" id="260" r:id="R8753df40dbc34468"/>
    <p:sldId xmlns:r="http://schemas.openxmlformats.org/officeDocument/2006/relationships" id="261" r:id="R4d0d4f37d12a4ea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47d7af44a4230" /><Relationship Type="http://schemas.openxmlformats.org/officeDocument/2006/relationships/slideMaster" Target="/ppt/slideMasters/slideMaster1.xml" Id="Rb069fa655e134f1a" /><Relationship Type="http://schemas.openxmlformats.org/officeDocument/2006/relationships/notesMaster" Target="/ppt/notesMasters/notesMaster1.xml" Id="R501b2760dbaa400f" /><Relationship Type="http://schemas.openxmlformats.org/officeDocument/2006/relationships/presProps" Target="/ppt/presProps.xml" Id="Rbdf3bd6e99af49f4" /><Relationship Type="http://schemas.openxmlformats.org/officeDocument/2006/relationships/viewProps" Target="/ppt/viewProps.xml" Id="R8a7f74eea9d34c44" /><Relationship Type="http://schemas.openxmlformats.org/officeDocument/2006/relationships/tableStyles" Target="/ppt/tableStyles.xml" Id="R8f9d178b27e04b22" /><Relationship Type="http://schemas.openxmlformats.org/officeDocument/2006/relationships/slide" Target="/ppt/slides/slide1.xml" Id="R909dc44294f747eb" /><Relationship Type="http://schemas.openxmlformats.org/officeDocument/2006/relationships/slide" Target="/ppt/slides/slide2.xml" Id="R1415622861034d9c" /><Relationship Type="http://schemas.openxmlformats.org/officeDocument/2006/relationships/slide" Target="/ppt/slides/slide3.xml" Id="Re112b81941224fe9" /><Relationship Type="http://schemas.openxmlformats.org/officeDocument/2006/relationships/slide" Target="/ppt/slides/slide4.xml" Id="Re2d94e8875b842ed" /><Relationship Type="http://schemas.openxmlformats.org/officeDocument/2006/relationships/slide" Target="/ppt/slides/slide5.xml" Id="R8753df40dbc34468" /><Relationship Type="http://schemas.openxmlformats.org/officeDocument/2006/relationships/slide" Target="/ppt/slides/slide6.xml" Id="R4d0d4f37d12a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246008b0c24c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bcdc1c2b164cb9" /><Relationship Type="http://schemas.openxmlformats.org/officeDocument/2006/relationships/notesMaster" Target="/ppt/notesMasters/notesMaster1.xml" Id="R2d82af76bb69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b9e379438477d" /><Relationship Type="http://schemas.openxmlformats.org/officeDocument/2006/relationships/notesMaster" Target="/ppt/notesMasters/notesMaster1.xml" Id="Rb9c4929deb734b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95b10282cd4728" /><Relationship Type="http://schemas.openxmlformats.org/officeDocument/2006/relationships/notesMaster" Target="/ppt/notesMasters/notesMaster1.xml" Id="R90c413c336e54d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949b91024d438e" /><Relationship Type="http://schemas.openxmlformats.org/officeDocument/2006/relationships/notesMaster" Target="/ppt/notesMasters/notesMaster1.xml" Id="Rc746ede0808945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5e1017fd544fe4" /><Relationship Type="http://schemas.openxmlformats.org/officeDocument/2006/relationships/notesMaster" Target="/ppt/notesMasters/notesMaster1.xml" Id="R9bb1b499c3df48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074186293b4ce8" /><Relationship Type="http://schemas.openxmlformats.org/officeDocument/2006/relationships/notesMaster" Target="/ppt/notesMasters/notesMaster1.xml" Id="R50b5c4f05f9745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SIH 2026 Problem Statement 26103 and category/theme details supplied by the team. Team ID and registered team name intentionally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Official scale figures are from the MoSPI PAIMANA April 2026 Flash Report, pp. 1–3. The proposed workflow is a target state; current work is separately labeled in the prototype proof strip. Prediction is never an official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Current panel/model evidence: 17 reports from March 2025–July 2026; 25,116 project-month rows; 3,950 project histories. Evaluation JSON shows schedule gradient boosting mean PR-AUC 0.376 across ordered tests Apr–Jun 2026 versus logistic 0.340 and rule score 0.201. Cost June-only ordered test has 1,732 rows/72 positives; logistic PR-AUC 0.131, gradient boosting 0.076, rule 0.064. Probabilities are uncalibrated. Model drivers are predictive signals, not causal explanations. Current checker run: 24,257 VERIFIED, 859 REVIEW_REQUIRED, 0 hard failures, seven warning categories; April count and three portfolio totals reconcile at displayed precision.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Feasibility and 30-day milestones are planned work. The review queue, notifications, and operational escalation are not an official ministry integration. External notifications wait for defined roles and thresholds.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Impact is a hypothesis to evaluate. Pilot measures are precision at review capacity, lead time, and reviewer effort/disposition. No savings or delay reductions have been measured.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MoSPI PAIMANA Flash Report April 2026 (https://paimana-proj.mospi.gov.in/ReportPage); PAIMANA public dashboard (https://ipm.mospi.gov.in/Home/PublicDashboard); SIH 2026 PS 26103 supplied by the team; prototype artifacts src/checker.py, src/model_train.py, data/processed/model_metrics.json, data/processed/portfolio_kpis.json. Confirm repository visibility before final submission.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7fa5246e442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904d5598c49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3e17fccce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89bf40b124d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ab0eedc2740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df704b88f48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15bc9c4a545e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63415f60547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d93a9262f47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d6d5c523241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dc8738083425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2AE234-6410-4E5C-A1A4-849D025FFF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FA4D144-1B4A-49DA-9972-DDA602572F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5A5BDA-D3F2-4D25-8BF7-A4801AFD0E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C3A3EA-093F-43F5-933E-E6CBCC4EB5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42C62C-67C3-4E1D-B834-54233EFDD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BFE76E-2B50-49FD-9154-9EEC295F1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940DD2-255B-4F4E-A411-0F1DA2DDB3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A9E1FB-F0CC-4CF0-9ACA-E28DCE1D1B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982141-9540-4967-ACC3-88B7FE7733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4D18DA-31CE-4EE7-AD20-458E37888C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CADC07-5218-4719-B2AE-9735A0A3E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339822-B954-416D-8FFE-E2F0708C3A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7ED0CC-9566-4B44-A951-DFEA183285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4AE937-A990-455A-87FE-0F7F776598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09EF1-2C06-4EE5-98F9-F9105D827E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704328-3CA2-413A-AA61-17B90D34B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12093C-F857-4C2E-AFA5-D4DDCC22E8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03792A7-13CA-48BA-B18C-A4E53822CA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0E3C23-0B4C-4E6D-B2B2-92CB6BC632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9FABEA-61D1-4B66-803E-A0D6FC4453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A01405-CCD2-4024-ADCC-D058008E6E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A56F98-68E0-4B7C-898E-1C8973E0D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D8FB32-02F3-4BF7-B80B-D8DA652167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5EB117-EFB9-432B-BE1F-7142B68646E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1B7F056-FB69-434A-AAFE-A95F1E30880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A48D572-57E1-4F67-8292-785CA417739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B94FBB-42A4-47D8-A3EA-0CDA1A601F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F294EC-0682-4527-A1E6-24D66F07A3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0C581E-90BF-48EE-AB84-DD7CFF1834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6EB72F-7511-424B-A7E3-C08FC524D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20704A-106F-4D71-9F6B-D2A86F2DA2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4353C0-A189-4096-B54C-B51393A5D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63E5E6-7D8E-44F5-9E87-925AFD21CF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E75E3C-AB1F-4858-81CD-3CAAE8D8B2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67A292-5B35-44CD-AD7B-8840A4C094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D6B2E-4A98-4EB6-BD76-D5AF7F5EEB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7428D5-676D-4146-B312-A8CA49C501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AAA863-9DF5-4054-985A-2AB31B77CC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B3F76D7-FC7C-4636-A692-0BA9119B58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6D572D-2C4A-4257-AA2F-91BC3ACE6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F4BE30-CBAB-4E94-8806-250055AC2B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67CBD6-4AEF-41D8-9D09-6BF9278FA3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9EBFF1-6366-4156-A0FD-378BC341B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496B5C6-2491-4E45-B25C-A35B2B5A3B0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112398-69AB-45A7-A9BB-6659B1C2E7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927AF5-AFB4-450C-9E78-3A00E500C8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DD3582-5AFA-4294-B669-22876E55A7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4711BB-A798-49DD-8C51-6A6DDE6BEC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0DA4E4-4E68-4FB8-95B1-6E14CAB91F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64B2B5-F0FA-45E6-A04D-99EDF60DAA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2D3D05-F2FF-4C51-848F-30193F316D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BDB15F-1066-4104-8BE7-E12053CFA9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6EA5A5-1E76-456D-9923-4E01022E58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C977958-04A5-44EA-8D0A-47286009F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45F89F-C149-4813-9E7C-8C3D50DF7D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9A52D9-2A77-4D95-8A20-CDD376B895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446C40-5E42-4D0E-B03E-51F3489578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31D7DC-5167-4709-8B6B-20A0902163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dcff8b33ee43b7" /><Relationship Type="http://schemas.openxmlformats.org/officeDocument/2006/relationships/slideLayout" Target="/ppt/slideLayouts/slideLayout1.xml" Id="R90821035f5d7460c" /><Relationship Type="http://schemas.openxmlformats.org/officeDocument/2006/relationships/slideLayout" Target="/ppt/slideLayouts/slideLayout2.xml" Id="R550d7611a09f4dc3" /><Relationship Type="http://schemas.openxmlformats.org/officeDocument/2006/relationships/slideLayout" Target="/ppt/slideLayouts/slideLayout3.xml" Id="R37ac949b48af44cd" /><Relationship Type="http://schemas.openxmlformats.org/officeDocument/2006/relationships/slideLayout" Target="/ppt/slideLayouts/slideLayout4.xml" Id="R86628e39223d4fe0" /><Relationship Type="http://schemas.openxmlformats.org/officeDocument/2006/relationships/slideLayout" Target="/ppt/slideLayouts/slideLayout5.xml" Id="R4bc7af53c7894bc4" /><Relationship Type="http://schemas.openxmlformats.org/officeDocument/2006/relationships/slideLayout" Target="/ppt/slideLayouts/slideLayout6.xml" Id="R4e354847d3a8447e" /><Relationship Type="http://schemas.openxmlformats.org/officeDocument/2006/relationships/slideLayout" Target="/ppt/slideLayouts/slideLayout7.xml" Id="R894499bb248047b3" /><Relationship Type="http://schemas.openxmlformats.org/officeDocument/2006/relationships/slideLayout" Target="/ppt/slideLayouts/slideLayout8.xml" Id="Rb0dd77a8651e460d" /><Relationship Type="http://schemas.openxmlformats.org/officeDocument/2006/relationships/slideLayout" Target="/ppt/slideLayouts/slideLayout9.xml" Id="R72bd15bee79a4a8f" /><Relationship Type="http://schemas.openxmlformats.org/officeDocument/2006/relationships/slideLayout" Target="/ppt/slideLayouts/slideLayout10.xml" Id="Re32b16d1d37c4cce" /><Relationship Type="http://schemas.openxmlformats.org/officeDocument/2006/relationships/slideLayout" Target="/ppt/slideLayouts/slideLayout11.xml" Id="R779404caee8645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81EB5C0-A451-4F11-8C86-9E1137114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905D63-CEB6-4945-9708-C8701C628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A60099-8991-47D5-9A07-A02319F7D2A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7D70CC-ED16-4AEF-A5F3-77A9618247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4254F9-62F4-491F-9097-697E1C3B211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21035f5d7460c"/>
    <p:sldLayoutId xmlns:r="http://schemas.openxmlformats.org/officeDocument/2006/relationships" id="2147483650" r:id="R550d7611a09f4dc3"/>
    <p:sldLayoutId xmlns:r="http://schemas.openxmlformats.org/officeDocument/2006/relationships" id="2147483651" r:id="R37ac949b48af44cd"/>
    <p:sldLayoutId xmlns:r="http://schemas.openxmlformats.org/officeDocument/2006/relationships" id="2147483652" r:id="R86628e39223d4fe0"/>
    <p:sldLayoutId xmlns:r="http://schemas.openxmlformats.org/officeDocument/2006/relationships" id="2147483653" r:id="R4bc7af53c7894bc4"/>
    <p:sldLayoutId xmlns:r="http://schemas.openxmlformats.org/officeDocument/2006/relationships" id="2147483654" r:id="R4e354847d3a8447e"/>
    <p:sldLayoutId xmlns:r="http://schemas.openxmlformats.org/officeDocument/2006/relationships" id="2147483655" r:id="R894499bb248047b3"/>
    <p:sldLayoutId xmlns:r="http://schemas.openxmlformats.org/officeDocument/2006/relationships" id="2147483656" r:id="Rb0dd77a8651e460d"/>
    <p:sldLayoutId xmlns:r="http://schemas.openxmlformats.org/officeDocument/2006/relationships" id="2147483657" r:id="R72bd15bee79a4a8f"/>
    <p:sldLayoutId xmlns:r="http://schemas.openxmlformats.org/officeDocument/2006/relationships" id="2147483658" r:id="Re32b16d1d37c4cce"/>
    <p:sldLayoutId xmlns:r="http://schemas.openxmlformats.org/officeDocument/2006/relationships" id="2147483659" r:id="R779404caee864564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5a08411964aba" /><Relationship Type="http://schemas.openxmlformats.org/officeDocument/2006/relationships/image" Target="/ppt/media/image.png" Id="Ref0ea7b21d954bc1" /><Relationship Type="http://schemas.openxmlformats.org/officeDocument/2006/relationships/image" Target="/ppt/media/image2.png" Id="R25b39dfba8584ad3" /><Relationship Type="http://schemas.openxmlformats.org/officeDocument/2006/relationships/notesSlide" Target="/ppt/notesSlides/notesSlide1.xml" Id="R34cbadabe1fa4e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06db2727404f28" /><Relationship Type="http://schemas.openxmlformats.org/officeDocument/2006/relationships/image" Target="/ppt/media/image2.png" Id="Re3defc6b10f244c9" /><Relationship Type="http://schemas.openxmlformats.org/officeDocument/2006/relationships/hyperlink" Target="https://paimana-proj.mospi.gov.in/ReportPage" TargetMode="External" Id="R69e26ce5552a4c67" /><Relationship Type="http://schemas.openxmlformats.org/officeDocument/2006/relationships/notesSlide" Target="/ppt/notesSlides/notesSlide2.xml" Id="Rd0181682fb8a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df48ad26b4168" /><Relationship Type="http://schemas.openxmlformats.org/officeDocument/2006/relationships/image" Target="/ppt/media/image2.png" Id="R35ed212a493a4b21" /><Relationship Type="http://schemas.openxmlformats.org/officeDocument/2006/relationships/notesSlide" Target="/ppt/notesSlides/notesSlide3.xml" Id="R9c431af5468e4b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283362d22452a" /><Relationship Type="http://schemas.openxmlformats.org/officeDocument/2006/relationships/image" Target="/ppt/media/image2.png" Id="Rac87c44590194ce4" /><Relationship Type="http://schemas.openxmlformats.org/officeDocument/2006/relationships/notesSlide" Target="/ppt/notesSlides/notesSlide4.xml" Id="R20b59a30b91d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09be9d83e4425" /><Relationship Type="http://schemas.openxmlformats.org/officeDocument/2006/relationships/image" Target="/ppt/media/image2.png" Id="R431785c2967c4dae" /><Relationship Type="http://schemas.openxmlformats.org/officeDocument/2006/relationships/notesSlide" Target="/ppt/notesSlides/notesSlide5.xml" Id="R5f5a581e14f045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603df0f59d4113" /><Relationship Type="http://schemas.openxmlformats.org/officeDocument/2006/relationships/image" Target="/ppt/media/image2.png" Id="R87f587b11a5740e3" /><Relationship Type="http://schemas.openxmlformats.org/officeDocument/2006/relationships/hyperlink" Target="https://paimana-proj.mospi.gov.in/ReportPage" TargetMode="External" Id="R0d2b44c668de4e9b" /><Relationship Type="http://schemas.openxmlformats.org/officeDocument/2006/relationships/hyperlink" Target="https://ipm.mospi.gov.in/Home/PublicDashboard" TargetMode="External" Id="R79031f6d0c0d4873" /><Relationship Type="http://schemas.openxmlformats.org/officeDocument/2006/relationships/hyperlink" Target="https://github.com/Pratyush83078/Parakh" TargetMode="External" Id="Ra4b72fa7ec0f4cbf" /><Relationship Type="http://schemas.openxmlformats.org/officeDocument/2006/relationships/notesSlide" Target="/ppt/notesSlides/notesSlide6.xml" Id="R7ad3c65d49e84c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0ea7b21d954bc1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E27DB25A-D7D7-404C-9032-E5D1468A0F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PARAKH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1351A12-0FB7-46E7-AE59-2A0BC336A49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52B46B-CDC8-4263-9850-A7B1D44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0" y="2143125"/>
            <a:ext cx="5924550" cy="3509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 ID – 26103</a:t>
            </a:r>
            <a:endParaRPr/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 Title - Use case on web-based integrated project-monitoring platform</a:t>
            </a: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Theme - Smart Automation</a:t>
            </a: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PS Category - Software</a:t>
            </a: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ID - [To be provided]</a:t>
            </a: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Registered Team Name - [To be provided]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39dfba8584a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99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CC55274-6797-410B-B1A7-131D5CCA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74DD9325-CFF0-4BD4-BB50-9F0F40971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PARAKH: Evidence before alert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A9E52E15-934B-4AC7-BFED-3F42573F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indent="-342900" algn="l">
              <a:buFont typeface="Wingdings"/>
              <a:buChar char="v"/>
              <a:defRPr sz="1650" b="1" u="sng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 u="sng">
                <a:solidFill>
                  <a:srgbClr val="1F497D"/>
                </a:solidFill>
                <a:latin typeface="Arial"/>
                <a:ea typeface="Arial"/>
                <a:cs typeface="Arial"/>
              </a:rPr>
              <a:t>A warning is useful only when its evidence can be trusted.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F8CF00-6ACC-4E15-9FBF-6C5526CE0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ECE7FF7-CED0-43B6-BA74-CE5E6083C9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SIH 2026 • PS 26103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PARAKH</a:t>
            </a:r>
            <a:endParaRPr/>
          </a:p>
        </p:txBody>
      </p:sp>
      <p:pic>
        <p:nvPicPr>
          <p:cNvPr id="154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efc6b10f2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idea-stat-projects-surface">
            <a:extLst xmlns:a="http://schemas.openxmlformats.org/drawingml/2006/main">
              <a:ext uri="{FF2B5EF4-FFF2-40B4-BE49-F238E27FC236}">
                <a16:creationId xmlns:a16="http://schemas.microsoft.com/office/drawing/2014/main" id="{16C33996-928F-4BAF-A7DE-D0B11E4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409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5365" name="idea-stat-projects-value">
            <a:extLst xmlns:a="http://schemas.openxmlformats.org/drawingml/2006/main">
              <a:ext uri="{FF2B5EF4-FFF2-40B4-BE49-F238E27FC236}">
                <a16:creationId xmlns:a16="http://schemas.microsoft.com/office/drawing/2014/main" id="{2BD04DDE-6AD3-4C8B-8EEA-CA4C471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3181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1,981</a:t>
            </a:r>
          </a:p>
        </p:txBody>
      </p:sp>
      <p:sp>
        <p:nvSpPr>
          <p:cNvPr id="15366" name="idea-stat-projects-label">
            <a:extLst xmlns:a="http://schemas.openxmlformats.org/drawingml/2006/main">
              <a:ext uri="{FF2B5EF4-FFF2-40B4-BE49-F238E27FC236}">
                <a16:creationId xmlns:a16="http://schemas.microsoft.com/office/drawing/2014/main" id="{84AAB134-DCF7-444D-A77D-CFD3372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3181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7373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373737"/>
                </a:solidFill>
                <a:latin typeface="Arial"/>
                <a:ea typeface="Arial"/>
                <a:cs typeface="Arial"/>
              </a:rPr>
              <a:t>ongoing projects • April 2026</a:t>
            </a:r>
          </a:p>
        </p:txBody>
      </p:sp>
      <p:sp>
        <p:nvSpPr>
          <p:cNvPr id="15367" name="idea-stat-ministries-surface">
            <a:extLst xmlns:a="http://schemas.openxmlformats.org/drawingml/2006/main">
              <a:ext uri="{FF2B5EF4-FFF2-40B4-BE49-F238E27FC236}">
                <a16:creationId xmlns:a16="http://schemas.microsoft.com/office/drawing/2014/main" id="{7CE459D6-2B7C-40C9-AC9C-37EAC980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62125"/>
            <a:ext cx="3409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5368" name="idea-stat-ministries-value">
            <a:extLst xmlns:a="http://schemas.openxmlformats.org/drawingml/2006/main">
              <a:ext uri="{FF2B5EF4-FFF2-40B4-BE49-F238E27FC236}">
                <a16:creationId xmlns:a16="http://schemas.microsoft.com/office/drawing/2014/main" id="{FF821832-3D2B-45E6-8C2A-4234C4B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19275"/>
            <a:ext cx="3181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5369" name="idea-stat-ministries-label">
            <a:extLst xmlns:a="http://schemas.openxmlformats.org/drawingml/2006/main">
              <a:ext uri="{FF2B5EF4-FFF2-40B4-BE49-F238E27FC236}">
                <a16:creationId xmlns:a16="http://schemas.microsoft.com/office/drawing/2014/main" id="{CA1889A0-FBF0-450A-A4FD-EC94A92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43125"/>
            <a:ext cx="3181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7373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373737"/>
                </a:solidFill>
                <a:latin typeface="Arial"/>
                <a:ea typeface="Arial"/>
                <a:cs typeface="Arial"/>
              </a:rPr>
              <a:t>Central ministries / departments</a:t>
            </a:r>
          </a:p>
        </p:txBody>
      </p:sp>
      <p:sp>
        <p:nvSpPr>
          <p:cNvPr id="15370" name="idea-stat-cost-surface">
            <a:extLst xmlns:a="http://schemas.openxmlformats.org/drawingml/2006/main">
              <a:ext uri="{FF2B5EF4-FFF2-40B4-BE49-F238E27FC236}">
                <a16:creationId xmlns:a16="http://schemas.microsoft.com/office/drawing/2014/main" id="{57D4EFB8-96F0-4461-9FC1-E28213C5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62125"/>
            <a:ext cx="3409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5371" name="idea-stat-cost-value">
            <a:extLst xmlns:a="http://schemas.openxmlformats.org/drawingml/2006/main">
              <a:ext uri="{FF2B5EF4-FFF2-40B4-BE49-F238E27FC236}">
                <a16:creationId xmlns:a16="http://schemas.microsoft.com/office/drawing/2014/main" id="{8B0FBF50-AAB0-49F5-9ADB-7AA330DD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3181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₹42.78 lakh cr</a:t>
            </a:r>
          </a:p>
        </p:txBody>
      </p:sp>
      <p:sp>
        <p:nvSpPr>
          <p:cNvPr id="15372" name="idea-stat-cost-label">
            <a:extLst xmlns:a="http://schemas.openxmlformats.org/drawingml/2006/main">
              <a:ext uri="{FF2B5EF4-FFF2-40B4-BE49-F238E27FC236}">
                <a16:creationId xmlns:a16="http://schemas.microsoft.com/office/drawing/2014/main" id="{455FBB64-7623-4A91-BDB8-66ED38D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181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7373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373737"/>
                </a:solidFill>
                <a:latin typeface="Arial"/>
                <a:ea typeface="Arial"/>
                <a:cs typeface="Arial"/>
              </a:rPr>
              <a:t>revised cost • April 2026</a:t>
            </a:r>
          </a:p>
        </p:txBody>
      </p:sp>
      <p:sp>
        <p:nvSpPr>
          <p:cNvPr id="15373" name="idea-source-line">
            <a:extLst xmlns:a="http://schemas.openxmlformats.org/drawingml/2006/main">
              <a:ext uri="{FF2B5EF4-FFF2-40B4-BE49-F238E27FC236}">
                <a16:creationId xmlns:a16="http://schemas.microsoft.com/office/drawing/2014/main" id="{198DE715-5A9C-4C68-ABF8-5E576EBB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13" u="sng">
                <a:solidFill>
                  <a:srgbClr val="555555"/>
                </a:solidFill>
                <a:latin typeface="Arial"/>
                <a:ea typeface="Arial"/>
                <a:cs typeface="Arial"/>
                <a:hlinkClick xmlns:r="http://schemas.openxmlformats.org/officeDocument/2006/relationships" r:id="R69e26ce5552a4c67"/>
              </a:rPr>
              <a:t>SOURCE: MoSPI PAIMANA FLASH REPORT • APRIL 2026 • TABLE 6</a:t>
            </a:r>
          </a:p>
        </p:txBody>
      </p:sp>
      <p:sp>
        <p:nvSpPr>
          <p:cNvPr id="15374" name="idea-solution-copy">
            <a:extLst xmlns:a="http://schemas.openxmlformats.org/drawingml/2006/main">
              <a:ext uri="{FF2B5EF4-FFF2-40B4-BE49-F238E27FC236}">
                <a16:creationId xmlns:a16="http://schemas.microsoft.com/office/drawing/2014/main" id="{0F2E9619-1A79-49D0-80E9-915E5DE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252525"/>
                </a:solidFill>
                <a:latin typeface="Arial"/>
                <a:ea typeface="Arial"/>
                <a:cs typeface="Arial"/>
              </a:rPr>
              <a:t>The target workflow for MoSPI and ministry monitoring teams compares each project’s monthly cost, schedule, expenditure and progress to surface emerging risks for review. A quality gate holds inconsistent records; each reviewed flag shows its source page, changed fields, model drivers and uncertainty, and lets an analyst record a decision.</a:t>
            </a:r>
          </a:p>
        </p:txBody>
      </p:sp>
      <p:sp>
        <p:nvSpPr>
          <p:cNvPr id="15375" name="idea-flow-reports-surface">
            <a:extLst xmlns:a="http://schemas.openxmlformats.org/drawingml/2006/main">
              <a:ext uri="{FF2B5EF4-FFF2-40B4-BE49-F238E27FC236}">
                <a16:creationId xmlns:a16="http://schemas.microsoft.com/office/drawing/2014/main" id="{E64A7136-F224-441E-A1A7-04B2A829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2352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5376" name="idea-flow-reports-title">
            <a:extLst xmlns:a="http://schemas.openxmlformats.org/drawingml/2006/main">
              <a:ext uri="{FF2B5EF4-FFF2-40B4-BE49-F238E27FC236}">
                <a16:creationId xmlns:a16="http://schemas.microsoft.com/office/drawing/2014/main" id="{D5A7E289-5D18-43A8-A625-DF94C66D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MONTHLY REPORTS</a:t>
            </a:r>
          </a:p>
        </p:txBody>
      </p:sp>
      <p:sp>
        <p:nvSpPr>
          <p:cNvPr id="15377" name="idea-flow-reports-detail">
            <a:extLst xmlns:a="http://schemas.openxmlformats.org/drawingml/2006/main">
              <a:ext uri="{FF2B5EF4-FFF2-40B4-BE49-F238E27FC236}">
                <a16:creationId xmlns:a16="http://schemas.microsoft.com/office/drawing/2014/main" id="{B88652B0-5056-45E2-AFED-D337F3E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200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17 months • OCMS + PAIMANA</a:t>
            </a:r>
          </a:p>
        </p:txBody>
      </p:sp>
      <p:sp>
        <p:nvSpPr>
          <p:cNvPr id="15378" name="idea-flow-quality-surface">
            <a:extLst xmlns:a="http://schemas.openxmlformats.org/drawingml/2006/main">
              <a:ext uri="{FF2B5EF4-FFF2-40B4-BE49-F238E27FC236}">
                <a16:creationId xmlns:a16="http://schemas.microsoft.com/office/drawing/2014/main" id="{AAA273A4-88FE-47B3-A156-20A9E13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05175"/>
            <a:ext cx="2352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5379" name="idea-flow-quality-title">
            <a:extLst xmlns:a="http://schemas.openxmlformats.org/drawingml/2006/main">
              <a:ext uri="{FF2B5EF4-FFF2-40B4-BE49-F238E27FC236}">
                <a16:creationId xmlns:a16="http://schemas.microsoft.com/office/drawing/2014/main" id="{4911D5FB-B2A1-4422-B5F4-D9D8953D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0042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VALIDATE + TRACE</a:t>
            </a:r>
          </a:p>
        </p:txBody>
      </p:sp>
      <p:sp>
        <p:nvSpPr>
          <p:cNvPr id="15380" name="idea-flow-quality-detail">
            <a:extLst xmlns:a="http://schemas.openxmlformats.org/drawingml/2006/main">
              <a:ext uri="{FF2B5EF4-FFF2-40B4-BE49-F238E27FC236}">
                <a16:creationId xmlns:a16="http://schemas.microsoft.com/office/drawing/2014/main" id="{FBF0DBA9-A441-41C9-9E6D-26D8A673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57600"/>
            <a:ext cx="2200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field checks • source page</a:t>
            </a:r>
          </a:p>
        </p:txBody>
      </p:sp>
      <p:sp>
        <p:nvSpPr>
          <p:cNvPr id="15381" name="idea-flow-assess-surface">
            <a:extLst xmlns:a="http://schemas.openxmlformats.org/drawingml/2006/main">
              <a:ext uri="{FF2B5EF4-FFF2-40B4-BE49-F238E27FC236}">
                <a16:creationId xmlns:a16="http://schemas.microsoft.com/office/drawing/2014/main" id="{5905EE49-31C8-49C6-86FC-8C75DA0D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2352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5382" name="idea-flow-assess-title">
            <a:extLst xmlns:a="http://schemas.openxmlformats.org/drawingml/2006/main">
              <a:ext uri="{FF2B5EF4-FFF2-40B4-BE49-F238E27FC236}">
                <a16:creationId xmlns:a16="http://schemas.microsoft.com/office/drawing/2014/main" id="{AE598059-A0ED-41E3-905A-A170754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042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ASSESS SEPARATELY</a:t>
            </a:r>
          </a:p>
        </p:txBody>
      </p:sp>
      <p:sp>
        <p:nvSpPr>
          <p:cNvPr id="15383" name="idea-flow-assess-detail">
            <a:extLst xmlns:a="http://schemas.openxmlformats.org/drawingml/2006/main">
              <a:ext uri="{FF2B5EF4-FFF2-40B4-BE49-F238E27FC236}">
                <a16:creationId xmlns:a16="http://schemas.microsoft.com/office/drawing/2014/main" id="{D15F5D26-0381-4AB5-B9BB-C89085D4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2200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cost / schedule models</a:t>
            </a:r>
          </a:p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implementation signals</a:t>
            </a:r>
          </a:p>
        </p:txBody>
      </p:sp>
      <p:sp>
        <p:nvSpPr>
          <p:cNvPr id="15384" name="idea-flow-review-surface">
            <a:extLst xmlns:a="http://schemas.openxmlformats.org/drawingml/2006/main">
              <a:ext uri="{FF2B5EF4-FFF2-40B4-BE49-F238E27FC236}">
                <a16:creationId xmlns:a16="http://schemas.microsoft.com/office/drawing/2014/main" id="{6E4C7064-348E-48FC-9BF2-5DFFE59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05175"/>
            <a:ext cx="2352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5385" name="idea-flow-review-title">
            <a:extLst xmlns:a="http://schemas.openxmlformats.org/drawingml/2006/main">
              <a:ext uri="{FF2B5EF4-FFF2-40B4-BE49-F238E27FC236}">
                <a16:creationId xmlns:a16="http://schemas.microsoft.com/office/drawing/2014/main" id="{9F7EA79E-0C59-4C94-AA52-873309B5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0042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5386" name="idea-flow-review-detail">
            <a:extLst xmlns:a="http://schemas.openxmlformats.org/drawingml/2006/main">
              <a:ext uri="{FF2B5EF4-FFF2-40B4-BE49-F238E27FC236}">
                <a16:creationId xmlns:a16="http://schemas.microsoft.com/office/drawing/2014/main" id="{1AC81324-F674-47B2-8CB9-8AD0E8D8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57600"/>
            <a:ext cx="2200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reason • uncertainty • decision</a:t>
            </a:r>
          </a:p>
        </p:txBody>
      </p:sp>
      <p:sp>
        <p:nvSpPr>
          <p:cNvPr id="15387" name="idea-flow-arrow-1">
            <a:extLst xmlns:a="http://schemas.openxmlformats.org/drawingml/2006/main">
              <a:ext uri="{FF2B5EF4-FFF2-40B4-BE49-F238E27FC236}">
                <a16:creationId xmlns:a16="http://schemas.microsoft.com/office/drawing/2014/main" id="{9C6204E9-0608-4E04-BADA-D101C20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88" name="idea-flow-arrow-2">
            <a:extLst xmlns:a="http://schemas.openxmlformats.org/drawingml/2006/main">
              <a:ext uri="{FF2B5EF4-FFF2-40B4-BE49-F238E27FC236}">
                <a16:creationId xmlns:a16="http://schemas.microsoft.com/office/drawing/2014/main" id="{0A2B712C-A3D9-4DBD-9DF1-492C720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58140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89" name="idea-flow-arrow-3">
            <a:extLst xmlns:a="http://schemas.openxmlformats.org/drawingml/2006/main">
              <a:ext uri="{FF2B5EF4-FFF2-40B4-BE49-F238E27FC236}">
                <a16:creationId xmlns:a16="http://schemas.microsoft.com/office/drawing/2014/main" id="{3EA0D4C4-14C5-4BB9-BB92-02D24277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90" name="idea-hold-branch">
            <a:extLst xmlns:a="http://schemas.openxmlformats.org/drawingml/2006/main">
              <a:ext uri="{FF2B5EF4-FFF2-40B4-BE49-F238E27FC236}">
                <a16:creationId xmlns:a16="http://schemas.microsoft.com/office/drawing/2014/main" id="{71B2A437-8B94-49A7-8ED2-5EEC526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3385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IF CHECKS FAIL  →  HOLD FOR REVIEW; NO SILENT PREDICTION</a:t>
            </a:r>
          </a:p>
        </p:txBody>
      </p:sp>
      <p:sp>
        <p:nvSpPr>
          <p:cNvPr id="15391" name="idea-designed-to-title">
            <a:extLst xmlns:a="http://schemas.openxmlformats.org/drawingml/2006/main">
              <a:ext uri="{FF2B5EF4-FFF2-40B4-BE49-F238E27FC236}">
                <a16:creationId xmlns:a16="http://schemas.microsoft.com/office/drawing/2014/main" id="{B8FD3055-8DB9-44DE-9F5F-CD4649CC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DESIGNED TO DELIVER</a:t>
            </a:r>
          </a:p>
        </p:txBody>
      </p:sp>
      <p:sp>
        <p:nvSpPr>
          <p:cNvPr id="15392" name="idea-promise-1-surface">
            <a:extLst xmlns:a="http://schemas.openxmlformats.org/drawingml/2006/main">
              <a:ext uri="{FF2B5EF4-FFF2-40B4-BE49-F238E27FC236}">
                <a16:creationId xmlns:a16="http://schemas.microsoft.com/office/drawing/2014/main" id="{3B74E323-6920-4DBE-AD3E-D4B1BB57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543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5393" name="idea-promise-1-title">
            <a:extLst xmlns:a="http://schemas.openxmlformats.org/drawingml/2006/main">
              <a:ext uri="{FF2B5EF4-FFF2-40B4-BE49-F238E27FC236}">
                <a16:creationId xmlns:a16="http://schemas.microsoft.com/office/drawing/2014/main" id="{BC07DF2B-9776-4B63-AB55-DEF89AC0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PRIORITISE</a:t>
            </a:r>
          </a:p>
        </p:txBody>
      </p:sp>
      <p:sp>
        <p:nvSpPr>
          <p:cNvPr id="15394" name="idea-promise-1-detail">
            <a:extLst xmlns:a="http://schemas.openxmlformats.org/drawingml/2006/main">
              <a:ext uri="{FF2B5EF4-FFF2-40B4-BE49-F238E27FC236}">
                <a16:creationId xmlns:a16="http://schemas.microsoft.com/office/drawing/2014/main" id="{AA277BD6-0843-41B7-871A-BDA114C4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390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303030"/>
                </a:solidFill>
                <a:latin typeface="Arial"/>
                <a:ea typeface="Arial"/>
                <a:cs typeface="Arial"/>
              </a:rPr>
              <a:t>emerging cost / schedule risks</a:t>
            </a:r>
          </a:p>
        </p:txBody>
      </p:sp>
      <p:sp>
        <p:nvSpPr>
          <p:cNvPr id="15395" name="idea-promise-2-surface">
            <a:extLst xmlns:a="http://schemas.openxmlformats.org/drawingml/2006/main">
              <a:ext uri="{FF2B5EF4-FFF2-40B4-BE49-F238E27FC236}">
                <a16:creationId xmlns:a16="http://schemas.microsoft.com/office/drawing/2014/main" id="{F1D860DF-54CD-4139-ADE4-E4142F0D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72025"/>
            <a:ext cx="2543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5396" name="idea-promise-2-title">
            <a:extLst xmlns:a="http://schemas.openxmlformats.org/drawingml/2006/main">
              <a:ext uri="{FF2B5EF4-FFF2-40B4-BE49-F238E27FC236}">
                <a16:creationId xmlns:a16="http://schemas.microsoft.com/office/drawing/2014/main" id="{FAA19200-F81D-457A-8AEA-00ABF7B1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38700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5397" name="idea-promise-2-detail">
            <a:extLst xmlns:a="http://schemas.openxmlformats.org/drawingml/2006/main">
              <a:ext uri="{FF2B5EF4-FFF2-40B4-BE49-F238E27FC236}">
                <a16:creationId xmlns:a16="http://schemas.microsoft.com/office/drawing/2014/main" id="{7B72DA2B-220B-4C5B-AA3D-CD7DC825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048250"/>
            <a:ext cx="2390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303030"/>
                </a:solidFill>
                <a:latin typeface="Arial"/>
                <a:ea typeface="Arial"/>
                <a:cs typeface="Arial"/>
              </a:rPr>
              <a:t>source, changed fields, drivers</a:t>
            </a:r>
          </a:p>
        </p:txBody>
      </p:sp>
      <p:sp>
        <p:nvSpPr>
          <p:cNvPr id="15398" name="idea-promise-3-surface">
            <a:extLst xmlns:a="http://schemas.openxmlformats.org/drawingml/2006/main">
              <a:ext uri="{FF2B5EF4-FFF2-40B4-BE49-F238E27FC236}">
                <a16:creationId xmlns:a16="http://schemas.microsoft.com/office/drawing/2014/main" id="{23D965DB-54CA-4E34-987C-CF1AC7B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72025"/>
            <a:ext cx="2543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5399" name="idea-promise-3-title">
            <a:extLst xmlns:a="http://schemas.openxmlformats.org/drawingml/2006/main">
              <a:ext uri="{FF2B5EF4-FFF2-40B4-BE49-F238E27FC236}">
                <a16:creationId xmlns:a16="http://schemas.microsoft.com/office/drawing/2014/main" id="{6D7AD5B4-04C1-409A-9982-DF72AFB4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38700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15400" name="idea-promise-3-detail">
            <a:extLst xmlns:a="http://schemas.openxmlformats.org/drawingml/2006/main">
              <a:ext uri="{FF2B5EF4-FFF2-40B4-BE49-F238E27FC236}">
                <a16:creationId xmlns:a16="http://schemas.microsoft.com/office/drawing/2014/main" id="{A7F785EA-4F3E-4091-B531-62531BB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2390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303030"/>
                </a:solidFill>
                <a:latin typeface="Arial"/>
                <a:ea typeface="Arial"/>
                <a:cs typeface="Arial"/>
              </a:rPr>
              <a:t>questionable records for review</a:t>
            </a:r>
          </a:p>
        </p:txBody>
      </p:sp>
      <p:sp>
        <p:nvSpPr>
          <p:cNvPr id="15401" name="idea-promise-4-surface">
            <a:extLst xmlns:a="http://schemas.openxmlformats.org/drawingml/2006/main">
              <a:ext uri="{FF2B5EF4-FFF2-40B4-BE49-F238E27FC236}">
                <a16:creationId xmlns:a16="http://schemas.microsoft.com/office/drawing/2014/main" id="{8E9289DB-15B3-405E-9D8E-91B3E651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72025"/>
            <a:ext cx="2543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5402" name="idea-promise-4-title">
            <a:extLst xmlns:a="http://schemas.openxmlformats.org/drawingml/2006/main">
              <a:ext uri="{FF2B5EF4-FFF2-40B4-BE49-F238E27FC236}">
                <a16:creationId xmlns:a16="http://schemas.microsoft.com/office/drawing/2014/main" id="{4DA5E1D4-3B16-47D1-85BF-87E459E4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38700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5403" name="idea-promise-4-detail">
            <a:extLst xmlns:a="http://schemas.openxmlformats.org/drawingml/2006/main">
              <a:ext uri="{FF2B5EF4-FFF2-40B4-BE49-F238E27FC236}">
                <a16:creationId xmlns:a16="http://schemas.microsoft.com/office/drawing/2014/main" id="{B0EF6943-99F3-4CB2-977B-A33CD203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48250"/>
            <a:ext cx="2390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303030"/>
                </a:solidFill>
                <a:latin typeface="Arial"/>
                <a:ea typeface="Arial"/>
                <a:cs typeface="Arial"/>
              </a:rPr>
              <a:t>precision@K + warning lead time</a:t>
            </a:r>
          </a:p>
        </p:txBody>
      </p:sp>
      <p:sp>
        <p:nvSpPr>
          <p:cNvPr id="15404" name="idea-prototype-proof">
            <a:extLst xmlns:a="http://schemas.openxmlformats.org/drawingml/2006/main">
              <a:ext uri="{FF2B5EF4-FFF2-40B4-BE49-F238E27FC236}">
                <a16:creationId xmlns:a16="http://schemas.microsoft.com/office/drawing/2014/main" id="{051A0BC8-249A-45D9-8B39-4EDD79A0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303030"/>
                </a:solidFill>
                <a:latin typeface="Arial"/>
                <a:ea typeface="Arial"/>
                <a:cs typeface="Arial"/>
              </a:rPr>
              <a:t>WORKING NOW  •  17 report months, source/page references, quality status and a transparent score  |  NEXT  •  connect the gate to the analyst queue</a:t>
            </a:r>
          </a:p>
        </p:txBody>
      </p:sp>
      <p:sp>
        <p:nvSpPr>
          <p:cNvPr id="15405" name="idea-tech-stack">
            <a:extLst xmlns:a="http://schemas.openxmlformats.org/drawingml/2006/main">
              <a:ext uri="{FF2B5EF4-FFF2-40B4-BE49-F238E27FC236}">
                <a16:creationId xmlns:a16="http://schemas.microsoft.com/office/drawing/2014/main" id="{07A854C0-5F26-4E87-BBE1-D5BCDE58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OPEN STACK  •  pdfplumber + pandas  •  scikit-learn  •  Next.js</a:t>
            </a:r>
          </a:p>
        </p:txBody>
      </p:sp>
    </p:spTree>
    <p:extLst>
      <p:ext uri="{BB962C8B-B14F-4D97-AF65-F5344CB8AC3E}">
        <p14:creationId xmlns:p14="http://schemas.microsoft.com/office/powerpoint/2010/main" val="21161572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E62D608-BE94-45AE-9FF2-8C5E4F6C6E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A767B383-5F26-4FED-8D39-26B1E8F9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67ECDD-2BBE-4BB8-893A-969AD2A89C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5BACECE-7F88-4704-A649-A5AFF26BAE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SIH 2026 • PS 26103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PARAKH</a:t>
            </a:r>
            <a:endParaRPr/>
          </a:p>
        </p:txBody>
      </p:sp>
      <p:pic>
        <p:nvPicPr>
          <p:cNvPr id="1744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d212a493a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technical-scope">
            <a:extLst xmlns:a="http://schemas.openxmlformats.org/drawingml/2006/main">
              <a:ext uri="{FF2B5EF4-FFF2-40B4-BE49-F238E27FC236}">
                <a16:creationId xmlns:a16="http://schemas.microsoft.com/office/drawing/2014/main" id="{1CAA23D7-DC2F-4824-B255-DC0D3DA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CURRENT PANEL  •  17 reports (Mar 2025–Jul 2026)  •  25,116 project-month rows  •  3,950 project histories</a:t>
            </a:r>
          </a:p>
        </p:txBody>
      </p:sp>
      <p:sp>
        <p:nvSpPr>
          <p:cNvPr id="17413" name="tech-reports-surface">
            <a:extLst xmlns:a="http://schemas.openxmlformats.org/drawingml/2006/main">
              <a:ext uri="{FF2B5EF4-FFF2-40B4-BE49-F238E27FC236}">
                <a16:creationId xmlns:a16="http://schemas.microsoft.com/office/drawing/2014/main" id="{20C902F9-7C56-4555-B79B-65C68DAF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14" name="tech-reports-title">
            <a:extLst xmlns:a="http://schemas.openxmlformats.org/drawingml/2006/main">
              <a:ext uri="{FF2B5EF4-FFF2-40B4-BE49-F238E27FC236}">
                <a16:creationId xmlns:a16="http://schemas.microsoft.com/office/drawing/2014/main" id="{6C9B458A-FD46-4EBD-A935-33738606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1  REPORTS</a:t>
            </a:r>
          </a:p>
        </p:txBody>
      </p:sp>
      <p:sp>
        <p:nvSpPr>
          <p:cNvPr id="17415" name="tech-reports-detail">
            <a:extLst xmlns:a="http://schemas.openxmlformats.org/drawingml/2006/main">
              <a:ext uri="{FF2B5EF4-FFF2-40B4-BE49-F238E27FC236}">
                <a16:creationId xmlns:a16="http://schemas.microsoft.com/office/drawing/2014/main" id="{EE755022-911C-4891-A931-C3E31ED8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OCMS + PAIMANA</a:t>
            </a:r>
          </a:p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monthly PDFs</a:t>
            </a:r>
          </a:p>
        </p:txBody>
      </p:sp>
      <p:sp>
        <p:nvSpPr>
          <p:cNvPr id="17416" name="tech-extract-surface">
            <a:extLst xmlns:a="http://schemas.openxmlformats.org/drawingml/2006/main">
              <a:ext uri="{FF2B5EF4-FFF2-40B4-BE49-F238E27FC236}">
                <a16:creationId xmlns:a16="http://schemas.microsoft.com/office/drawing/2014/main" id="{F23AFAF8-BC9F-4ACE-A229-72502525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533525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17" name="tech-extract-title">
            <a:extLst xmlns:a="http://schemas.openxmlformats.org/drawingml/2006/main">
              <a:ext uri="{FF2B5EF4-FFF2-40B4-BE49-F238E27FC236}">
                <a16:creationId xmlns:a16="http://schemas.microsoft.com/office/drawing/2014/main" id="{086BBD49-8C73-40D9-BA6E-035141E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628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2  EXTRACT</a:t>
            </a:r>
          </a:p>
        </p:txBody>
      </p:sp>
      <p:sp>
        <p:nvSpPr>
          <p:cNvPr id="17418" name="tech-extract-detail">
            <a:extLst xmlns:a="http://schemas.openxmlformats.org/drawingml/2006/main">
              <a:ext uri="{FF2B5EF4-FFF2-40B4-BE49-F238E27FC236}">
                <a16:creationId xmlns:a16="http://schemas.microsoft.com/office/drawing/2014/main" id="{E0A86F94-F06F-4F13-9F19-70785594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859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pdfplumber / pandas</a:t>
            </a:r>
          </a:p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value + source_page</a:t>
            </a:r>
          </a:p>
        </p:txBody>
      </p:sp>
      <p:sp>
        <p:nvSpPr>
          <p:cNvPr id="17419" name="tech-validate-surface">
            <a:extLst xmlns:a="http://schemas.openxmlformats.org/drawingml/2006/main">
              <a:ext uri="{FF2B5EF4-FFF2-40B4-BE49-F238E27FC236}">
                <a16:creationId xmlns:a16="http://schemas.microsoft.com/office/drawing/2014/main" id="{BB377976-FC05-4357-B1E3-ECB1EBB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33525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20" name="tech-validate-title">
            <a:extLst xmlns:a="http://schemas.openxmlformats.org/drawingml/2006/main">
              <a:ext uri="{FF2B5EF4-FFF2-40B4-BE49-F238E27FC236}">
                <a16:creationId xmlns:a16="http://schemas.microsoft.com/office/drawing/2014/main" id="{F3B420E7-5D5D-4808-9DF9-A16D0AE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28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3  VALIDATE</a:t>
            </a:r>
          </a:p>
        </p:txBody>
      </p:sp>
      <p:sp>
        <p:nvSpPr>
          <p:cNvPr id="17421" name="tech-validate-detail">
            <a:extLst xmlns:a="http://schemas.openxmlformats.org/drawingml/2006/main">
              <a:ext uri="{FF2B5EF4-FFF2-40B4-BE49-F238E27FC236}">
                <a16:creationId xmlns:a16="http://schemas.microsoft.com/office/drawing/2014/main" id="{F49AEE26-7412-4F1D-A742-817BECA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859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quality status</a:t>
            </a:r>
          </a:p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field + total checks</a:t>
            </a:r>
          </a:p>
        </p:txBody>
      </p:sp>
      <p:sp>
        <p:nvSpPr>
          <p:cNvPr id="17422" name="tech-compare-surface">
            <a:extLst xmlns:a="http://schemas.openxmlformats.org/drawingml/2006/main">
              <a:ext uri="{FF2B5EF4-FFF2-40B4-BE49-F238E27FC236}">
                <a16:creationId xmlns:a16="http://schemas.microsoft.com/office/drawing/2014/main" id="{0D33A7CD-A79D-4440-AD1C-B3CA1114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33525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23" name="tech-compare-title">
            <a:extLst xmlns:a="http://schemas.openxmlformats.org/drawingml/2006/main">
              <a:ext uri="{FF2B5EF4-FFF2-40B4-BE49-F238E27FC236}">
                <a16:creationId xmlns:a16="http://schemas.microsoft.com/office/drawing/2014/main" id="{327AB269-A90C-47D1-ACB8-ADC03C07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28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4  COMPARE</a:t>
            </a:r>
          </a:p>
        </p:txBody>
      </p:sp>
      <p:sp>
        <p:nvSpPr>
          <p:cNvPr id="17424" name="tech-compare-detail">
            <a:extLst xmlns:a="http://schemas.openxmlformats.org/drawingml/2006/main">
              <a:ext uri="{FF2B5EF4-FFF2-40B4-BE49-F238E27FC236}">
                <a16:creationId xmlns:a16="http://schemas.microsoft.com/office/drawing/2014/main" id="{45524094-F902-4117-8783-F42C319D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8859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rule / logistic / boost</a:t>
            </a:r>
          </a:p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ordered + project splits</a:t>
            </a:r>
          </a:p>
        </p:txBody>
      </p:sp>
      <p:sp>
        <p:nvSpPr>
          <p:cNvPr id="17425" name="tech-review-surface">
            <a:extLst xmlns:a="http://schemas.openxmlformats.org/drawingml/2006/main">
              <a:ext uri="{FF2B5EF4-FFF2-40B4-BE49-F238E27FC236}">
                <a16:creationId xmlns:a16="http://schemas.microsoft.com/office/drawing/2014/main" id="{E20B40F1-D45A-4CBC-A8AC-F742073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33525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26" name="tech-review-title">
            <a:extLst xmlns:a="http://schemas.openxmlformats.org/drawingml/2006/main">
              <a:ext uri="{FF2B5EF4-FFF2-40B4-BE49-F238E27FC236}">
                <a16:creationId xmlns:a16="http://schemas.microsoft.com/office/drawing/2014/main" id="{8A8C8C15-184E-4CB5-83A5-F2AB65E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28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5  REVIEW</a:t>
            </a:r>
          </a:p>
        </p:txBody>
      </p:sp>
      <p:sp>
        <p:nvSpPr>
          <p:cNvPr id="17427" name="tech-review-detail">
            <a:extLst xmlns:a="http://schemas.openxmlformats.org/drawingml/2006/main">
              <a:ext uri="{FF2B5EF4-FFF2-40B4-BE49-F238E27FC236}">
                <a16:creationId xmlns:a16="http://schemas.microsoft.com/office/drawing/2014/main" id="{2FB3FE89-7BC5-4533-8BD1-468BD2E0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source-linked card</a:t>
            </a:r>
          </a:p>
          <a:p xmlns:a="http://schemas.openxmlformats.org/drawingml/2006/main">
            <a:pPr algn="ctr">
              <a:defRPr sz="11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52525"/>
                </a:solidFill>
                <a:latin typeface="Arial"/>
                <a:ea typeface="Arial"/>
                <a:cs typeface="Arial"/>
              </a:rPr>
              <a:t>reason + uncertainty</a:t>
            </a:r>
          </a:p>
        </p:txBody>
      </p:sp>
      <p:sp>
        <p:nvSpPr>
          <p:cNvPr id="17428" name="tech-flow-arrow-1">
            <a:extLst xmlns:a="http://schemas.openxmlformats.org/drawingml/2006/main">
              <a:ext uri="{FF2B5EF4-FFF2-40B4-BE49-F238E27FC236}">
                <a16:creationId xmlns:a16="http://schemas.microsoft.com/office/drawing/2014/main" id="{C5C54EA7-DC6C-47AE-AFB0-E67317C1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9" name="tech-flow-arrow-2">
            <a:extLst xmlns:a="http://schemas.openxmlformats.org/drawingml/2006/main">
              <a:ext uri="{FF2B5EF4-FFF2-40B4-BE49-F238E27FC236}">
                <a16:creationId xmlns:a16="http://schemas.microsoft.com/office/drawing/2014/main" id="{512B1A05-ED37-481C-A212-506D68E0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097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30" name="tech-flow-arrow-3">
            <a:extLst xmlns:a="http://schemas.openxmlformats.org/drawingml/2006/main">
              <a:ext uri="{FF2B5EF4-FFF2-40B4-BE49-F238E27FC236}">
                <a16:creationId xmlns:a16="http://schemas.microsoft.com/office/drawing/2014/main" id="{A5F35722-E9FF-4218-8643-5C31789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31" name="tech-flow-arrow-4">
            <a:extLst xmlns:a="http://schemas.openxmlformats.org/drawingml/2006/main">
              <a:ext uri="{FF2B5EF4-FFF2-40B4-BE49-F238E27FC236}">
                <a16:creationId xmlns:a16="http://schemas.microsoft.com/office/drawing/2014/main" id="{4171EABD-BB37-4548-A5D3-FD740EC8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8097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32" name="technical-quality-note">
            <a:extLst xmlns:a="http://schemas.openxmlformats.org/drawingml/2006/main">
              <a:ext uri="{FF2B5EF4-FFF2-40B4-BE49-F238E27FC236}">
                <a16:creationId xmlns:a16="http://schemas.microsoft.com/office/drawing/2014/main" id="{CC239479-E3EB-4DCD-B0CC-840ACBB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93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QUALITY CONTROL  •  Across 17 reports: 24,257 VERIFIED; 859 REVIEW_REQUIRED. Training uses VERIFIED rows. Flags are investigation cues, not confirmed errors.</a:t>
            </a:r>
          </a:p>
        </p:txBody>
      </p:sp>
      <p:sp>
        <p:nvSpPr>
          <p:cNvPr id="17433" name="technical-eval-heading">
            <a:extLst xmlns:a="http://schemas.openxmlformats.org/drawingml/2006/main">
              <a:ext uri="{FF2B5EF4-FFF2-40B4-BE49-F238E27FC236}">
                <a16:creationId xmlns:a16="http://schemas.microsoft.com/office/drawing/2014/main" id="{E2E155BC-AB19-4D13-B917-9714AFF3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ORDERED TIME-HOLDOUT  •  PR-AUC (rare-event ranking), not “accuracy”</a:t>
            </a:r>
          </a:p>
        </p:txBody>
      </p:sp>
      <p:sp>
        <p:nvSpPr>
          <p:cNvPr id="17434" name="technical-eval-schedule-panel">
            <a:extLst xmlns:a="http://schemas.openxmlformats.org/drawingml/2006/main">
              <a:ext uri="{FF2B5EF4-FFF2-40B4-BE49-F238E27FC236}">
                <a16:creationId xmlns:a16="http://schemas.microsoft.com/office/drawing/2014/main" id="{30925C32-56A1-433A-80F5-55A3AC09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5238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35" name="technical-schedule-title">
            <a:extLst xmlns:a="http://schemas.openxmlformats.org/drawingml/2006/main">
              <a:ext uri="{FF2B5EF4-FFF2-40B4-BE49-F238E27FC236}">
                <a16:creationId xmlns:a16="http://schemas.microsoft.com/office/drawing/2014/main" id="{463393AE-4E49-4EB3-8470-D9EAB584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SCHEDULE CHANGE  •  APR–JUN 2026 (3 ORDERED MONTHS)</a:t>
            </a:r>
          </a:p>
        </p:txBody>
      </p:sp>
      <p:sp>
        <p:nvSpPr>
          <p:cNvPr id="17436" name="technical-schedule-metrics">
            <a:extLst xmlns:a="http://schemas.openxmlformats.org/drawingml/2006/main">
              <a:ext uri="{FF2B5EF4-FFF2-40B4-BE49-F238E27FC236}">
                <a16:creationId xmlns:a16="http://schemas.microsoft.com/office/drawing/2014/main" id="{291EF44E-5BDB-4AB7-A133-AC7E93F5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905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PR-AUC   Gradient boost  0.376   |   Logistic  0.340   |   Rule  0.201</a:t>
            </a:r>
          </a:p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ROC-AUC  Gradient boost  0.777   |   Logistic  0.762   |   Rule  0.566</a:t>
            </a:r>
          </a:p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Mean across ordered tests; June test included 1,732 rows / 268 positive cases.</a:t>
            </a:r>
          </a:p>
        </p:txBody>
      </p:sp>
      <p:sp>
        <p:nvSpPr>
          <p:cNvPr id="17437" name="technical-eval-cost-panel">
            <a:extLst xmlns:a="http://schemas.openxmlformats.org/drawingml/2006/main">
              <a:ext uri="{FF2B5EF4-FFF2-40B4-BE49-F238E27FC236}">
                <a16:creationId xmlns:a16="http://schemas.microsoft.com/office/drawing/2014/main" id="{05FAA956-4507-485C-976F-9C7D17F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5238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38" name="technical-cost-title">
            <a:extLst xmlns:a="http://schemas.openxmlformats.org/drawingml/2006/main">
              <a:ext uri="{FF2B5EF4-FFF2-40B4-BE49-F238E27FC236}">
                <a16:creationId xmlns:a16="http://schemas.microsoft.com/office/drawing/2014/main" id="{063EFA63-F73B-42E2-BB49-20DA4C6B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67075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COST REVISION  •  JUNE 2026 ONLY (72 POSITIVES)</a:t>
            </a:r>
          </a:p>
        </p:txBody>
      </p:sp>
      <p:sp>
        <p:nvSpPr>
          <p:cNvPr id="17439" name="technical-cost-metrics">
            <a:extLst xmlns:a="http://schemas.openxmlformats.org/drawingml/2006/main">
              <a:ext uri="{FF2B5EF4-FFF2-40B4-BE49-F238E27FC236}">
                <a16:creationId xmlns:a16="http://schemas.microsoft.com/office/drawing/2014/main" id="{22767FC1-A4C0-41ED-8729-F0984E40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4905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PR-AUC   Logistic  0.131   |   Gradient boost  0.076   |   Rule  0.064</a:t>
            </a:r>
          </a:p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ROC-AUC  Logistic  0.672   |   Gradient boost  0.704   |   Rule  0.586</a:t>
            </a:r>
          </a:p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One ordered test month only: not decision-ready evidence.</a:t>
            </a:r>
          </a:p>
        </p:txBody>
      </p:sp>
      <p:sp>
        <p:nvSpPr>
          <p:cNvPr id="17440" name="technical-explanation-note">
            <a:extLst xmlns:a="http://schemas.openxmlformats.org/drawingml/2006/main">
              <a:ext uri="{FF2B5EF4-FFF2-40B4-BE49-F238E27FC236}">
                <a16:creationId xmlns:a16="http://schemas.microsoft.com/office/drawing/2014/main" id="{9E786363-0B97-43C6-9FAA-4E28DE9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EXPLAINABILITY  •  Show changed source values and permutation drivers (predictive signal, not cause). Next: CUF-only vs added-feature ablation and a human review disposition. Probabilities are uncalibrated; show ranks, not percentages.</a:t>
            </a:r>
          </a:p>
        </p:txBody>
      </p:sp>
      <p:sp>
        <p:nvSpPr>
          <p:cNvPr id="17441" name="technical-model-roadmap">
            <a:extLst xmlns:a="http://schemas.openxmlformats.org/drawingml/2006/main">
              <a:ext uri="{FF2B5EF4-FFF2-40B4-BE49-F238E27FC236}">
                <a16:creationId xmlns:a16="http://schemas.microsoft.com/office/drawing/2014/main" id="{AD035DF5-63A9-4389-A8A3-D1695560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NEXT VALIDATION  •  repeat time-forward checks  |  test top-K precision and lead time  |  add XGBoost / SHAP only if they improve validated results and explanation quality</a:t>
            </a:r>
          </a:p>
        </p:txBody>
      </p:sp>
    </p:spTree>
    <p:extLst>
      <p:ext uri="{BB962C8B-B14F-4D97-AF65-F5344CB8AC3E}">
        <p14:creationId xmlns:p14="http://schemas.microsoft.com/office/powerpoint/2010/main" val="19149995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8FBE034-3092-4A2B-ABB1-ABB560EAF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48A7B86B-C4A9-4C3D-AB81-306C3CD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D71EF7-9B16-443A-B786-75B162F41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71114AE-4E4D-4B02-9D4A-403C196156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SIH 2026 • PS 26103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PARAKH</a:t>
            </a:r>
            <a:endParaRPr/>
          </a:p>
        </p:txBody>
      </p:sp>
      <p:pic>
        <p:nvPicPr>
          <p:cNvPr id="1745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7c44590194c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feasibility-1-title">
            <a:extLst xmlns:a="http://schemas.openxmlformats.org/drawingml/2006/main">
              <a:ext uri="{FF2B5EF4-FFF2-40B4-BE49-F238E27FC236}">
                <a16:creationId xmlns:a16="http://schemas.microsoft.com/office/drawing/2014/main" id="{DE073921-06AF-446D-913E-25F26629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7413" name="feasibility-1-detail">
            <a:extLst xmlns:a="http://schemas.openxmlformats.org/drawingml/2006/main">
              <a:ext uri="{FF2B5EF4-FFF2-40B4-BE49-F238E27FC236}">
                <a16:creationId xmlns:a16="http://schemas.microsoft.com/office/drawing/2014/main" id="{6BA3E2D2-914B-48B0-A7A0-DAD59A7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52525"/>
                </a:solidFill>
                <a:latin typeface="Arial"/>
                <a:ea typeface="Arial"/>
                <a:cs typeface="Arial"/>
              </a:rPr>
              <a:t>Existing Python, pandas, scikit-learn and Next.js stack; batch processing, no GPU requirement.</a:t>
            </a:r>
          </a:p>
        </p:txBody>
      </p:sp>
      <p:sp>
        <p:nvSpPr>
          <p:cNvPr id="17414" name="feasibility-2-title">
            <a:extLst xmlns:a="http://schemas.openxmlformats.org/drawingml/2006/main">
              <a:ext uri="{FF2B5EF4-FFF2-40B4-BE49-F238E27FC236}">
                <a16:creationId xmlns:a16="http://schemas.microsoft.com/office/drawing/2014/main" id="{38E5D5C6-0CB6-4B64-8FCF-EC59E9F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620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ECONOMIC</a:t>
            </a:r>
          </a:p>
        </p:txBody>
      </p:sp>
      <p:sp>
        <p:nvSpPr>
          <p:cNvPr id="17415" name="feasibility-2-detail">
            <a:extLst xmlns:a="http://schemas.openxmlformats.org/drawingml/2006/main">
              <a:ext uri="{FF2B5EF4-FFF2-40B4-BE49-F238E27FC236}">
                <a16:creationId xmlns:a16="http://schemas.microsoft.com/office/drawing/2014/main" id="{23DCBDD8-F9F4-4CF5-8734-B3A8F67C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764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52525"/>
                </a:solidFill>
                <a:latin typeface="Arial"/>
                <a:ea typeface="Arial"/>
                <a:cs typeface="Arial"/>
              </a:rPr>
              <a:t>Open-source tooling; no paid model API. Estimate hosting and reviewer effort during pilot.</a:t>
            </a:r>
          </a:p>
        </p:txBody>
      </p:sp>
      <p:sp>
        <p:nvSpPr>
          <p:cNvPr id="17416" name="feasibility-3-title">
            <a:extLst xmlns:a="http://schemas.openxmlformats.org/drawingml/2006/main">
              <a:ext uri="{FF2B5EF4-FFF2-40B4-BE49-F238E27FC236}">
                <a16:creationId xmlns:a16="http://schemas.microsoft.com/office/drawing/2014/main" id="{DFC010F0-F474-495D-8414-D80954E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620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OPERATIONAL</a:t>
            </a:r>
          </a:p>
        </p:txBody>
      </p:sp>
      <p:sp>
        <p:nvSpPr>
          <p:cNvPr id="17417" name="feasibility-3-detail">
            <a:extLst xmlns:a="http://schemas.openxmlformats.org/drawingml/2006/main">
              <a:ext uri="{FF2B5EF4-FFF2-40B4-BE49-F238E27FC236}">
                <a16:creationId xmlns:a16="http://schemas.microsoft.com/office/drawing/2014/main" id="{2A1FAAD3-E409-4248-8DF4-F164088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252525"/>
                </a:solidFill>
                <a:latin typeface="Arial"/>
                <a:ea typeface="Arial"/>
                <a:cs typeface="Arial"/>
              </a:rPr>
              <a:t>Monthly, analyst-led queue. No external alert dispatch; notifications follow roles and thresholds.</a:t>
            </a:r>
          </a:p>
        </p:txBody>
      </p:sp>
      <p:sp>
        <p:nvSpPr>
          <p:cNvPr id="17418" name="feasibility-separator-1">
            <a:extLst xmlns:a="http://schemas.openxmlformats.org/drawingml/2006/main">
              <a:ext uri="{FF2B5EF4-FFF2-40B4-BE49-F238E27FC236}">
                <a16:creationId xmlns:a16="http://schemas.microsoft.com/office/drawing/2014/main" id="{EB2E7C63-6B03-4AC1-9E31-DD7D2501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71600"/>
            <a:ext cx="11906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C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9" name="feasibility-separator-2">
            <a:extLst xmlns:a="http://schemas.openxmlformats.org/drawingml/2006/main">
              <a:ext uri="{FF2B5EF4-FFF2-40B4-BE49-F238E27FC236}">
                <a16:creationId xmlns:a16="http://schemas.microsoft.com/office/drawing/2014/main" id="{0EE0A428-FE85-4FC4-AA92-C84DCE0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371600"/>
            <a:ext cx="11906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C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0" name="feasibility-top-divider">
            <a:extLst xmlns:a="http://schemas.openxmlformats.org/drawingml/2006/main">
              <a:ext uri="{FF2B5EF4-FFF2-40B4-BE49-F238E27FC236}">
                <a16:creationId xmlns:a16="http://schemas.microsoft.com/office/drawing/2014/main" id="{14F53686-17CF-4570-8B12-5AE5E0BB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1" name="feasibility-timeline-title">
            <a:extLst xmlns:a="http://schemas.openxmlformats.org/drawingml/2006/main">
              <a:ext uri="{FF2B5EF4-FFF2-40B4-BE49-F238E27FC236}">
                <a16:creationId xmlns:a16="http://schemas.microsoft.com/office/drawing/2014/main" id="{024CBB5F-1AD8-4DCE-8263-06C00AAB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30-DAY BUILD PATH  •  TARGETS, NOT CLAIMED AS COMPLETE</a:t>
            </a:r>
          </a:p>
        </p:txBody>
      </p:sp>
      <p:sp>
        <p:nvSpPr>
          <p:cNvPr id="17422" name="build-week-1-surface">
            <a:extLst xmlns:a="http://schemas.openxmlformats.org/drawingml/2006/main">
              <a:ext uri="{FF2B5EF4-FFF2-40B4-BE49-F238E27FC236}">
                <a16:creationId xmlns:a16="http://schemas.microsoft.com/office/drawing/2014/main" id="{A0A3380D-FB16-40AF-A45D-924D5583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352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23" name="build-week-1-title">
            <a:extLst xmlns:a="http://schemas.openxmlformats.org/drawingml/2006/main">
              <a:ext uri="{FF2B5EF4-FFF2-40B4-BE49-F238E27FC236}">
                <a16:creationId xmlns:a16="http://schemas.microsoft.com/office/drawing/2014/main" id="{AE1BFC14-E390-4C33-8E8B-D73954F5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162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17424" name="build-week-1-detail">
            <a:extLst xmlns:a="http://schemas.openxmlformats.org/drawingml/2006/main">
              <a:ext uri="{FF2B5EF4-FFF2-40B4-BE49-F238E27FC236}">
                <a16:creationId xmlns:a16="http://schemas.microsoft.com/office/drawing/2014/main" id="{ADAD4A48-BAA5-4871-985C-42EF301B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52525"/>
                </a:solidFill>
                <a:latin typeface="Arial"/>
                <a:ea typeface="Arial"/>
                <a:cs typeface="Arial"/>
              </a:rPr>
              <a:t>Close source/reconciliation gaps; wire quality holds.</a:t>
            </a:r>
          </a:p>
        </p:txBody>
      </p:sp>
      <p:sp>
        <p:nvSpPr>
          <p:cNvPr id="17425" name="build-week-2-surface">
            <a:extLst xmlns:a="http://schemas.openxmlformats.org/drawingml/2006/main">
              <a:ext uri="{FF2B5EF4-FFF2-40B4-BE49-F238E27FC236}">
                <a16:creationId xmlns:a16="http://schemas.microsoft.com/office/drawing/2014/main" id="{9491B57D-28E0-4E7A-AA4D-630A007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38475"/>
            <a:ext cx="2352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26" name="build-week-2-title">
            <a:extLst xmlns:a="http://schemas.openxmlformats.org/drawingml/2006/main">
              <a:ext uri="{FF2B5EF4-FFF2-40B4-BE49-F238E27FC236}">
                <a16:creationId xmlns:a16="http://schemas.microsoft.com/office/drawing/2014/main" id="{04E7A605-D944-4147-9715-97F45BC0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162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17427" name="build-week-2-detail">
            <a:extLst xmlns:a="http://schemas.openxmlformats.org/drawingml/2006/main">
              <a:ext uri="{FF2B5EF4-FFF2-40B4-BE49-F238E27FC236}">
                <a16:creationId xmlns:a16="http://schemas.microsoft.com/office/drawing/2014/main" id="{43C3E5C6-F36E-4969-859A-0DD499DB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52525"/>
                </a:solidFill>
                <a:latin typeface="Arial"/>
                <a:ea typeface="Arial"/>
                <a:cs typeface="Arial"/>
              </a:rPr>
              <a:t>Re-run ordered and project-disjoint benchmarks; compare CUF features.</a:t>
            </a:r>
          </a:p>
        </p:txBody>
      </p:sp>
      <p:sp>
        <p:nvSpPr>
          <p:cNvPr id="17428" name="build-week-3-surface">
            <a:extLst xmlns:a="http://schemas.openxmlformats.org/drawingml/2006/main">
              <a:ext uri="{FF2B5EF4-FFF2-40B4-BE49-F238E27FC236}">
                <a16:creationId xmlns:a16="http://schemas.microsoft.com/office/drawing/2014/main" id="{62EF33B7-7940-4CD1-9012-44925952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38475"/>
            <a:ext cx="2352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29" name="build-week-3-title">
            <a:extLst xmlns:a="http://schemas.openxmlformats.org/drawingml/2006/main">
              <a:ext uri="{FF2B5EF4-FFF2-40B4-BE49-F238E27FC236}">
                <a16:creationId xmlns:a16="http://schemas.microsoft.com/office/drawing/2014/main" id="{81064263-4CFB-4E7A-AACE-F9643C78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162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17430" name="build-week-3-detail">
            <a:extLst xmlns:a="http://schemas.openxmlformats.org/drawingml/2006/main">
              <a:ext uri="{FF2B5EF4-FFF2-40B4-BE49-F238E27FC236}">
                <a16:creationId xmlns:a16="http://schemas.microsoft.com/office/drawing/2014/main" id="{E0F727F7-F15D-45E3-9C1C-38B38BE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52525"/>
                </a:solidFill>
                <a:latin typeface="Arial"/>
                <a:ea typeface="Arial"/>
                <a:cs typeface="Arial"/>
              </a:rPr>
              <a:t>Build source-linked review cards and reviewer dispositions.</a:t>
            </a:r>
          </a:p>
        </p:txBody>
      </p:sp>
      <p:sp>
        <p:nvSpPr>
          <p:cNvPr id="17431" name="build-week-4-surface">
            <a:extLst xmlns:a="http://schemas.openxmlformats.org/drawingml/2006/main">
              <a:ext uri="{FF2B5EF4-FFF2-40B4-BE49-F238E27FC236}">
                <a16:creationId xmlns:a16="http://schemas.microsoft.com/office/drawing/2014/main" id="{BB6F4B0A-72CD-44BF-89E9-9B58BD4C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38475"/>
            <a:ext cx="2352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32" name="build-week-4-title">
            <a:extLst xmlns:a="http://schemas.openxmlformats.org/drawingml/2006/main">
              <a:ext uri="{FF2B5EF4-FFF2-40B4-BE49-F238E27FC236}">
                <a16:creationId xmlns:a16="http://schemas.microsoft.com/office/drawing/2014/main" id="{04CB8365-FDE2-4375-8BBA-30127A7B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2162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17433" name="build-week-4-detail">
            <a:extLst xmlns:a="http://schemas.openxmlformats.org/drawingml/2006/main">
              <a:ext uri="{FF2B5EF4-FFF2-40B4-BE49-F238E27FC236}">
                <a16:creationId xmlns:a16="http://schemas.microsoft.com/office/drawing/2014/main" id="{B0F4A098-4E1B-4DEF-9B01-11F8E5E7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33750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52525"/>
                </a:solidFill>
                <a:latin typeface="Arial"/>
                <a:ea typeface="Arial"/>
                <a:cs typeface="Arial"/>
              </a:rPr>
              <a:t>Replay held-out months; set pilot precision@K and lead-time baselines.</a:t>
            </a:r>
          </a:p>
        </p:txBody>
      </p:sp>
      <p:sp>
        <p:nvSpPr>
          <p:cNvPr id="17434" name="feasibility-risk-title">
            <a:extLst xmlns:a="http://schemas.openxmlformats.org/drawingml/2006/main">
              <a:ext uri="{FF2B5EF4-FFF2-40B4-BE49-F238E27FC236}">
                <a16:creationId xmlns:a16="http://schemas.microsoft.com/office/drawing/2014/main" id="{2DDF1BA2-8F28-4C9B-B57C-6C6A5B1C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RISKS AND RESPONSES</a:t>
            </a:r>
          </a:p>
        </p:txBody>
      </p:sp>
      <p:sp>
        <p:nvSpPr>
          <p:cNvPr id="17435" name="risk-1-title">
            <a:extLst xmlns:a="http://schemas.openxmlformats.org/drawingml/2006/main">
              <a:ext uri="{FF2B5EF4-FFF2-40B4-BE49-F238E27FC236}">
                <a16:creationId xmlns:a16="http://schemas.microsoft.com/office/drawing/2014/main" id="{9930182C-5790-401F-AD69-3F8C4970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Panel: 859 flagged rows</a:t>
            </a:r>
          </a:p>
        </p:txBody>
      </p:sp>
      <p:sp>
        <p:nvSpPr>
          <p:cNvPr id="17436" name="risk-1-response">
            <a:extLst xmlns:a="http://schemas.openxmlformats.org/drawingml/2006/main">
              <a:ext uri="{FF2B5EF4-FFF2-40B4-BE49-F238E27FC236}">
                <a16:creationId xmlns:a16="http://schemas.microsoft.com/office/drawing/2014/main" id="{7CC67366-2A22-45F3-8E7A-560A6F9D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Flag patterns are not all extraction errors; preserve source pages and let analysts confirm or dismiss.</a:t>
            </a:r>
          </a:p>
        </p:txBody>
      </p:sp>
      <p:sp>
        <p:nvSpPr>
          <p:cNvPr id="17437" name="risk-1-divider">
            <a:extLst xmlns:a="http://schemas.openxmlformats.org/drawingml/2006/main">
              <a:ext uri="{FF2B5EF4-FFF2-40B4-BE49-F238E27FC236}">
                <a16:creationId xmlns:a16="http://schemas.microsoft.com/office/drawing/2014/main" id="{42B31FA3-E9B2-4C19-B3D1-AF21796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38" name="risk-2-title">
            <a:extLst xmlns:a="http://schemas.openxmlformats.org/drawingml/2006/main">
              <a:ext uri="{FF2B5EF4-FFF2-40B4-BE49-F238E27FC236}">
                <a16:creationId xmlns:a16="http://schemas.microsoft.com/office/drawing/2014/main" id="{089577BF-B570-43A7-A7FD-0B03E566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Cost evidence is thin</a:t>
            </a:r>
          </a:p>
        </p:txBody>
      </p:sp>
      <p:sp>
        <p:nvSpPr>
          <p:cNvPr id="17439" name="risk-2-response">
            <a:extLst xmlns:a="http://schemas.openxmlformats.org/drawingml/2006/main">
              <a:ext uri="{FF2B5EF4-FFF2-40B4-BE49-F238E27FC236}">
                <a16:creationId xmlns:a16="http://schemas.microsoft.com/office/drawing/2014/main" id="{52C26BD5-9360-40FD-9DE8-5566F95F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291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Only one ordered cost test month; withhold operational claims until repeated holdouts and calibration.</a:t>
            </a:r>
          </a:p>
        </p:txBody>
      </p:sp>
      <p:sp>
        <p:nvSpPr>
          <p:cNvPr id="17440" name="risk-2-divider">
            <a:extLst xmlns:a="http://schemas.openxmlformats.org/drawingml/2006/main">
              <a:ext uri="{FF2B5EF4-FFF2-40B4-BE49-F238E27FC236}">
                <a16:creationId xmlns:a16="http://schemas.microsoft.com/office/drawing/2014/main" id="{F13F03C6-C02A-4733-BDB8-20F1B180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41" name="risk-3-title">
            <a:extLst xmlns:a="http://schemas.openxmlformats.org/drawingml/2006/main">
              <a:ext uri="{FF2B5EF4-FFF2-40B4-BE49-F238E27FC236}">
                <a16:creationId xmlns:a16="http://schemas.microsoft.com/office/drawing/2014/main" id="{33AE31E7-7D57-4095-A7AC-CD840B9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PDF layouts can change</a:t>
            </a:r>
          </a:p>
        </p:txBody>
      </p:sp>
      <p:sp>
        <p:nvSpPr>
          <p:cNvPr id="17442" name="risk-3-response">
            <a:extLst xmlns:a="http://schemas.openxmlformats.org/drawingml/2006/main">
              <a:ext uri="{FF2B5EF4-FFF2-40B4-BE49-F238E27FC236}">
                <a16:creationId xmlns:a16="http://schemas.microsoft.com/office/drawing/2014/main" id="{ADD68A6B-E169-4D08-8566-77B545AA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387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Keep per-report schema/total checks; stop exports on hard failures, route warnings for review.</a:t>
            </a:r>
          </a:p>
        </p:txBody>
      </p:sp>
      <p:sp>
        <p:nvSpPr>
          <p:cNvPr id="17443" name="risk-3-divider">
            <a:extLst xmlns:a="http://schemas.openxmlformats.org/drawingml/2006/main">
              <a:ext uri="{FF2B5EF4-FFF2-40B4-BE49-F238E27FC236}">
                <a16:creationId xmlns:a16="http://schemas.microsoft.com/office/drawing/2014/main" id="{8A7ABD6D-6A07-4FC9-989C-CC70F0E0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44" name="risk-4-title">
            <a:extLst xmlns:a="http://schemas.openxmlformats.org/drawingml/2006/main">
              <a:ext uri="{FF2B5EF4-FFF2-40B4-BE49-F238E27FC236}">
                <a16:creationId xmlns:a16="http://schemas.microsoft.com/office/drawing/2014/main" id="{41DDCE30-88ED-4C5B-A0BD-0492F9D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Alerts can overwhelm</a:t>
            </a:r>
          </a:p>
        </p:txBody>
      </p:sp>
      <p:sp>
        <p:nvSpPr>
          <p:cNvPr id="17445" name="risk-4-response">
            <a:extLst xmlns:a="http://schemas.openxmlformats.org/drawingml/2006/main">
              <a:ext uri="{FF2B5EF4-FFF2-40B4-BE49-F238E27FC236}">
                <a16:creationId xmlns:a16="http://schemas.microsoft.com/office/drawing/2014/main" id="{FA4AB367-CA5D-4199-9D22-D4FB13FC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4830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52525"/>
                </a:solidFill>
                <a:latin typeface="Arial"/>
                <a:ea typeface="Arial"/>
                <a:cs typeface="Arial"/>
              </a:rPr>
              <a:t>Set top-K to reviewer capacity; measure precision, lead time and effort before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E18185DA-3990-4FAD-B763-9BCA9B50E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6C374130-352E-4EA1-8863-499968B9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9C35F-F374-41DD-A4DE-303E230931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F9A1A23-8B35-40E8-87F0-5DDCC8DAAE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SIH 2026 • PS 26103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PARAKH</a:t>
            </a:r>
            <a:endParaRPr/>
          </a:p>
        </p:txBody>
      </p:sp>
      <p:pic>
        <p:nvPicPr>
          <p:cNvPr id="1743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785c2967c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impact-intro">
            <a:extLst xmlns:a="http://schemas.openxmlformats.org/drawingml/2006/main">
              <a:ext uri="{FF2B5EF4-FFF2-40B4-BE49-F238E27FC236}">
                <a16:creationId xmlns:a16="http://schemas.microsoft.com/office/drawing/2014/main" id="{3F6EC125-A2E9-469B-8B0C-5B30F604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The goal is better review attention—not an unmeasured savings claim.</a:t>
            </a:r>
          </a:p>
        </p:txBody>
      </p:sp>
      <p:sp>
        <p:nvSpPr>
          <p:cNvPr id="17413" name="impact-today-surface">
            <a:extLst xmlns:a="http://schemas.openxmlformats.org/drawingml/2006/main">
              <a:ext uri="{FF2B5EF4-FFF2-40B4-BE49-F238E27FC236}">
                <a16:creationId xmlns:a16="http://schemas.microsoft.com/office/drawing/2014/main" id="{11106DBC-1A71-4DF4-B29B-5801117E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14" name="impact-proposed-surface">
            <a:extLst xmlns:a="http://schemas.openxmlformats.org/drawingml/2006/main">
              <a:ext uri="{FF2B5EF4-FFF2-40B4-BE49-F238E27FC236}">
                <a16:creationId xmlns:a16="http://schemas.microsoft.com/office/drawing/2014/main" id="{C9AB9FAB-5773-422D-864E-97E57E6F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4953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AFC4D6"/>
            </a:solidFill>
            <a:prstDash val="solid"/>
          </a:ln>
        </p:spPr>
      </p:sp>
      <p:sp>
        <p:nvSpPr>
          <p:cNvPr id="17415" name="impact-today-title">
            <a:extLst xmlns:a="http://schemas.openxmlformats.org/drawingml/2006/main">
              <a:ext uri="{FF2B5EF4-FFF2-40B4-BE49-F238E27FC236}">
                <a16:creationId xmlns:a16="http://schemas.microsoft.com/office/drawing/2014/main" id="{DF7CFEE9-9588-4668-B5A4-8B43300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14525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TODAY • MONTHLY STATUS REPORTING</a:t>
            </a:r>
          </a:p>
        </p:txBody>
      </p:sp>
      <p:sp>
        <p:nvSpPr>
          <p:cNvPr id="17416" name="impact-today-detail">
            <a:extLst xmlns:a="http://schemas.openxmlformats.org/drawingml/2006/main">
              <a:ext uri="{FF2B5EF4-FFF2-40B4-BE49-F238E27FC236}">
                <a16:creationId xmlns:a16="http://schemas.microsoft.com/office/drawing/2014/main" id="{163D1637-E7EF-4A93-8F71-28BA9BCD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533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52525"/>
                </a:solidFill>
                <a:latin typeface="Arial"/>
                <a:ea typeface="Arial"/>
                <a:cs typeface="Arial"/>
              </a:rPr>
              <a:t>Analysts can search current project records, but finding the next project worth reviewing still depends on evidence quality and reviewer attention.</a:t>
            </a:r>
          </a:p>
        </p:txBody>
      </p:sp>
      <p:sp>
        <p:nvSpPr>
          <p:cNvPr id="17417" name="impact-proposed-title">
            <a:extLst xmlns:a="http://schemas.openxmlformats.org/drawingml/2006/main">
              <a:ext uri="{FF2B5EF4-FFF2-40B4-BE49-F238E27FC236}">
                <a16:creationId xmlns:a16="http://schemas.microsoft.com/office/drawing/2014/main" id="{4385B480-A0F9-40E1-BFE0-093C56C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14525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PROPOSED • EVIDENCE-GATED REVIEW</a:t>
            </a:r>
          </a:p>
        </p:txBody>
      </p:sp>
      <p:sp>
        <p:nvSpPr>
          <p:cNvPr id="17418" name="impact-proposed-detail">
            <a:extLst xmlns:a="http://schemas.openxmlformats.org/drawingml/2006/main">
              <a:ext uri="{FF2B5EF4-FFF2-40B4-BE49-F238E27FC236}">
                <a16:creationId xmlns:a16="http://schemas.microsoft.com/office/drawing/2014/main" id="{CBABE515-B93F-4980-A88C-CC68E1F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4533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52525"/>
                </a:solidFill>
                <a:latin typeface="Arial"/>
                <a:ea typeface="Arial"/>
                <a:cs typeface="Arial"/>
              </a:rPr>
              <a:t>A ranked, source-linked queue directs a reviewer to a change, the reason it was flagged, and any data limitation—then records the analyst’s disposition.</a:t>
            </a:r>
          </a:p>
        </p:txBody>
      </p:sp>
      <p:sp>
        <p:nvSpPr>
          <p:cNvPr id="17419" name="impact-analogy-label">
            <a:extLst xmlns:a="http://schemas.openxmlformats.org/drawingml/2006/main">
              <a:ext uri="{FF2B5EF4-FFF2-40B4-BE49-F238E27FC236}">
                <a16:creationId xmlns:a16="http://schemas.microsoft.com/office/drawing/2014/main" id="{916EB814-DAA3-4FD4-A01B-030BA13C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ANALOGY</a:t>
            </a:r>
          </a:p>
        </p:txBody>
      </p:sp>
      <p:sp>
        <p:nvSpPr>
          <p:cNvPr id="17420" name="impact-analogy">
            <a:extLst xmlns:a="http://schemas.openxmlformats.org/drawingml/2006/main">
              <a:ext uri="{FF2B5EF4-FFF2-40B4-BE49-F238E27FC236}">
                <a16:creationId xmlns:a16="http://schemas.microsoft.com/office/drawing/2014/main" id="{477D627A-38DD-40DA-B2DB-3F7FA4BF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Like an inspection triage board: it points to the project and evidence to check; the authorized official decides what to do.</a:t>
            </a:r>
          </a:p>
        </p:txBody>
      </p:sp>
      <p:sp>
        <p:nvSpPr>
          <p:cNvPr id="17421" name="impact-measure-title">
            <a:extLst xmlns:a="http://schemas.openxmlformats.org/drawingml/2006/main">
              <a:ext uri="{FF2B5EF4-FFF2-40B4-BE49-F238E27FC236}">
                <a16:creationId xmlns:a16="http://schemas.microsoft.com/office/drawing/2014/main" id="{A3F71183-7BC7-40B1-B7ED-B6E5AF2B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PILOT SCORECARD • COMPARE WITH THE CURRENT REVIEW BASELINE</a:t>
            </a:r>
          </a:p>
        </p:txBody>
      </p:sp>
      <p:sp>
        <p:nvSpPr>
          <p:cNvPr id="17422" name="impact-measure-1-surface">
            <a:extLst xmlns:a="http://schemas.openxmlformats.org/drawingml/2006/main">
              <a:ext uri="{FF2B5EF4-FFF2-40B4-BE49-F238E27FC236}">
                <a16:creationId xmlns:a16="http://schemas.microsoft.com/office/drawing/2014/main" id="{F097857D-B2DE-434A-9AB8-9996A9CE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429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23" name="impact-measure-1-title">
            <a:extLst xmlns:a="http://schemas.openxmlformats.org/drawingml/2006/main">
              <a:ext uri="{FF2B5EF4-FFF2-40B4-BE49-F238E27FC236}">
                <a16:creationId xmlns:a16="http://schemas.microsoft.com/office/drawing/2014/main" id="{806A0860-F764-43F7-9198-468DD689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PRECISION@K</a:t>
            </a:r>
          </a:p>
        </p:txBody>
      </p:sp>
      <p:sp>
        <p:nvSpPr>
          <p:cNvPr id="17424" name="impact-measure-1-detail">
            <a:extLst xmlns:a="http://schemas.openxmlformats.org/drawingml/2006/main">
              <a:ext uri="{FF2B5EF4-FFF2-40B4-BE49-F238E27FC236}">
                <a16:creationId xmlns:a16="http://schemas.microsoft.com/office/drawing/2014/main" id="{B7FF968D-BA88-43F2-B315-0D485A4A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303030"/>
                </a:solidFill>
                <a:latin typeface="Arial"/>
                <a:ea typeface="Arial"/>
                <a:cs typeface="Arial"/>
              </a:rPr>
              <a:t>Useful flags within staff capacity</a:t>
            </a:r>
          </a:p>
        </p:txBody>
      </p:sp>
      <p:sp>
        <p:nvSpPr>
          <p:cNvPr id="17425" name="impact-measure-2-surface">
            <a:extLst xmlns:a="http://schemas.openxmlformats.org/drawingml/2006/main">
              <a:ext uri="{FF2B5EF4-FFF2-40B4-BE49-F238E27FC236}">
                <a16:creationId xmlns:a16="http://schemas.microsoft.com/office/drawing/2014/main" id="{352D494E-7520-4CAC-8E0C-3996BD7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43475"/>
            <a:ext cx="3429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26" name="impact-measure-2-title">
            <a:extLst xmlns:a="http://schemas.openxmlformats.org/drawingml/2006/main">
              <a:ext uri="{FF2B5EF4-FFF2-40B4-BE49-F238E27FC236}">
                <a16:creationId xmlns:a16="http://schemas.microsoft.com/office/drawing/2014/main" id="{6442F47B-4BD1-46EB-9E04-0205592D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101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LEAD TIME</a:t>
            </a:r>
          </a:p>
        </p:txBody>
      </p:sp>
      <p:sp>
        <p:nvSpPr>
          <p:cNvPr id="17427" name="impact-measure-2-detail">
            <a:extLst xmlns:a="http://schemas.openxmlformats.org/drawingml/2006/main">
              <a:ext uri="{FF2B5EF4-FFF2-40B4-BE49-F238E27FC236}">
                <a16:creationId xmlns:a16="http://schemas.microsoft.com/office/drawing/2014/main" id="{355D3A79-AF9F-4F12-9674-2DD791C1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482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303030"/>
                </a:solidFill>
                <a:latin typeface="Arial"/>
                <a:ea typeface="Arial"/>
                <a:cs typeface="Arial"/>
              </a:rPr>
              <a:t>How early before a reported change</a:t>
            </a:r>
          </a:p>
        </p:txBody>
      </p:sp>
      <p:sp>
        <p:nvSpPr>
          <p:cNvPr id="17428" name="impact-measure-3-surface">
            <a:extLst xmlns:a="http://schemas.openxmlformats.org/drawingml/2006/main">
              <a:ext uri="{FF2B5EF4-FFF2-40B4-BE49-F238E27FC236}">
                <a16:creationId xmlns:a16="http://schemas.microsoft.com/office/drawing/2014/main" id="{8DBCC597-DDFA-4B65-BC33-46DA0629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43475"/>
            <a:ext cx="3429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2DD"/>
            </a:solidFill>
            <a:prstDash val="solid"/>
          </a:ln>
        </p:spPr>
      </p:sp>
      <p:sp>
        <p:nvSpPr>
          <p:cNvPr id="17429" name="impact-measure-3-title">
            <a:extLst xmlns:a="http://schemas.openxmlformats.org/drawingml/2006/main">
              <a:ext uri="{FF2B5EF4-FFF2-40B4-BE49-F238E27FC236}">
                <a16:creationId xmlns:a16="http://schemas.microsoft.com/office/drawing/2014/main" id="{64BE47B2-56B9-4718-936E-5407EE8C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01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REVIEW EFFORT</a:t>
            </a:r>
          </a:p>
        </p:txBody>
      </p:sp>
      <p:sp>
        <p:nvSpPr>
          <p:cNvPr id="17430" name="impact-measure-3-detail">
            <a:extLst xmlns:a="http://schemas.openxmlformats.org/drawingml/2006/main">
              <a:ext uri="{FF2B5EF4-FFF2-40B4-BE49-F238E27FC236}">
                <a16:creationId xmlns:a16="http://schemas.microsoft.com/office/drawing/2014/main" id="{CB819F3F-92C5-406D-B819-ECD6607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482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303030"/>
                </a:solidFill>
                <a:latin typeface="Arial"/>
                <a:ea typeface="Arial"/>
                <a:cs typeface="Arial"/>
              </a:rPr>
              <a:t>Minutes and dispositions per case</a:t>
            </a:r>
          </a:p>
        </p:txBody>
      </p:sp>
      <p:sp>
        <p:nvSpPr>
          <p:cNvPr id="17431" name="impact-no-claims">
            <a:extLst xmlns:a="http://schemas.openxmlformats.org/drawingml/2006/main">
              <a:ext uri="{FF2B5EF4-FFF2-40B4-BE49-F238E27FC236}">
                <a16:creationId xmlns:a16="http://schemas.microsoft.com/office/drawing/2014/main" id="{6FAD3A12-9497-4395-915B-394D1C9B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555555"/>
                </a:solidFill>
                <a:latin typeface="Arial"/>
                <a:ea typeface="Arial"/>
                <a:cs typeface="Arial"/>
              </a:rPr>
              <a:t>No time saved, cost saved, delay reduction or environmental impact has yet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76847F2-4217-4545-87A2-FB2C2ACD3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07147C7-350B-4FD1-B606-48829626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7F80D8-2A4A-4AA9-9497-EC86C43F3E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CFB94E4-2FC2-4C30-A103-8DDFF2A5DB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SIH 2026 • PS 26103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PARAKH</a:t>
            </a:r>
            <a:endParaRPr/>
          </a:p>
        </p:txBody>
      </p:sp>
      <p:pic>
        <p:nvPicPr>
          <p:cNvPr id="1743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587b11a5740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references-intro">
            <a:extLst xmlns:a="http://schemas.openxmlformats.org/drawingml/2006/main">
              <a:ext uri="{FF2B5EF4-FFF2-40B4-BE49-F238E27FC236}">
                <a16:creationId xmlns:a16="http://schemas.microsoft.com/office/drawing/2014/main" id="{125E73F4-DF82-47FE-AD73-0C29C37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Sources and prototype evidence</a:t>
            </a:r>
          </a:p>
        </p:txBody>
      </p:sp>
      <p:sp>
        <p:nvSpPr>
          <p:cNvPr id="17413" name="reference-1-title">
            <a:extLst xmlns:a="http://schemas.openxmlformats.org/drawingml/2006/main">
              <a:ext uri="{FF2B5EF4-FFF2-40B4-BE49-F238E27FC236}">
                <a16:creationId xmlns:a16="http://schemas.microsoft.com/office/drawing/2014/main" id="{1D622760-F027-4571-801A-2FCBE344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 u="sng">
                <a:solidFill>
                  <a:srgbClr val="1F497D"/>
                </a:solidFill>
                <a:latin typeface="Arial"/>
                <a:ea typeface="Arial"/>
                <a:cs typeface="Arial"/>
                <a:hlinkClick xmlns:r="http://schemas.openxmlformats.org/officeDocument/2006/relationships" r:id="R0d2b44c668de4e9b"/>
              </a:rPr>
              <a:t>MoSPI • PAIMANA Flash Report • April 2026</a:t>
            </a:r>
          </a:p>
        </p:txBody>
      </p:sp>
      <p:sp>
        <p:nvSpPr>
          <p:cNvPr id="17414" name="reference-1-detail">
            <a:extLst xmlns:a="http://schemas.openxmlformats.org/drawingml/2006/main">
              <a:ext uri="{FF2B5EF4-FFF2-40B4-BE49-F238E27FC236}">
                <a16:creationId xmlns:a16="http://schemas.microsoft.com/office/drawing/2014/main" id="{EAF587B1-1F4A-4B2B-B2EF-9CC49183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1068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303030"/>
                </a:solidFill>
                <a:latin typeface="Arial"/>
                <a:ea typeface="Arial"/>
                <a:cs typeface="Arial"/>
              </a:rPr>
              <a:t>Portfolio scale and Table 6: 1,981 projects, 17 ministries/departments, ₹42.78 lakh crore revised cost.</a:t>
            </a:r>
          </a:p>
        </p:txBody>
      </p:sp>
      <p:sp>
        <p:nvSpPr>
          <p:cNvPr id="17415" name="reference-1-divider">
            <a:extLst xmlns:a="http://schemas.openxmlformats.org/drawingml/2006/main">
              <a:ext uri="{FF2B5EF4-FFF2-40B4-BE49-F238E27FC236}">
                <a16:creationId xmlns:a16="http://schemas.microsoft.com/office/drawing/2014/main" id="{CC6C63AA-6450-4FF9-976F-71C82DAE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6" name="reference-2-title">
            <a:extLst xmlns:a="http://schemas.openxmlformats.org/drawingml/2006/main">
              <a:ext uri="{FF2B5EF4-FFF2-40B4-BE49-F238E27FC236}">
                <a16:creationId xmlns:a16="http://schemas.microsoft.com/office/drawing/2014/main" id="{2ED49439-1F71-4BD7-929F-7A921EE1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 u="sng">
                <a:solidFill>
                  <a:srgbClr val="1F497D"/>
                </a:solidFill>
                <a:latin typeface="Arial"/>
                <a:ea typeface="Arial"/>
                <a:cs typeface="Arial"/>
                <a:hlinkClick xmlns:r="http://schemas.openxmlformats.org/officeDocument/2006/relationships" r:id="R79031f6d0c0d4873"/>
              </a:rPr>
              <a:t>MoSPI • PAIMANA public dashboard</a:t>
            </a:r>
          </a:p>
        </p:txBody>
      </p:sp>
      <p:sp>
        <p:nvSpPr>
          <p:cNvPr id="17417" name="reference-2-detail">
            <a:extLst xmlns:a="http://schemas.openxmlformats.org/drawingml/2006/main">
              <a:ext uri="{FF2B5EF4-FFF2-40B4-BE49-F238E27FC236}">
                <a16:creationId xmlns:a16="http://schemas.microsoft.com/office/drawing/2014/main" id="{FA1700F3-D2BF-42E3-A736-7CF71797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068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303030"/>
                </a:solidFill>
                <a:latin typeface="Arial"/>
                <a:ea typeface="Arial"/>
                <a:cs typeface="Arial"/>
              </a:rPr>
              <a:t>Official project-monitoring context and public portfolio view.</a:t>
            </a:r>
          </a:p>
        </p:txBody>
      </p:sp>
      <p:sp>
        <p:nvSpPr>
          <p:cNvPr id="17418" name="reference-2-divider">
            <a:extLst xmlns:a="http://schemas.openxmlformats.org/drawingml/2006/main">
              <a:ext uri="{FF2B5EF4-FFF2-40B4-BE49-F238E27FC236}">
                <a16:creationId xmlns:a16="http://schemas.microsoft.com/office/drawing/2014/main" id="{BA84A357-2B2D-441A-9A27-AB0C9418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9" name="reference-3-title">
            <a:extLst xmlns:a="http://schemas.openxmlformats.org/drawingml/2006/main">
              <a:ext uri="{FF2B5EF4-FFF2-40B4-BE49-F238E27FC236}">
                <a16:creationId xmlns:a16="http://schemas.microsoft.com/office/drawing/2014/main" id="{7E77E5D9-080A-427F-BD34-CD49687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SIH 2026 • Problem Statement 26103 • MoSPI / DIID</a:t>
            </a:r>
          </a:p>
        </p:txBody>
      </p:sp>
      <p:sp>
        <p:nvSpPr>
          <p:cNvPr id="17420" name="reference-3-detail">
            <a:extLst xmlns:a="http://schemas.openxmlformats.org/drawingml/2006/main">
              <a:ext uri="{FF2B5EF4-FFF2-40B4-BE49-F238E27FC236}">
                <a16:creationId xmlns:a16="http://schemas.microsoft.com/office/drawing/2014/main" id="{2DFAD8BD-05B0-4B88-9B95-4B8E790C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1068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303030"/>
                </a:solidFill>
                <a:latin typeface="Arial"/>
                <a:ea typeface="Arial"/>
                <a:cs typeface="Arial"/>
              </a:rPr>
              <a:t>Team-provided challenge brief: prediction, baseline comparison, CUF assessment and early-warning decision support.</a:t>
            </a:r>
          </a:p>
        </p:txBody>
      </p:sp>
      <p:sp>
        <p:nvSpPr>
          <p:cNvPr id="17421" name="reference-3-divider">
            <a:extLst xmlns:a="http://schemas.openxmlformats.org/drawingml/2006/main">
              <a:ext uri="{FF2B5EF4-FFF2-40B4-BE49-F238E27FC236}">
                <a16:creationId xmlns:a16="http://schemas.microsoft.com/office/drawing/2014/main" id="{EC26DEC0-059C-4A24-A05B-3E27545C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2" name="reference-4-title">
            <a:extLst xmlns:a="http://schemas.openxmlformats.org/drawingml/2006/main">
              <a:ext uri="{FF2B5EF4-FFF2-40B4-BE49-F238E27FC236}">
                <a16:creationId xmlns:a16="http://schemas.microsoft.com/office/drawing/2014/main" id="{24C4F30A-CB01-4840-9B20-60806EBC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 u="sng">
                <a:solidFill>
                  <a:srgbClr val="1F497D"/>
                </a:solidFill>
                <a:latin typeface="Arial"/>
                <a:ea typeface="Arial"/>
                <a:cs typeface="Arial"/>
                <a:hlinkClick xmlns:r="http://schemas.openxmlformats.org/officeDocument/2006/relationships" r:id="Ra4b72fa7ec0f4cbf"/>
              </a:rPr>
              <a:t>PARAKH • source and prototype artifacts</a:t>
            </a:r>
          </a:p>
        </p:txBody>
      </p:sp>
      <p:sp>
        <p:nvSpPr>
          <p:cNvPr id="17423" name="reference-4-detail">
            <a:extLst xmlns:a="http://schemas.openxmlformats.org/drawingml/2006/main">
              <a:ext uri="{FF2B5EF4-FFF2-40B4-BE49-F238E27FC236}">
                <a16:creationId xmlns:a16="http://schemas.microsoft.com/office/drawing/2014/main" id="{83E17CE7-4B95-42F2-B37F-3A68E5B0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1068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303030"/>
                </a:solidFill>
                <a:latin typeface="Arial"/>
                <a:ea typeface="Arial"/>
                <a:cs typeface="Arial"/>
              </a:rPr>
              <a:t>17 monthly source PDFs; src/checker.py; src/model_train.py; data/processed/model_metrics.json and portfolio_kpis.json.</a:t>
            </a:r>
          </a:p>
        </p:txBody>
      </p:sp>
      <p:sp>
        <p:nvSpPr>
          <p:cNvPr id="17424" name="reference-4-divider">
            <a:extLst xmlns:a="http://schemas.openxmlformats.org/drawingml/2006/main">
              <a:ext uri="{FF2B5EF4-FFF2-40B4-BE49-F238E27FC236}">
                <a16:creationId xmlns:a16="http://schemas.microsoft.com/office/drawing/2014/main" id="{B67C28DE-A6A4-4BBC-B9E3-611DE8BE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5" name="reference-5-title">
            <a:extLst xmlns:a="http://schemas.openxmlformats.org/drawingml/2006/main">
              <a:ext uri="{FF2B5EF4-FFF2-40B4-BE49-F238E27FC236}">
                <a16:creationId xmlns:a16="http://schemas.microsoft.com/office/drawing/2014/main" id="{94D79ABC-986E-4135-B210-CE3D4E87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Model evaluation • current saved run</a:t>
            </a:r>
          </a:p>
        </p:txBody>
      </p:sp>
      <p:sp>
        <p:nvSpPr>
          <p:cNvPr id="17426" name="reference-5-detail">
            <a:extLst xmlns:a="http://schemas.openxmlformats.org/drawingml/2006/main">
              <a:ext uri="{FF2B5EF4-FFF2-40B4-BE49-F238E27FC236}">
                <a16:creationId xmlns:a16="http://schemas.microsoft.com/office/drawing/2014/main" id="{E90302C0-98A2-4301-B68A-836EB39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068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303030"/>
                </a:solidFill>
                <a:latin typeface="Arial"/>
                <a:ea typeface="Arial"/>
                <a:cs typeface="Arial"/>
              </a:rPr>
              <a:t>17 ordered report months; latest evaluation through June 2026. Cost results have one ordered test month; probabilities are uncalibrated.</a:t>
            </a:r>
          </a:p>
        </p:txBody>
      </p:sp>
      <p:sp>
        <p:nvSpPr>
          <p:cNvPr id="17427" name="references-repo-caveat">
            <a:extLst xmlns:a="http://schemas.openxmlformats.org/drawingml/2006/main">
              <a:ext uri="{FF2B5EF4-FFF2-40B4-BE49-F238E27FC236}">
                <a16:creationId xmlns:a16="http://schemas.microsoft.com/office/drawing/2014/main" id="{D198A532-7604-4053-973E-F937A193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63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55555"/>
                </a:solidFill>
                <a:latin typeface="Arial"/>
                <a:ea typeface="Arial"/>
                <a:cs typeface="Arial"/>
              </a:rPr>
              <a:t>The repository URL is taken from the configured Git remote; confirm it is publicly accessible before submission. Team name, Team ID and demo URL remain for the team to provide.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2026-09-29T12:48:12.6710000Z</dcterms:created>
  <dcterms:modified xsi:type="dcterms:W3CDTF">2026-09-29T12:48:12.6720000Z</dcterms:modified>
</coreProperties>
</file>